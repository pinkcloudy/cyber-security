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2.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3"/>
  </p:sldMasterIdLst>
  <p:notesMasterIdLst>
    <p:notesMasterId r:id="rId30"/>
  </p:notesMasterIdLst>
  <p:handoutMasterIdLst>
    <p:handoutMasterId r:id="rId31"/>
  </p:handoutMasterIdLst>
  <p:sldIdLst>
    <p:sldId id="259" r:id="rId4"/>
    <p:sldId id="257" r:id="rId5"/>
    <p:sldId id="265" r:id="rId6"/>
    <p:sldId id="267" r:id="rId7"/>
    <p:sldId id="269" r:id="rId8"/>
    <p:sldId id="270" r:id="rId9"/>
    <p:sldId id="271" r:id="rId10"/>
    <p:sldId id="272" r:id="rId11"/>
    <p:sldId id="268" r:id="rId12"/>
    <p:sldId id="276" r:id="rId13"/>
    <p:sldId id="277" r:id="rId14"/>
    <p:sldId id="266" r:id="rId15"/>
    <p:sldId id="273" r:id="rId16"/>
    <p:sldId id="274" r:id="rId17"/>
    <p:sldId id="275" r:id="rId18"/>
    <p:sldId id="279" r:id="rId19"/>
    <p:sldId id="278" r:id="rId20"/>
    <p:sldId id="280" r:id="rId21"/>
    <p:sldId id="281" r:id="rId22"/>
    <p:sldId id="284" r:id="rId23"/>
    <p:sldId id="285" r:id="rId24"/>
    <p:sldId id="283" r:id="rId25"/>
    <p:sldId id="286" r:id="rId26"/>
    <p:sldId id="287" r:id="rId27"/>
    <p:sldId id="288" r:id="rId28"/>
    <p:sldId id="28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897" autoAdjust="0"/>
    <p:restoredTop sz="85433"/>
  </p:normalViewPr>
  <p:slideViewPr>
    <p:cSldViewPr snapToGrid="0">
      <p:cViewPr varScale="1">
        <p:scale>
          <a:sx n="68" d="100"/>
          <a:sy n="68" d="100"/>
        </p:scale>
        <p:origin x="34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37" Type="http://schemas.openxmlformats.org/officeDocument/2006/relationships/customXml" Target="../customXml/item3.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ạ Thị Kim Huệ" userId="af176dfe-ebe0-47e4-99a4-e0f4d40f7313" providerId="ADAL" clId="{538FAA8B-749F-564A-8599-000D6A7F325B}"/>
    <pc:docChg chg="modSld">
      <pc:chgData name="Tạ Thị Kim Huệ" userId="af176dfe-ebe0-47e4-99a4-e0f4d40f7313" providerId="ADAL" clId="{538FAA8B-749F-564A-8599-000D6A7F325B}" dt="2025-02-18T09:53:57.123" v="9" actId="113"/>
      <pc:docMkLst>
        <pc:docMk/>
      </pc:docMkLst>
      <pc:sldChg chg="modSp mod">
        <pc:chgData name="Tạ Thị Kim Huệ" userId="af176dfe-ebe0-47e4-99a4-e0f4d40f7313" providerId="ADAL" clId="{538FAA8B-749F-564A-8599-000D6A7F325B}" dt="2025-02-18T09:19:01.003" v="4" actId="20577"/>
        <pc:sldMkLst>
          <pc:docMk/>
          <pc:sldMk cId="2217768064" sldId="269"/>
        </pc:sldMkLst>
      </pc:sldChg>
      <pc:sldChg chg="modSp mod">
        <pc:chgData name="Tạ Thị Kim Huệ" userId="af176dfe-ebe0-47e4-99a4-e0f4d40f7313" providerId="ADAL" clId="{538FAA8B-749F-564A-8599-000D6A7F325B}" dt="2025-02-18T09:53:57.123" v="9" actId="113"/>
        <pc:sldMkLst>
          <pc:docMk/>
          <pc:sldMk cId="4052059992" sldId="281"/>
        </pc:sldMkLst>
      </pc:sldChg>
    </pc:docChg>
  </pc:docChgLst>
  <pc:docChgLst>
    <pc:chgData name="Ta Thi Kim Hue" userId="af176dfe-ebe0-47e4-99a4-e0f4d40f7313" providerId="ADAL" clId="{E6C8C943-7111-4815-B8E0-CD8BD1CCE775}"/>
    <pc:docChg chg="modSld">
      <pc:chgData name="Ta Thi Kim Hue" userId="af176dfe-ebe0-47e4-99a4-e0f4d40f7313" providerId="ADAL" clId="{E6C8C943-7111-4815-B8E0-CD8BD1CCE775}" dt="2023-02-24T08:38:33.534" v="4" actId="1076"/>
      <pc:docMkLst>
        <pc:docMk/>
      </pc:docMkLst>
      <pc:sldChg chg="modSp mod">
        <pc:chgData name="Ta Thi Kim Hue" userId="af176dfe-ebe0-47e4-99a4-e0f4d40f7313" providerId="ADAL" clId="{E6C8C943-7111-4815-B8E0-CD8BD1CCE775}" dt="2023-02-23T11:11:12.700" v="3" actId="5793"/>
        <pc:sldMkLst>
          <pc:docMk/>
          <pc:sldMk cId="4153716864" sldId="274"/>
        </pc:sldMkLst>
      </pc:sldChg>
      <pc:sldChg chg="modSp mod">
        <pc:chgData name="Ta Thi Kim Hue" userId="af176dfe-ebe0-47e4-99a4-e0f4d40f7313" providerId="ADAL" clId="{E6C8C943-7111-4815-B8E0-CD8BD1CCE775}" dt="2023-02-24T08:38:33.534" v="4" actId="1076"/>
        <pc:sldMkLst>
          <pc:docMk/>
          <pc:sldMk cId="4052059992" sldId="281"/>
        </pc:sldMkLst>
      </pc:sldChg>
    </pc:docChg>
  </pc:docChgLst>
  <pc:docChgLst>
    <pc:chgData name="Ta Thi Kim Hue" userId="af176dfe-ebe0-47e4-99a4-e0f4d40f7313" providerId="ADAL" clId="{89BCDE6F-F755-4C84-A878-132501452D86}"/>
    <pc:docChg chg="custSel addSld modSld">
      <pc:chgData name="Ta Thi Kim Hue" userId="af176dfe-ebe0-47e4-99a4-e0f4d40f7313" providerId="ADAL" clId="{89BCDE6F-F755-4C84-A878-132501452D86}" dt="2024-02-27T06:41:48.370" v="48"/>
      <pc:docMkLst>
        <pc:docMk/>
      </pc:docMkLst>
      <pc:sldChg chg="addSp delSp modSp mod delAnim modShow">
        <pc:chgData name="Ta Thi Kim Hue" userId="af176dfe-ebe0-47e4-99a4-e0f4d40f7313" providerId="ADAL" clId="{89BCDE6F-F755-4C84-A878-132501452D86}" dt="2024-02-27T05:10:30.079" v="47" actId="12385"/>
        <pc:sldMkLst>
          <pc:docMk/>
          <pc:sldMk cId="3292951085" sldId="280"/>
        </pc:sldMkLst>
      </pc:sldChg>
      <pc:sldChg chg="modSp mod">
        <pc:chgData name="Ta Thi Kim Hue" userId="af176dfe-ebe0-47e4-99a4-e0f4d40f7313" providerId="ADAL" clId="{89BCDE6F-F755-4C84-A878-132501452D86}" dt="2024-02-27T05:06:49.151" v="27" actId="20577"/>
        <pc:sldMkLst>
          <pc:docMk/>
          <pc:sldMk cId="4052059992" sldId="281"/>
        </pc:sldMkLst>
      </pc:sldChg>
      <pc:sldChg chg="add">
        <pc:chgData name="Ta Thi Kim Hue" userId="af176dfe-ebe0-47e4-99a4-e0f4d40f7313" providerId="ADAL" clId="{89BCDE6F-F755-4C84-A878-132501452D86}" dt="2024-02-27T06:41:48.370" v="48"/>
        <pc:sldMkLst>
          <pc:docMk/>
          <pc:sldMk cId="2655223862" sldId="283"/>
        </pc:sldMkLst>
      </pc:sldChg>
      <pc:sldChg chg="add">
        <pc:chgData name="Ta Thi Kim Hue" userId="af176dfe-ebe0-47e4-99a4-e0f4d40f7313" providerId="ADAL" clId="{89BCDE6F-F755-4C84-A878-132501452D86}" dt="2024-02-27T06:41:48.370" v="48"/>
        <pc:sldMkLst>
          <pc:docMk/>
          <pc:sldMk cId="1783621088" sldId="284"/>
        </pc:sldMkLst>
      </pc:sldChg>
      <pc:sldChg chg="add">
        <pc:chgData name="Ta Thi Kim Hue" userId="af176dfe-ebe0-47e4-99a4-e0f4d40f7313" providerId="ADAL" clId="{89BCDE6F-F755-4C84-A878-132501452D86}" dt="2024-02-27T06:41:48.370" v="48"/>
        <pc:sldMkLst>
          <pc:docMk/>
          <pc:sldMk cId="3299739725" sldId="285"/>
        </pc:sldMkLst>
      </pc:sldChg>
      <pc:sldChg chg="add">
        <pc:chgData name="Ta Thi Kim Hue" userId="af176dfe-ebe0-47e4-99a4-e0f4d40f7313" providerId="ADAL" clId="{89BCDE6F-F755-4C84-A878-132501452D86}" dt="2024-02-27T06:41:48.370" v="48"/>
        <pc:sldMkLst>
          <pc:docMk/>
          <pc:sldMk cId="1181565058" sldId="286"/>
        </pc:sldMkLst>
      </pc:sldChg>
      <pc:sldChg chg="add">
        <pc:chgData name="Ta Thi Kim Hue" userId="af176dfe-ebe0-47e4-99a4-e0f4d40f7313" providerId="ADAL" clId="{89BCDE6F-F755-4C84-A878-132501452D86}" dt="2024-02-27T06:41:48.370" v="48"/>
        <pc:sldMkLst>
          <pc:docMk/>
          <pc:sldMk cId="645378662" sldId="287"/>
        </pc:sldMkLst>
      </pc:sldChg>
      <pc:sldChg chg="add">
        <pc:chgData name="Ta Thi Kim Hue" userId="af176dfe-ebe0-47e4-99a4-e0f4d40f7313" providerId="ADAL" clId="{89BCDE6F-F755-4C84-A878-132501452D86}" dt="2024-02-27T06:41:48.370" v="48"/>
        <pc:sldMkLst>
          <pc:docMk/>
          <pc:sldMk cId="2930609596" sldId="288"/>
        </pc:sldMkLst>
      </pc:sldChg>
    </pc:docChg>
  </pc:docChgLst>
  <pc:docChgLst>
    <pc:chgData name="Ta Thi Kim Hue" userId="af176dfe-ebe0-47e4-99a4-e0f4d40f7313" providerId="ADAL" clId="{264C83AA-283C-D342-9895-92F40AF91AE0}"/>
    <pc:docChg chg="undo custSel addSld delSld modSld sldOrd">
      <pc:chgData name="Ta Thi Kim Hue" userId="af176dfe-ebe0-47e4-99a4-e0f4d40f7313" providerId="ADAL" clId="{264C83AA-283C-D342-9895-92F40AF91AE0}" dt="2022-10-03T17:25:56.322" v="351"/>
      <pc:docMkLst>
        <pc:docMk/>
      </pc:docMkLst>
      <pc:sldChg chg="addSp delSp modSp del mod">
        <pc:chgData name="Ta Thi Kim Hue" userId="af176dfe-ebe0-47e4-99a4-e0f4d40f7313" providerId="ADAL" clId="{264C83AA-283C-D342-9895-92F40AF91AE0}" dt="2022-10-03T17:18:29.436" v="204" actId="2696"/>
        <pc:sldMkLst>
          <pc:docMk/>
          <pc:sldMk cId="1234004128" sldId="256"/>
        </pc:sldMkLst>
      </pc:sldChg>
      <pc:sldChg chg="modSp mod">
        <pc:chgData name="Ta Thi Kim Hue" userId="af176dfe-ebe0-47e4-99a4-e0f4d40f7313" providerId="ADAL" clId="{264C83AA-283C-D342-9895-92F40AF91AE0}" dt="2022-10-03T17:16:38.018" v="147" actId="20577"/>
        <pc:sldMkLst>
          <pc:docMk/>
          <pc:sldMk cId="743172911" sldId="257"/>
        </pc:sldMkLst>
      </pc:sldChg>
      <pc:sldChg chg="add del">
        <pc:chgData name="Ta Thi Kim Hue" userId="af176dfe-ebe0-47e4-99a4-e0f4d40f7313" providerId="ADAL" clId="{264C83AA-283C-D342-9895-92F40AF91AE0}" dt="2022-10-03T17:19:15.893" v="226"/>
        <pc:sldMkLst>
          <pc:docMk/>
          <pc:sldMk cId="0" sldId="260"/>
        </pc:sldMkLst>
      </pc:sldChg>
      <pc:sldChg chg="addSp modSp mod">
        <pc:chgData name="Ta Thi Kim Hue" userId="af176dfe-ebe0-47e4-99a4-e0f4d40f7313" providerId="ADAL" clId="{264C83AA-283C-D342-9895-92F40AF91AE0}" dt="2022-10-03T17:24:25.193" v="340"/>
        <pc:sldMkLst>
          <pc:docMk/>
          <pc:sldMk cId="64084651" sldId="261"/>
        </pc:sldMkLst>
      </pc:sldChg>
      <pc:sldChg chg="addSp delSp modSp mod">
        <pc:chgData name="Ta Thi Kim Hue" userId="af176dfe-ebe0-47e4-99a4-e0f4d40f7313" providerId="ADAL" clId="{264C83AA-283C-D342-9895-92F40AF91AE0}" dt="2022-10-03T17:17:47.960" v="181"/>
        <pc:sldMkLst>
          <pc:docMk/>
          <pc:sldMk cId="292364014" sldId="265"/>
        </pc:sldMkLst>
      </pc:sldChg>
      <pc:sldChg chg="addSp modSp mod">
        <pc:chgData name="Ta Thi Kim Hue" userId="af176dfe-ebe0-47e4-99a4-e0f4d40f7313" providerId="ADAL" clId="{264C83AA-283C-D342-9895-92F40AF91AE0}" dt="2022-10-03T17:25:04.447" v="342"/>
        <pc:sldMkLst>
          <pc:docMk/>
          <pc:sldMk cId="2751358436" sldId="266"/>
        </pc:sldMkLst>
      </pc:sldChg>
      <pc:sldChg chg="addSp delSp modSp new mod">
        <pc:chgData name="Ta Thi Kim Hue" userId="af176dfe-ebe0-47e4-99a4-e0f4d40f7313" providerId="ADAL" clId="{264C83AA-283C-D342-9895-92F40AF91AE0}" dt="2022-10-03T17:22:52.601" v="305" actId="1076"/>
        <pc:sldMkLst>
          <pc:docMk/>
          <pc:sldMk cId="4020901606" sldId="270"/>
        </pc:sldMkLst>
      </pc:sldChg>
      <pc:sldChg chg="addSp modSp new mod ord">
        <pc:chgData name="Ta Thi Kim Hue" userId="af176dfe-ebe0-47e4-99a4-e0f4d40f7313" providerId="ADAL" clId="{264C83AA-283C-D342-9895-92F40AF91AE0}" dt="2022-10-03T17:20:54.593" v="233" actId="1076"/>
        <pc:sldMkLst>
          <pc:docMk/>
          <pc:sldMk cId="2807437432" sldId="271"/>
        </pc:sldMkLst>
      </pc:sldChg>
      <pc:sldChg chg="addSp modSp new mod">
        <pc:chgData name="Ta Thi Kim Hue" userId="af176dfe-ebe0-47e4-99a4-e0f4d40f7313" providerId="ADAL" clId="{264C83AA-283C-D342-9895-92F40AF91AE0}" dt="2022-10-03T17:23:58.430" v="338" actId="1076"/>
        <pc:sldMkLst>
          <pc:docMk/>
          <pc:sldMk cId="1774508242" sldId="272"/>
        </pc:sldMkLst>
      </pc:sldChg>
      <pc:sldChg chg="addSp modSp new mod">
        <pc:chgData name="Ta Thi Kim Hue" userId="af176dfe-ebe0-47e4-99a4-e0f4d40f7313" providerId="ADAL" clId="{264C83AA-283C-D342-9895-92F40AF91AE0}" dt="2022-10-03T17:25:56.322" v="351"/>
        <pc:sldMkLst>
          <pc:docMk/>
          <pc:sldMk cId="1132699619" sldId="273"/>
        </pc:sldMkLst>
      </pc:sldChg>
      <pc:sldChg chg="new">
        <pc:chgData name="Ta Thi Kim Hue" userId="af176dfe-ebe0-47e4-99a4-e0f4d40f7313" providerId="ADAL" clId="{264C83AA-283C-D342-9895-92F40AF91AE0}" dt="2022-10-03T17:25:16.831" v="344" actId="680"/>
        <pc:sldMkLst>
          <pc:docMk/>
          <pc:sldMk cId="4272548036" sldId="274"/>
        </pc:sldMkLst>
      </pc:sldChg>
      <pc:sldChg chg="new">
        <pc:chgData name="Ta Thi Kim Hue" userId="af176dfe-ebe0-47e4-99a4-e0f4d40f7313" providerId="ADAL" clId="{264C83AA-283C-D342-9895-92F40AF91AE0}" dt="2022-10-03T17:25:17.017" v="345" actId="680"/>
        <pc:sldMkLst>
          <pc:docMk/>
          <pc:sldMk cId="335698421" sldId="275"/>
        </pc:sldMkLst>
      </pc:sldChg>
      <pc:sldChg chg="modSp add del">
        <pc:chgData name="Ta Thi Kim Hue" userId="af176dfe-ebe0-47e4-99a4-e0f4d40f7313" providerId="ADAL" clId="{264C83AA-283C-D342-9895-92F40AF91AE0}" dt="2022-10-03T17:19:15.893" v="226"/>
        <pc:sldMkLst>
          <pc:docMk/>
          <pc:sldMk cId="1060001773" sldId="276"/>
        </pc:sldMkLst>
      </pc:sldChg>
      <pc:sldChg chg="modSp add del">
        <pc:chgData name="Ta Thi Kim Hue" userId="af176dfe-ebe0-47e4-99a4-e0f4d40f7313" providerId="ADAL" clId="{264C83AA-283C-D342-9895-92F40AF91AE0}" dt="2022-10-03T17:19:15.893" v="226"/>
        <pc:sldMkLst>
          <pc:docMk/>
          <pc:sldMk cId="3380892265" sldId="278"/>
        </pc:sldMkLst>
      </pc:sldChg>
      <pc:sldChg chg="modSp add del">
        <pc:chgData name="Ta Thi Kim Hue" userId="af176dfe-ebe0-47e4-99a4-e0f4d40f7313" providerId="ADAL" clId="{264C83AA-283C-D342-9895-92F40AF91AE0}" dt="2022-10-03T17:19:15.893" v="226"/>
        <pc:sldMkLst>
          <pc:docMk/>
          <pc:sldMk cId="1304547031" sldId="279"/>
        </pc:sldMkLst>
      </pc:sldChg>
      <pc:sldChg chg="add del">
        <pc:chgData name="Ta Thi Kim Hue" userId="af176dfe-ebe0-47e4-99a4-e0f4d40f7313" providerId="ADAL" clId="{264C83AA-283C-D342-9895-92F40AF91AE0}" dt="2022-10-03T17:19:15.893" v="226"/>
        <pc:sldMkLst>
          <pc:docMk/>
          <pc:sldMk cId="2718593708" sldId="280"/>
        </pc:sldMkLst>
      </pc:sldChg>
      <pc:sldChg chg="add del">
        <pc:chgData name="Ta Thi Kim Hue" userId="af176dfe-ebe0-47e4-99a4-e0f4d40f7313" providerId="ADAL" clId="{264C83AA-283C-D342-9895-92F40AF91AE0}" dt="2022-10-03T17:19:15.893" v="226"/>
        <pc:sldMkLst>
          <pc:docMk/>
          <pc:sldMk cId="2337578397" sldId="281"/>
        </pc:sldMkLst>
      </pc:sldChg>
      <pc:sldChg chg="add del">
        <pc:chgData name="Ta Thi Kim Hue" userId="af176dfe-ebe0-47e4-99a4-e0f4d40f7313" providerId="ADAL" clId="{264C83AA-283C-D342-9895-92F40AF91AE0}" dt="2022-10-03T17:19:15.893" v="226"/>
        <pc:sldMkLst>
          <pc:docMk/>
          <pc:sldMk cId="383108746" sldId="282"/>
        </pc:sldMkLst>
      </pc:sldChg>
      <pc:sldChg chg="add del">
        <pc:chgData name="Ta Thi Kim Hue" userId="af176dfe-ebe0-47e4-99a4-e0f4d40f7313" providerId="ADAL" clId="{264C83AA-283C-D342-9895-92F40AF91AE0}" dt="2022-10-03T17:19:15.893" v="226"/>
        <pc:sldMkLst>
          <pc:docMk/>
          <pc:sldMk cId="3346532803" sldId="285"/>
        </pc:sldMkLst>
      </pc:sldChg>
      <pc:sldChg chg="add del">
        <pc:chgData name="Ta Thi Kim Hue" userId="af176dfe-ebe0-47e4-99a4-e0f4d40f7313" providerId="ADAL" clId="{264C83AA-283C-D342-9895-92F40AF91AE0}" dt="2022-10-03T17:19:15.893" v="226"/>
        <pc:sldMkLst>
          <pc:docMk/>
          <pc:sldMk cId="3101646360" sldId="286"/>
        </pc:sldMkLst>
      </pc:sldChg>
      <pc:sldChg chg="add del">
        <pc:chgData name="Ta Thi Kim Hue" userId="af176dfe-ebe0-47e4-99a4-e0f4d40f7313" providerId="ADAL" clId="{264C83AA-283C-D342-9895-92F40AF91AE0}" dt="2022-10-03T17:19:15.893" v="226"/>
        <pc:sldMkLst>
          <pc:docMk/>
          <pc:sldMk cId="3403607449" sldId="287"/>
        </pc:sldMkLst>
      </pc:sldChg>
      <pc:sldChg chg="add del">
        <pc:chgData name="Ta Thi Kim Hue" userId="af176dfe-ebe0-47e4-99a4-e0f4d40f7313" providerId="ADAL" clId="{264C83AA-283C-D342-9895-92F40AF91AE0}" dt="2022-10-03T17:19:15.893" v="226"/>
        <pc:sldMkLst>
          <pc:docMk/>
          <pc:sldMk cId="150685867" sldId="288"/>
        </pc:sldMkLst>
      </pc:sldChg>
      <pc:sldChg chg="add del">
        <pc:chgData name="Ta Thi Kim Hue" userId="af176dfe-ebe0-47e4-99a4-e0f4d40f7313" providerId="ADAL" clId="{264C83AA-283C-D342-9895-92F40AF91AE0}" dt="2022-10-03T17:19:15.893" v="226"/>
        <pc:sldMkLst>
          <pc:docMk/>
          <pc:sldMk cId="922720921" sldId="289"/>
        </pc:sldMkLst>
      </pc:sldChg>
      <pc:sldChg chg="add del">
        <pc:chgData name="Ta Thi Kim Hue" userId="af176dfe-ebe0-47e4-99a4-e0f4d40f7313" providerId="ADAL" clId="{264C83AA-283C-D342-9895-92F40AF91AE0}" dt="2022-10-03T17:19:15.893" v="226"/>
        <pc:sldMkLst>
          <pc:docMk/>
          <pc:sldMk cId="2491362886" sldId="290"/>
        </pc:sldMkLst>
      </pc:sldChg>
      <pc:sldChg chg="add del">
        <pc:chgData name="Ta Thi Kim Hue" userId="af176dfe-ebe0-47e4-99a4-e0f4d40f7313" providerId="ADAL" clId="{264C83AA-283C-D342-9895-92F40AF91AE0}" dt="2022-10-03T17:19:15.893" v="226"/>
        <pc:sldMkLst>
          <pc:docMk/>
          <pc:sldMk cId="4017542271" sldId="291"/>
        </pc:sldMkLst>
      </pc:sldChg>
      <pc:sldChg chg="add del">
        <pc:chgData name="Ta Thi Kim Hue" userId="af176dfe-ebe0-47e4-99a4-e0f4d40f7313" providerId="ADAL" clId="{264C83AA-283C-D342-9895-92F40AF91AE0}" dt="2022-10-03T17:19:15.893" v="226"/>
        <pc:sldMkLst>
          <pc:docMk/>
          <pc:sldMk cId="2949204088" sldId="292"/>
        </pc:sldMkLst>
      </pc:sldChg>
      <pc:sldChg chg="add del">
        <pc:chgData name="Ta Thi Kim Hue" userId="af176dfe-ebe0-47e4-99a4-e0f4d40f7313" providerId="ADAL" clId="{264C83AA-283C-D342-9895-92F40AF91AE0}" dt="2022-10-03T17:19:15.893" v="226"/>
        <pc:sldMkLst>
          <pc:docMk/>
          <pc:sldMk cId="755352288" sldId="293"/>
        </pc:sldMkLst>
      </pc:sldChg>
      <pc:sldChg chg="add del">
        <pc:chgData name="Ta Thi Kim Hue" userId="af176dfe-ebe0-47e4-99a4-e0f4d40f7313" providerId="ADAL" clId="{264C83AA-283C-D342-9895-92F40AF91AE0}" dt="2022-10-03T17:19:15.893" v="226"/>
        <pc:sldMkLst>
          <pc:docMk/>
          <pc:sldMk cId="2778974140" sldId="294"/>
        </pc:sldMkLst>
      </pc:sldChg>
      <pc:sldChg chg="add del">
        <pc:chgData name="Ta Thi Kim Hue" userId="af176dfe-ebe0-47e4-99a4-e0f4d40f7313" providerId="ADAL" clId="{264C83AA-283C-D342-9895-92F40AF91AE0}" dt="2022-10-03T17:19:15.893" v="226"/>
        <pc:sldMkLst>
          <pc:docMk/>
          <pc:sldMk cId="2213517322" sldId="295"/>
        </pc:sldMkLst>
      </pc:sldChg>
      <pc:sldChg chg="add del">
        <pc:chgData name="Ta Thi Kim Hue" userId="af176dfe-ebe0-47e4-99a4-e0f4d40f7313" providerId="ADAL" clId="{264C83AA-283C-D342-9895-92F40AF91AE0}" dt="2022-10-03T17:19:15.893" v="226"/>
        <pc:sldMkLst>
          <pc:docMk/>
          <pc:sldMk cId="4049429688" sldId="296"/>
        </pc:sldMkLst>
      </pc:sldChg>
      <pc:sldChg chg="add del">
        <pc:chgData name="Ta Thi Kim Hue" userId="af176dfe-ebe0-47e4-99a4-e0f4d40f7313" providerId="ADAL" clId="{264C83AA-283C-D342-9895-92F40AF91AE0}" dt="2022-10-03T17:19:15.893" v="226"/>
        <pc:sldMkLst>
          <pc:docMk/>
          <pc:sldMk cId="3388174673" sldId="300"/>
        </pc:sldMkLst>
      </pc:sldChg>
      <pc:sldChg chg="add del">
        <pc:chgData name="Ta Thi Kim Hue" userId="af176dfe-ebe0-47e4-99a4-e0f4d40f7313" providerId="ADAL" clId="{264C83AA-283C-D342-9895-92F40AF91AE0}" dt="2022-10-03T17:19:15.893" v="226"/>
        <pc:sldMkLst>
          <pc:docMk/>
          <pc:sldMk cId="0" sldId="305"/>
        </pc:sldMkLst>
      </pc:sldChg>
      <pc:sldChg chg="add del">
        <pc:chgData name="Ta Thi Kim Hue" userId="af176dfe-ebe0-47e4-99a4-e0f4d40f7313" providerId="ADAL" clId="{264C83AA-283C-D342-9895-92F40AF91AE0}" dt="2022-10-03T17:19:15.893" v="226"/>
        <pc:sldMkLst>
          <pc:docMk/>
          <pc:sldMk cId="0" sldId="306"/>
        </pc:sldMkLst>
      </pc:sldChg>
      <pc:sldChg chg="add del">
        <pc:chgData name="Ta Thi Kim Hue" userId="af176dfe-ebe0-47e4-99a4-e0f4d40f7313" providerId="ADAL" clId="{264C83AA-283C-D342-9895-92F40AF91AE0}" dt="2022-10-03T17:19:15.893" v="226"/>
        <pc:sldMkLst>
          <pc:docMk/>
          <pc:sldMk cId="0" sldId="307"/>
        </pc:sldMkLst>
      </pc:sldChg>
      <pc:sldChg chg="add del">
        <pc:chgData name="Ta Thi Kim Hue" userId="af176dfe-ebe0-47e4-99a4-e0f4d40f7313" providerId="ADAL" clId="{264C83AA-283C-D342-9895-92F40AF91AE0}" dt="2022-10-03T17:19:15.893" v="226"/>
        <pc:sldMkLst>
          <pc:docMk/>
          <pc:sldMk cId="0" sldId="308"/>
        </pc:sldMkLst>
      </pc:sldChg>
      <pc:sldChg chg="add del">
        <pc:chgData name="Ta Thi Kim Hue" userId="af176dfe-ebe0-47e4-99a4-e0f4d40f7313" providerId="ADAL" clId="{264C83AA-283C-D342-9895-92F40AF91AE0}" dt="2022-10-03T17:19:15.893" v="226"/>
        <pc:sldMkLst>
          <pc:docMk/>
          <pc:sldMk cId="797568543" sldId="369"/>
        </pc:sldMkLst>
      </pc:sldChg>
      <pc:sldChg chg="add del">
        <pc:chgData name="Ta Thi Kim Hue" userId="af176dfe-ebe0-47e4-99a4-e0f4d40f7313" providerId="ADAL" clId="{264C83AA-283C-D342-9895-92F40AF91AE0}" dt="2022-10-03T17:19:15.893" v="226"/>
        <pc:sldMkLst>
          <pc:docMk/>
          <pc:sldMk cId="14669266" sldId="370"/>
        </pc:sldMkLst>
      </pc:sldChg>
      <pc:sldChg chg="add del">
        <pc:chgData name="Ta Thi Kim Hue" userId="af176dfe-ebe0-47e4-99a4-e0f4d40f7313" providerId="ADAL" clId="{264C83AA-283C-D342-9895-92F40AF91AE0}" dt="2022-10-03T17:19:15.893" v="226"/>
        <pc:sldMkLst>
          <pc:docMk/>
          <pc:sldMk cId="2691938231" sldId="382"/>
        </pc:sldMkLst>
      </pc:sldChg>
      <pc:sldChg chg="add del">
        <pc:chgData name="Ta Thi Kim Hue" userId="af176dfe-ebe0-47e4-99a4-e0f4d40f7313" providerId="ADAL" clId="{264C83AA-283C-D342-9895-92F40AF91AE0}" dt="2022-10-03T17:19:15.893" v="226"/>
        <pc:sldMkLst>
          <pc:docMk/>
          <pc:sldMk cId="3547858971" sldId="383"/>
        </pc:sldMkLst>
      </pc:sldChg>
      <pc:sldChg chg="add del">
        <pc:chgData name="Ta Thi Kim Hue" userId="af176dfe-ebe0-47e4-99a4-e0f4d40f7313" providerId="ADAL" clId="{264C83AA-283C-D342-9895-92F40AF91AE0}" dt="2022-10-03T17:19:15.893" v="226"/>
        <pc:sldMkLst>
          <pc:docMk/>
          <pc:sldMk cId="349635482" sldId="384"/>
        </pc:sldMkLst>
      </pc:sldChg>
      <pc:sldChg chg="add del">
        <pc:chgData name="Ta Thi Kim Hue" userId="af176dfe-ebe0-47e4-99a4-e0f4d40f7313" providerId="ADAL" clId="{264C83AA-283C-D342-9895-92F40AF91AE0}" dt="2022-10-03T17:19:15.893" v="226"/>
        <pc:sldMkLst>
          <pc:docMk/>
          <pc:sldMk cId="3910591289" sldId="386"/>
        </pc:sldMkLst>
      </pc:sldChg>
      <pc:sldChg chg="modSp add del">
        <pc:chgData name="Ta Thi Kim Hue" userId="af176dfe-ebe0-47e4-99a4-e0f4d40f7313" providerId="ADAL" clId="{264C83AA-283C-D342-9895-92F40AF91AE0}" dt="2022-10-03T17:19:15.893" v="226"/>
        <pc:sldMkLst>
          <pc:docMk/>
          <pc:sldMk cId="4286006662" sldId="387"/>
        </pc:sldMkLst>
      </pc:sldChg>
      <pc:sldChg chg="add del">
        <pc:chgData name="Ta Thi Kim Hue" userId="af176dfe-ebe0-47e4-99a4-e0f4d40f7313" providerId="ADAL" clId="{264C83AA-283C-D342-9895-92F40AF91AE0}" dt="2022-10-03T17:19:15.893" v="226"/>
        <pc:sldMkLst>
          <pc:docMk/>
          <pc:sldMk cId="3286042638" sldId="389"/>
        </pc:sldMkLst>
      </pc:sldChg>
      <pc:sldChg chg="add del">
        <pc:chgData name="Ta Thi Kim Hue" userId="af176dfe-ebe0-47e4-99a4-e0f4d40f7313" providerId="ADAL" clId="{264C83AA-283C-D342-9895-92F40AF91AE0}" dt="2022-10-03T17:19:15.893" v="226"/>
        <pc:sldMkLst>
          <pc:docMk/>
          <pc:sldMk cId="612275083" sldId="390"/>
        </pc:sldMkLst>
      </pc:sldChg>
      <pc:sldChg chg="modSp add del mod">
        <pc:chgData name="Ta Thi Kim Hue" userId="af176dfe-ebe0-47e4-99a4-e0f4d40f7313" providerId="ADAL" clId="{264C83AA-283C-D342-9895-92F40AF91AE0}" dt="2022-10-03T17:19:15.893" v="226"/>
        <pc:sldMkLst>
          <pc:docMk/>
          <pc:sldMk cId="21265923" sldId="391"/>
        </pc:sldMkLst>
      </pc:sldChg>
      <pc:sldChg chg="modSp add del mod">
        <pc:chgData name="Ta Thi Kim Hue" userId="af176dfe-ebe0-47e4-99a4-e0f4d40f7313" providerId="ADAL" clId="{264C83AA-283C-D342-9895-92F40AF91AE0}" dt="2022-10-03T17:19:15.893" v="226"/>
        <pc:sldMkLst>
          <pc:docMk/>
          <pc:sldMk cId="2113586393" sldId="392"/>
        </pc:sldMkLst>
      </pc:sldChg>
      <pc:sldChg chg="add del">
        <pc:chgData name="Ta Thi Kim Hue" userId="af176dfe-ebe0-47e4-99a4-e0f4d40f7313" providerId="ADAL" clId="{264C83AA-283C-D342-9895-92F40AF91AE0}" dt="2022-10-03T17:19:15.893" v="226"/>
        <pc:sldMkLst>
          <pc:docMk/>
          <pc:sldMk cId="586158768" sldId="393"/>
        </pc:sldMkLst>
      </pc:sldChg>
      <pc:sldChg chg="add del">
        <pc:chgData name="Ta Thi Kim Hue" userId="af176dfe-ebe0-47e4-99a4-e0f4d40f7313" providerId="ADAL" clId="{264C83AA-283C-D342-9895-92F40AF91AE0}" dt="2022-10-03T17:19:15.893" v="226"/>
        <pc:sldMkLst>
          <pc:docMk/>
          <pc:sldMk cId="3565284658" sldId="394"/>
        </pc:sldMkLst>
      </pc:sldChg>
      <pc:sldChg chg="add del">
        <pc:chgData name="Ta Thi Kim Hue" userId="af176dfe-ebe0-47e4-99a4-e0f4d40f7313" providerId="ADAL" clId="{264C83AA-283C-D342-9895-92F40AF91AE0}" dt="2022-10-03T17:19:15.893" v="226"/>
        <pc:sldMkLst>
          <pc:docMk/>
          <pc:sldMk cId="1182829692" sldId="395"/>
        </pc:sldMkLst>
      </pc:sldChg>
      <pc:sldChg chg="add del">
        <pc:chgData name="Ta Thi Kim Hue" userId="af176dfe-ebe0-47e4-99a4-e0f4d40f7313" providerId="ADAL" clId="{264C83AA-283C-D342-9895-92F40AF91AE0}" dt="2022-10-03T17:19:15.893" v="226"/>
        <pc:sldMkLst>
          <pc:docMk/>
          <pc:sldMk cId="2452740296" sldId="396"/>
        </pc:sldMkLst>
      </pc:sldChg>
      <pc:sldChg chg="modSp add del mod">
        <pc:chgData name="Ta Thi Kim Hue" userId="af176dfe-ebe0-47e4-99a4-e0f4d40f7313" providerId="ADAL" clId="{264C83AA-283C-D342-9895-92F40AF91AE0}" dt="2022-10-03T17:19:15.893" v="226"/>
        <pc:sldMkLst>
          <pc:docMk/>
          <pc:sldMk cId="3376026375" sldId="397"/>
        </pc:sldMkLst>
      </pc:sldChg>
      <pc:sldChg chg="add del">
        <pc:chgData name="Ta Thi Kim Hue" userId="af176dfe-ebe0-47e4-99a4-e0f4d40f7313" providerId="ADAL" clId="{264C83AA-283C-D342-9895-92F40AF91AE0}" dt="2022-10-03T17:19:15.893" v="226"/>
        <pc:sldMkLst>
          <pc:docMk/>
          <pc:sldMk cId="4066310507" sldId="398"/>
        </pc:sldMkLst>
      </pc:sldChg>
      <pc:sldChg chg="add del">
        <pc:chgData name="Ta Thi Kim Hue" userId="af176dfe-ebe0-47e4-99a4-e0f4d40f7313" providerId="ADAL" clId="{264C83AA-283C-D342-9895-92F40AF91AE0}" dt="2022-10-03T17:19:15.893" v="226"/>
        <pc:sldMkLst>
          <pc:docMk/>
          <pc:sldMk cId="1205019817" sldId="402"/>
        </pc:sldMkLst>
      </pc:sldChg>
      <pc:sldChg chg="modSp add del mod">
        <pc:chgData name="Ta Thi Kim Hue" userId="af176dfe-ebe0-47e4-99a4-e0f4d40f7313" providerId="ADAL" clId="{264C83AA-283C-D342-9895-92F40AF91AE0}" dt="2022-10-03T17:19:15.893" v="226"/>
        <pc:sldMkLst>
          <pc:docMk/>
          <pc:sldMk cId="2623318352" sldId="403"/>
        </pc:sldMkLst>
      </pc:sldChg>
      <pc:sldChg chg="add del">
        <pc:chgData name="Ta Thi Kim Hue" userId="af176dfe-ebe0-47e4-99a4-e0f4d40f7313" providerId="ADAL" clId="{264C83AA-283C-D342-9895-92F40AF91AE0}" dt="2022-10-03T17:19:15.893" v="226"/>
        <pc:sldMkLst>
          <pc:docMk/>
          <pc:sldMk cId="1551701239" sldId="404"/>
        </pc:sldMkLst>
      </pc:sldChg>
      <pc:sldChg chg="modSp add del mod">
        <pc:chgData name="Ta Thi Kim Hue" userId="af176dfe-ebe0-47e4-99a4-e0f4d40f7313" providerId="ADAL" clId="{264C83AA-283C-D342-9895-92F40AF91AE0}" dt="2022-10-03T17:19:15.893" v="226"/>
        <pc:sldMkLst>
          <pc:docMk/>
          <pc:sldMk cId="201196844" sldId="407"/>
        </pc:sldMkLst>
      </pc:sldChg>
      <pc:sldChg chg="modSp add del mod">
        <pc:chgData name="Ta Thi Kim Hue" userId="af176dfe-ebe0-47e4-99a4-e0f4d40f7313" providerId="ADAL" clId="{264C83AA-283C-D342-9895-92F40AF91AE0}" dt="2022-10-03T17:19:15.893" v="226"/>
        <pc:sldMkLst>
          <pc:docMk/>
          <pc:sldMk cId="1951456656" sldId="409"/>
        </pc:sldMkLst>
      </pc:sldChg>
      <pc:sldChg chg="add del">
        <pc:chgData name="Ta Thi Kim Hue" userId="af176dfe-ebe0-47e4-99a4-e0f4d40f7313" providerId="ADAL" clId="{264C83AA-283C-D342-9895-92F40AF91AE0}" dt="2022-10-03T17:19:15.893" v="226"/>
        <pc:sldMkLst>
          <pc:docMk/>
          <pc:sldMk cId="1116260510" sldId="445"/>
        </pc:sldMkLst>
      </pc:sldChg>
      <pc:sldChg chg="add del">
        <pc:chgData name="Ta Thi Kim Hue" userId="af176dfe-ebe0-47e4-99a4-e0f4d40f7313" providerId="ADAL" clId="{264C83AA-283C-D342-9895-92F40AF91AE0}" dt="2022-10-03T17:19:15.893" v="226"/>
        <pc:sldMkLst>
          <pc:docMk/>
          <pc:sldMk cId="2880678901" sldId="446"/>
        </pc:sldMkLst>
      </pc:sldChg>
      <pc:sldChg chg="add del">
        <pc:chgData name="Ta Thi Kim Hue" userId="af176dfe-ebe0-47e4-99a4-e0f4d40f7313" providerId="ADAL" clId="{264C83AA-283C-D342-9895-92F40AF91AE0}" dt="2022-10-03T17:19:15.893" v="226"/>
        <pc:sldMkLst>
          <pc:docMk/>
          <pc:sldMk cId="3821036190" sldId="447"/>
        </pc:sldMkLst>
      </pc:sldChg>
      <pc:sldChg chg="add del">
        <pc:chgData name="Ta Thi Kim Hue" userId="af176dfe-ebe0-47e4-99a4-e0f4d40f7313" providerId="ADAL" clId="{264C83AA-283C-D342-9895-92F40AF91AE0}" dt="2022-10-03T17:19:15.893" v="226"/>
        <pc:sldMkLst>
          <pc:docMk/>
          <pc:sldMk cId="3527079919" sldId="448"/>
        </pc:sldMkLst>
      </pc:sldChg>
      <pc:sldChg chg="add del">
        <pc:chgData name="Ta Thi Kim Hue" userId="af176dfe-ebe0-47e4-99a4-e0f4d40f7313" providerId="ADAL" clId="{264C83AA-283C-D342-9895-92F40AF91AE0}" dt="2022-10-03T17:19:15.893" v="226"/>
        <pc:sldMkLst>
          <pc:docMk/>
          <pc:sldMk cId="2622715269" sldId="449"/>
        </pc:sldMkLst>
      </pc:sldChg>
      <pc:sldChg chg="add del">
        <pc:chgData name="Ta Thi Kim Hue" userId="af176dfe-ebe0-47e4-99a4-e0f4d40f7313" providerId="ADAL" clId="{264C83AA-283C-D342-9895-92F40AF91AE0}" dt="2022-10-03T17:19:15.893" v="226"/>
        <pc:sldMkLst>
          <pc:docMk/>
          <pc:sldMk cId="3540211018" sldId="450"/>
        </pc:sldMkLst>
      </pc:sldChg>
      <pc:sldChg chg="add del">
        <pc:chgData name="Ta Thi Kim Hue" userId="af176dfe-ebe0-47e4-99a4-e0f4d40f7313" providerId="ADAL" clId="{264C83AA-283C-D342-9895-92F40AF91AE0}" dt="2022-10-03T17:19:15.893" v="226"/>
        <pc:sldMkLst>
          <pc:docMk/>
          <pc:sldMk cId="1839962129" sldId="451"/>
        </pc:sldMkLst>
      </pc:sldChg>
      <pc:sldChg chg="add del">
        <pc:chgData name="Ta Thi Kim Hue" userId="af176dfe-ebe0-47e4-99a4-e0f4d40f7313" providerId="ADAL" clId="{264C83AA-283C-D342-9895-92F40AF91AE0}" dt="2022-10-03T17:19:15.893" v="226"/>
        <pc:sldMkLst>
          <pc:docMk/>
          <pc:sldMk cId="1253696549" sldId="452"/>
        </pc:sldMkLst>
      </pc:sldChg>
      <pc:sldChg chg="modSp add del mod">
        <pc:chgData name="Ta Thi Kim Hue" userId="af176dfe-ebe0-47e4-99a4-e0f4d40f7313" providerId="ADAL" clId="{264C83AA-283C-D342-9895-92F40AF91AE0}" dt="2022-10-03T17:19:15.893" v="226"/>
        <pc:sldMkLst>
          <pc:docMk/>
          <pc:sldMk cId="2165312837" sldId="456"/>
        </pc:sldMkLst>
      </pc:sldChg>
      <pc:sldChg chg="add del">
        <pc:chgData name="Ta Thi Kim Hue" userId="af176dfe-ebe0-47e4-99a4-e0f4d40f7313" providerId="ADAL" clId="{264C83AA-283C-D342-9895-92F40AF91AE0}" dt="2022-10-03T17:19:15.893" v="226"/>
        <pc:sldMkLst>
          <pc:docMk/>
          <pc:sldMk cId="3500639666" sldId="459"/>
        </pc:sldMkLst>
      </pc:sldChg>
      <pc:sldChg chg="add del">
        <pc:chgData name="Ta Thi Kim Hue" userId="af176dfe-ebe0-47e4-99a4-e0f4d40f7313" providerId="ADAL" clId="{264C83AA-283C-D342-9895-92F40AF91AE0}" dt="2022-10-03T17:19:15.893" v="226"/>
        <pc:sldMkLst>
          <pc:docMk/>
          <pc:sldMk cId="2825552731" sldId="460"/>
        </pc:sldMkLst>
      </pc:sldChg>
      <pc:sldChg chg="add del">
        <pc:chgData name="Ta Thi Kim Hue" userId="af176dfe-ebe0-47e4-99a4-e0f4d40f7313" providerId="ADAL" clId="{264C83AA-283C-D342-9895-92F40AF91AE0}" dt="2022-10-03T17:19:15.893" v="226"/>
        <pc:sldMkLst>
          <pc:docMk/>
          <pc:sldMk cId="4093278628" sldId="461"/>
        </pc:sldMkLst>
      </pc:sldChg>
      <pc:sldChg chg="add del">
        <pc:chgData name="Ta Thi Kim Hue" userId="af176dfe-ebe0-47e4-99a4-e0f4d40f7313" providerId="ADAL" clId="{264C83AA-283C-D342-9895-92F40AF91AE0}" dt="2022-10-03T17:19:15.893" v="226"/>
        <pc:sldMkLst>
          <pc:docMk/>
          <pc:sldMk cId="1744569391" sldId="462"/>
        </pc:sldMkLst>
      </pc:sldChg>
      <pc:sldChg chg="add del">
        <pc:chgData name="Ta Thi Kim Hue" userId="af176dfe-ebe0-47e4-99a4-e0f4d40f7313" providerId="ADAL" clId="{264C83AA-283C-D342-9895-92F40AF91AE0}" dt="2022-10-03T17:19:15.893" v="226"/>
        <pc:sldMkLst>
          <pc:docMk/>
          <pc:sldMk cId="255274137" sldId="463"/>
        </pc:sldMkLst>
      </pc:sldChg>
      <pc:sldChg chg="modSp add del">
        <pc:chgData name="Ta Thi Kim Hue" userId="af176dfe-ebe0-47e4-99a4-e0f4d40f7313" providerId="ADAL" clId="{264C83AA-283C-D342-9895-92F40AF91AE0}" dt="2022-10-03T17:19:15.893" v="226"/>
        <pc:sldMkLst>
          <pc:docMk/>
          <pc:sldMk cId="0" sldId="464"/>
        </pc:sldMkLst>
      </pc:sldChg>
      <pc:sldChg chg="add del">
        <pc:chgData name="Ta Thi Kim Hue" userId="af176dfe-ebe0-47e4-99a4-e0f4d40f7313" providerId="ADAL" clId="{264C83AA-283C-D342-9895-92F40AF91AE0}" dt="2022-10-03T17:19:15.893" v="226"/>
        <pc:sldMkLst>
          <pc:docMk/>
          <pc:sldMk cId="0" sldId="465"/>
        </pc:sldMkLst>
      </pc:sldChg>
      <pc:sldChg chg="add del">
        <pc:chgData name="Ta Thi Kim Hue" userId="af176dfe-ebe0-47e4-99a4-e0f4d40f7313" providerId="ADAL" clId="{264C83AA-283C-D342-9895-92F40AF91AE0}" dt="2022-10-03T17:19:15.893" v="226"/>
        <pc:sldMkLst>
          <pc:docMk/>
          <pc:sldMk cId="1789546242" sldId="466"/>
        </pc:sldMkLst>
      </pc:sldChg>
      <pc:sldChg chg="add del">
        <pc:chgData name="Ta Thi Kim Hue" userId="af176dfe-ebe0-47e4-99a4-e0f4d40f7313" providerId="ADAL" clId="{264C83AA-283C-D342-9895-92F40AF91AE0}" dt="2022-10-03T17:19:15.893" v="226"/>
        <pc:sldMkLst>
          <pc:docMk/>
          <pc:sldMk cId="2997619395" sldId="467"/>
        </pc:sldMkLst>
      </pc:sldChg>
      <pc:sldMasterChg chg="delSldLayout">
        <pc:chgData name="Ta Thi Kim Hue" userId="af176dfe-ebe0-47e4-99a4-e0f4d40f7313" providerId="ADAL" clId="{264C83AA-283C-D342-9895-92F40AF91AE0}" dt="2022-10-03T17:18:29.436" v="204" actId="2696"/>
        <pc:sldMasterMkLst>
          <pc:docMk/>
          <pc:sldMasterMk cId="2819895280" sldId="2147483658"/>
        </pc:sldMasterMkLst>
        <pc:sldLayoutChg chg="del">
          <pc:chgData name="Ta Thi Kim Hue" userId="af176dfe-ebe0-47e4-99a4-e0f4d40f7313" providerId="ADAL" clId="{264C83AA-283C-D342-9895-92F40AF91AE0}" dt="2022-10-03T17:18:29.436" v="204" actId="2696"/>
          <pc:sldLayoutMkLst>
            <pc:docMk/>
            <pc:sldMasterMk cId="2819895280" sldId="2147483658"/>
            <pc:sldLayoutMk cId="678804056" sldId="2147483671"/>
          </pc:sldLayoutMkLst>
        </pc:sldLayoutChg>
      </pc:sldMasterChg>
    </pc:docChg>
  </pc:docChgLst>
  <pc:docChgLst>
    <pc:chgData name="Tạ Thị Kim Huệ" userId="af176dfe-ebe0-47e4-99a4-e0f4d40f7313" providerId="ADAL" clId="{E2D6EB81-A04F-5BD5-ADB1-F879CE7AB410}"/>
    <pc:docChg chg="modSld">
      <pc:chgData name="Tạ Thị Kim Huệ" userId="af176dfe-ebe0-47e4-99a4-e0f4d40f7313" providerId="ADAL" clId="{E2D6EB81-A04F-5BD5-ADB1-F879CE7AB410}" dt="2025-09-22T07:35:18.523" v="107" actId="20577"/>
      <pc:docMkLst>
        <pc:docMk/>
      </pc:docMkLst>
      <pc:sldChg chg="modSp mod">
        <pc:chgData name="Tạ Thị Kim Huệ" userId="af176dfe-ebe0-47e4-99a4-e0f4d40f7313" providerId="ADAL" clId="{E2D6EB81-A04F-5BD5-ADB1-F879CE7AB410}" dt="2025-09-22T07:35:18.523" v="107" actId="20577"/>
        <pc:sldMkLst>
          <pc:docMk/>
          <pc:sldMk cId="3292951085" sldId="280"/>
        </pc:sldMkLst>
        <pc:spChg chg="mod">
          <ac:chgData name="Tạ Thị Kim Huệ" userId="af176dfe-ebe0-47e4-99a4-e0f4d40f7313" providerId="ADAL" clId="{E2D6EB81-A04F-5BD5-ADB1-F879CE7AB410}" dt="2025-09-22T07:33:53.406" v="82" actId="20577"/>
          <ac:spMkLst>
            <pc:docMk/>
            <pc:sldMk cId="3292951085" sldId="280"/>
            <ac:spMk id="4" creationId="{609B6055-880D-7212-B9FC-CF95D4514609}"/>
          </ac:spMkLst>
        </pc:spChg>
        <pc:graphicFrameChg chg="modGraphic">
          <ac:chgData name="Tạ Thị Kim Huệ" userId="af176dfe-ebe0-47e4-99a4-e0f4d40f7313" providerId="ADAL" clId="{E2D6EB81-A04F-5BD5-ADB1-F879CE7AB410}" dt="2025-09-22T07:35:18.523" v="107" actId="20577"/>
          <ac:graphicFrameMkLst>
            <pc:docMk/>
            <pc:sldMk cId="3292951085" sldId="280"/>
            <ac:graphicFrameMk id="6" creationId="{AD3C9FD9-32C0-4F81-24BB-6BE45FA0B762}"/>
          </ac:graphicFrameMkLst>
        </pc:graphicFrameChg>
      </pc:sldChg>
    </pc:docChg>
  </pc:docChgLst>
  <pc:docChgLst>
    <pc:chgData name="hue.tathikim@hust.edu.vn" userId="af176dfe-ebe0-47e4-99a4-e0f4d40f7313" providerId="ADAL" clId="{1F4E8022-28B5-4CB1-ADE6-2FBE4A23408A}"/>
    <pc:docChg chg="undo custSel addSld modSld">
      <pc:chgData name="hue.tathikim@hust.edu.vn" userId="af176dfe-ebe0-47e4-99a4-e0f4d40f7313" providerId="ADAL" clId="{1F4E8022-28B5-4CB1-ADE6-2FBE4A23408A}" dt="2022-10-12T04:36:37.739" v="1747" actId="20577"/>
      <pc:docMkLst>
        <pc:docMk/>
      </pc:docMkLst>
      <pc:sldChg chg="addSp modSp mod">
        <pc:chgData name="hue.tathikim@hust.edu.vn" userId="af176dfe-ebe0-47e4-99a4-e0f4d40f7313" providerId="ADAL" clId="{1F4E8022-28B5-4CB1-ADE6-2FBE4A23408A}" dt="2022-10-12T04:00:05.410" v="732" actId="14100"/>
        <pc:sldMkLst>
          <pc:docMk/>
          <pc:sldMk cId="757369366" sldId="266"/>
        </pc:sldMkLst>
      </pc:sldChg>
      <pc:sldChg chg="modSp new mod">
        <pc:chgData name="hue.tathikim@hust.edu.vn" userId="af176dfe-ebe0-47e4-99a4-e0f4d40f7313" providerId="ADAL" clId="{1F4E8022-28B5-4CB1-ADE6-2FBE4A23408A}" dt="2022-10-12T04:36:37.739" v="1747" actId="20577"/>
        <pc:sldMkLst>
          <pc:docMk/>
          <pc:sldMk cId="3057768725" sldId="273"/>
        </pc:sldMkLst>
      </pc:sldChg>
      <pc:sldChg chg="modSp new mod">
        <pc:chgData name="hue.tathikim@hust.edu.vn" userId="af176dfe-ebe0-47e4-99a4-e0f4d40f7313" providerId="ADAL" clId="{1F4E8022-28B5-4CB1-ADE6-2FBE4A23408A}" dt="2022-10-12T04:19:56.837" v="734"/>
        <pc:sldMkLst>
          <pc:docMk/>
          <pc:sldMk cId="4153716864" sldId="274"/>
        </pc:sldMkLst>
      </pc:sldChg>
      <pc:sldChg chg="new">
        <pc:chgData name="hue.tathikim@hust.edu.vn" userId="af176dfe-ebe0-47e4-99a4-e0f4d40f7313" providerId="ADAL" clId="{1F4E8022-28B5-4CB1-ADE6-2FBE4A23408A}" dt="2022-10-12T03:58:00.914" v="625" actId="680"/>
        <pc:sldMkLst>
          <pc:docMk/>
          <pc:sldMk cId="3928681518" sldId="275"/>
        </pc:sldMkLst>
      </pc:sldChg>
    </pc:docChg>
  </pc:docChgLst>
  <pc:docChgLst>
    <pc:chgData name="Ta Thi Kim Hue" userId="af176dfe-ebe0-47e4-99a4-e0f4d40f7313" providerId="ADAL" clId="{86356EB0-A08D-AC43-B3EF-A581390E2F77}"/>
    <pc:docChg chg="custSel modSld">
      <pc:chgData name="Ta Thi Kim Hue" userId="af176dfe-ebe0-47e4-99a4-e0f4d40f7313" providerId="ADAL" clId="{86356EB0-A08D-AC43-B3EF-A581390E2F77}" dt="2023-03-27T07:45:07.907" v="8" actId="14100"/>
      <pc:docMkLst>
        <pc:docMk/>
      </pc:docMkLst>
      <pc:sldChg chg="mod modShow">
        <pc:chgData name="Ta Thi Kim Hue" userId="af176dfe-ebe0-47e4-99a4-e0f4d40f7313" providerId="ADAL" clId="{86356EB0-A08D-AC43-B3EF-A581390E2F77}" dt="2023-03-27T04:21:12.340" v="0" actId="729"/>
        <pc:sldMkLst>
          <pc:docMk/>
          <pc:sldMk cId="1106128745" sldId="278"/>
        </pc:sldMkLst>
      </pc:sldChg>
      <pc:sldChg chg="addSp modSp mod modAnim">
        <pc:chgData name="Ta Thi Kim Hue" userId="af176dfe-ebe0-47e4-99a4-e0f4d40f7313" providerId="ADAL" clId="{86356EB0-A08D-AC43-B3EF-A581390E2F77}" dt="2023-03-27T07:44:48.787" v="4" actId="1076"/>
        <pc:sldMkLst>
          <pc:docMk/>
          <pc:sldMk cId="3292951085" sldId="280"/>
        </pc:sldMkLst>
      </pc:sldChg>
      <pc:sldChg chg="addSp delSp modSp mod delAnim modAnim">
        <pc:chgData name="Ta Thi Kim Hue" userId="af176dfe-ebe0-47e4-99a4-e0f4d40f7313" providerId="ADAL" clId="{86356EB0-A08D-AC43-B3EF-A581390E2F77}" dt="2023-03-27T07:45:07.907" v="8" actId="14100"/>
        <pc:sldMkLst>
          <pc:docMk/>
          <pc:sldMk cId="4052059992" sldId="28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9/22/25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9/22/25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AB2FC7A4-3D1B-482D-8C9D-7642A2CE3076}" type="slidenum">
              <a:rPr lang="en-US" smtClean="0"/>
              <a:t>1</a:t>
            </a:fld>
            <a:endParaRPr lang="en-US"/>
          </a:p>
        </p:txBody>
      </p:sp>
    </p:spTree>
    <p:extLst>
      <p:ext uri="{BB962C8B-B14F-4D97-AF65-F5344CB8AC3E}">
        <p14:creationId xmlns:p14="http://schemas.microsoft.com/office/powerpoint/2010/main" val="1876465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err="1"/>
              <a:t>Về</a:t>
            </a:r>
            <a:r>
              <a:rPr lang="en-US" altLang="en-US" sz="1200" dirty="0"/>
              <a:t> </a:t>
            </a:r>
            <a:r>
              <a:rPr lang="en-US" altLang="en-US" sz="1200" dirty="0" err="1"/>
              <a:t>mặt</a:t>
            </a:r>
            <a:r>
              <a:rPr lang="en-US" altLang="en-US" sz="1200" dirty="0"/>
              <a:t> </a:t>
            </a:r>
            <a:r>
              <a:rPr lang="en-US" altLang="en-US" sz="1200" dirty="0" err="1"/>
              <a:t>lịch</a:t>
            </a:r>
            <a:r>
              <a:rPr lang="en-US" altLang="en-US" sz="1200" dirty="0"/>
              <a:t> </a:t>
            </a:r>
            <a:r>
              <a:rPr lang="en-US" altLang="en-US" sz="1200" dirty="0" err="1"/>
              <a:t>sử</a:t>
            </a:r>
            <a:r>
              <a:rPr lang="en-US" altLang="en-US" sz="1200" dirty="0"/>
              <a:t>, </a:t>
            </a:r>
            <a:r>
              <a:rPr lang="en-US" altLang="en-US" sz="1200" dirty="0" err="1"/>
              <a:t>mật</a:t>
            </a:r>
            <a:r>
              <a:rPr lang="en-US" altLang="en-US" sz="1200" dirty="0"/>
              <a:t> </a:t>
            </a:r>
            <a:r>
              <a:rPr lang="en-US" altLang="en-US" sz="1200" dirty="0" err="1"/>
              <a:t>mã</a:t>
            </a:r>
            <a:r>
              <a:rPr lang="en-US" altLang="en-US" sz="1200" dirty="0"/>
              <a:t> </a:t>
            </a:r>
            <a:r>
              <a:rPr lang="en-US" altLang="en-US" sz="1200" dirty="0" err="1"/>
              <a:t>cộng</a:t>
            </a:r>
            <a:r>
              <a:rPr lang="en-US" altLang="en-US" sz="1200" dirty="0"/>
              <a:t> </a:t>
            </a:r>
            <a:r>
              <a:rPr lang="en-US" altLang="en-US" sz="1200" dirty="0" err="1"/>
              <a:t>được</a:t>
            </a:r>
            <a:r>
              <a:rPr lang="en-US" altLang="en-US" sz="1200" dirty="0"/>
              <a:t> </a:t>
            </a:r>
            <a:r>
              <a:rPr lang="en-US" altLang="en-US" sz="1200" dirty="0" err="1"/>
              <a:t>gọi</a:t>
            </a:r>
            <a:r>
              <a:rPr lang="en-US" altLang="en-US" sz="1200" dirty="0"/>
              <a:t> </a:t>
            </a:r>
            <a:r>
              <a:rPr lang="en-US" altLang="en-US" sz="1200" dirty="0" err="1"/>
              <a:t>là</a:t>
            </a:r>
            <a:r>
              <a:rPr lang="en-US" altLang="en-US" sz="1200" dirty="0"/>
              <a:t> </a:t>
            </a:r>
            <a:r>
              <a:rPr lang="en-US" altLang="en-US" sz="1200" dirty="0" err="1"/>
              <a:t>mật</a:t>
            </a:r>
            <a:r>
              <a:rPr lang="en-US" altLang="en-US" sz="1200" dirty="0"/>
              <a:t> </a:t>
            </a:r>
            <a:r>
              <a:rPr lang="en-US" altLang="en-US" sz="1200" dirty="0" err="1"/>
              <a:t>mã</a:t>
            </a:r>
            <a:r>
              <a:rPr lang="en-US" altLang="en-US" sz="1200" dirty="0"/>
              <a:t> </a:t>
            </a:r>
            <a:r>
              <a:rPr lang="en-US" altLang="en-US" sz="1200" dirty="0" err="1"/>
              <a:t>dịch</a:t>
            </a:r>
            <a:r>
              <a:rPr lang="en-US" altLang="en-US" sz="1200" dirty="0"/>
              <a:t> </a:t>
            </a:r>
            <a:r>
              <a:rPr lang="en-US" altLang="en-US" sz="1200" dirty="0" err="1"/>
              <a:t>chuyển</a:t>
            </a:r>
            <a:r>
              <a:rPr lang="en-US" altLang="en-US" sz="1200" dirty="0"/>
              <a:t>. Julius Caesar </a:t>
            </a:r>
            <a:r>
              <a:rPr lang="en-US" altLang="en-US" sz="1200" dirty="0" err="1"/>
              <a:t>đã</a:t>
            </a:r>
            <a:r>
              <a:rPr lang="en-US" altLang="en-US" sz="1200" dirty="0"/>
              <a:t> </a:t>
            </a:r>
            <a:r>
              <a:rPr lang="en-US" altLang="en-US" sz="1200" dirty="0" err="1"/>
              <a:t>sử</a:t>
            </a:r>
            <a:r>
              <a:rPr lang="en-US" altLang="en-US" sz="1200" dirty="0"/>
              <a:t> </a:t>
            </a:r>
            <a:r>
              <a:rPr lang="en-US" altLang="en-US" sz="1200" dirty="0" err="1"/>
              <a:t>dụng</a:t>
            </a:r>
            <a:r>
              <a:rPr lang="en-US" altLang="en-US" sz="1200" dirty="0"/>
              <a:t> </a:t>
            </a:r>
            <a:r>
              <a:rPr lang="en-US" altLang="en-US" sz="1200" dirty="0" err="1"/>
              <a:t>một</a:t>
            </a:r>
            <a:r>
              <a:rPr lang="en-US" altLang="en-US" sz="1200" dirty="0"/>
              <a:t> </a:t>
            </a:r>
            <a:r>
              <a:rPr lang="en-US" altLang="en-US" sz="1200" dirty="0" err="1"/>
              <a:t>mật</a:t>
            </a:r>
            <a:r>
              <a:rPr lang="en-US" altLang="en-US" sz="1200" dirty="0"/>
              <a:t> </a:t>
            </a:r>
            <a:r>
              <a:rPr lang="en-US" altLang="en-US" sz="1200" dirty="0" err="1"/>
              <a:t>mã</a:t>
            </a:r>
            <a:r>
              <a:rPr lang="en-US" altLang="en-US" sz="1200" dirty="0"/>
              <a:t> </a:t>
            </a:r>
            <a:r>
              <a:rPr lang="en-US" altLang="en-US" sz="1200" dirty="0" err="1"/>
              <a:t>cộng</a:t>
            </a:r>
            <a:r>
              <a:rPr lang="en-US" altLang="en-US" sz="1200" dirty="0"/>
              <a:t> </a:t>
            </a:r>
            <a:r>
              <a:rPr lang="en-US" altLang="en-US" sz="1200" dirty="0" err="1"/>
              <a:t>để</a:t>
            </a:r>
            <a:r>
              <a:rPr lang="en-US" altLang="en-US" sz="1200" dirty="0"/>
              <a:t> </a:t>
            </a:r>
            <a:r>
              <a:rPr lang="en-US" altLang="en-US" sz="1200" dirty="0" err="1"/>
              <a:t>liên</a:t>
            </a:r>
            <a:r>
              <a:rPr lang="en-US" altLang="en-US" sz="1200" dirty="0"/>
              <a:t> </a:t>
            </a:r>
            <a:r>
              <a:rPr lang="en-US" altLang="en-US" sz="1200" dirty="0" err="1"/>
              <a:t>lạc</a:t>
            </a:r>
            <a:r>
              <a:rPr lang="en-US" altLang="en-US" sz="1200" dirty="0"/>
              <a:t> </a:t>
            </a:r>
            <a:r>
              <a:rPr lang="en-US" altLang="en-US" sz="1200" dirty="0" err="1"/>
              <a:t>với</a:t>
            </a:r>
            <a:r>
              <a:rPr lang="en-US" altLang="en-US" sz="1200" dirty="0"/>
              <a:t> </a:t>
            </a:r>
            <a:r>
              <a:rPr lang="en-US" altLang="en-US" sz="1200" dirty="0" err="1"/>
              <a:t>các</a:t>
            </a:r>
            <a:r>
              <a:rPr lang="en-US" altLang="en-US" sz="1200" dirty="0"/>
              <a:t> </a:t>
            </a:r>
            <a:r>
              <a:rPr lang="en-US" altLang="en-US" sz="1200" dirty="0" err="1"/>
              <a:t>sĩ</a:t>
            </a:r>
            <a:r>
              <a:rPr lang="en-US" altLang="en-US" sz="1200" dirty="0"/>
              <a:t> </a:t>
            </a:r>
            <a:r>
              <a:rPr lang="en-US" altLang="en-US" sz="1200" dirty="0" err="1"/>
              <a:t>quan</a:t>
            </a:r>
            <a:r>
              <a:rPr lang="en-US" altLang="en-US" sz="1200" dirty="0"/>
              <a:t> </a:t>
            </a:r>
            <a:r>
              <a:rPr lang="en-US" altLang="en-US" sz="1200" dirty="0" err="1"/>
              <a:t>của</a:t>
            </a:r>
            <a:r>
              <a:rPr lang="en-US" altLang="en-US" sz="1200" dirty="0"/>
              <a:t> </a:t>
            </a:r>
            <a:r>
              <a:rPr lang="en-US" altLang="en-US" sz="1200" dirty="0" err="1"/>
              <a:t>mình</a:t>
            </a:r>
            <a:r>
              <a:rPr lang="en-US" altLang="en-US" sz="1200" dirty="0"/>
              <a:t>. </a:t>
            </a:r>
            <a:r>
              <a:rPr lang="en-US" altLang="en-US" sz="1200" dirty="0" err="1"/>
              <a:t>Vì</a:t>
            </a:r>
            <a:r>
              <a:rPr lang="en-US" altLang="en-US" sz="1200" dirty="0"/>
              <a:t> </a:t>
            </a:r>
            <a:r>
              <a:rPr lang="en-US" altLang="en-US" sz="1200" dirty="0" err="1"/>
              <a:t>lý</a:t>
            </a:r>
            <a:r>
              <a:rPr lang="en-US" altLang="en-US" sz="1200" dirty="0"/>
              <a:t> do </a:t>
            </a:r>
            <a:r>
              <a:rPr lang="en-US" altLang="en-US" sz="1200" dirty="0" err="1"/>
              <a:t>này</a:t>
            </a:r>
            <a:r>
              <a:rPr lang="en-US" altLang="en-US" sz="1200" dirty="0"/>
              <a:t>, </a:t>
            </a:r>
            <a:r>
              <a:rPr lang="en-US" altLang="en-US" sz="1200" dirty="0" err="1"/>
              <a:t>mật</a:t>
            </a:r>
            <a:r>
              <a:rPr lang="en-US" altLang="en-US" sz="1200" dirty="0"/>
              <a:t> </a:t>
            </a:r>
            <a:r>
              <a:rPr lang="en-US" altLang="en-US" sz="1200" dirty="0" err="1"/>
              <a:t>mã</a:t>
            </a:r>
            <a:r>
              <a:rPr lang="en-US" altLang="en-US" sz="1200" dirty="0"/>
              <a:t> </a:t>
            </a:r>
            <a:r>
              <a:rPr lang="en-US" altLang="en-US" sz="1200" dirty="0" err="1"/>
              <a:t>cộng</a:t>
            </a:r>
            <a:r>
              <a:rPr lang="en-US" altLang="en-US" sz="1200" dirty="0"/>
              <a:t> </a:t>
            </a:r>
            <a:r>
              <a:rPr lang="en-US" altLang="en-US" sz="1200" dirty="0" err="1"/>
              <a:t>đôi</a:t>
            </a:r>
            <a:r>
              <a:rPr lang="en-US" altLang="en-US" sz="1200" dirty="0"/>
              <a:t> </a:t>
            </a:r>
            <a:r>
              <a:rPr lang="en-US" altLang="en-US" sz="1200" dirty="0" err="1"/>
              <a:t>khi</a:t>
            </a:r>
            <a:r>
              <a:rPr lang="en-US" altLang="en-US" sz="1200" dirty="0"/>
              <a:t> </a:t>
            </a:r>
            <a:r>
              <a:rPr lang="en-US" altLang="en-US" sz="1200" dirty="0" err="1"/>
              <a:t>được</a:t>
            </a:r>
            <a:r>
              <a:rPr lang="en-US" altLang="en-US" sz="1200" dirty="0"/>
              <a:t> </a:t>
            </a:r>
            <a:r>
              <a:rPr lang="en-US" altLang="en-US" sz="1200" dirty="0" err="1"/>
              <a:t>gọi</a:t>
            </a:r>
            <a:r>
              <a:rPr lang="en-US" altLang="en-US" sz="1200" dirty="0"/>
              <a:t> </a:t>
            </a:r>
            <a:r>
              <a:rPr lang="en-US" altLang="en-US" sz="1200" dirty="0" err="1"/>
              <a:t>là</a:t>
            </a:r>
            <a:r>
              <a:rPr lang="en-US" altLang="en-US" sz="1200" dirty="0"/>
              <a:t> </a:t>
            </a:r>
            <a:r>
              <a:rPr lang="en-US" altLang="en-US" sz="1200" dirty="0" err="1"/>
              <a:t>mật</a:t>
            </a:r>
            <a:r>
              <a:rPr lang="en-US" altLang="en-US" sz="1200" dirty="0"/>
              <a:t> </a:t>
            </a:r>
            <a:r>
              <a:rPr lang="en-US" altLang="en-US" sz="1200" dirty="0" err="1"/>
              <a:t>mã</a:t>
            </a:r>
            <a:r>
              <a:rPr lang="en-US" altLang="en-US" sz="1200" dirty="0"/>
              <a:t> Caesar. Caesar </a:t>
            </a:r>
            <a:r>
              <a:rPr lang="en-US" altLang="en-US" sz="1200" dirty="0" err="1"/>
              <a:t>đã</a:t>
            </a:r>
            <a:r>
              <a:rPr lang="en-US" altLang="en-US" sz="1200" dirty="0"/>
              <a:t> </a:t>
            </a:r>
            <a:r>
              <a:rPr lang="en-US" altLang="en-US" sz="1200" dirty="0" err="1"/>
              <a:t>sử</a:t>
            </a:r>
            <a:r>
              <a:rPr lang="en-US" altLang="en-US" sz="1200" dirty="0"/>
              <a:t> </a:t>
            </a:r>
            <a:r>
              <a:rPr lang="en-US" altLang="en-US" sz="1200" dirty="0" err="1"/>
              <a:t>dụng</a:t>
            </a:r>
            <a:r>
              <a:rPr lang="en-US" altLang="en-US" sz="1200" dirty="0"/>
              <a:t> </a:t>
            </a:r>
            <a:r>
              <a:rPr lang="en-US" altLang="en-US" sz="1200" dirty="0" err="1"/>
              <a:t>khóa</a:t>
            </a:r>
            <a:r>
              <a:rPr lang="en-US" altLang="en-US" sz="1200" dirty="0"/>
              <a:t> 3 </a:t>
            </a:r>
            <a:r>
              <a:rPr lang="en-US" altLang="en-US" sz="1200" dirty="0" err="1"/>
              <a:t>để</a:t>
            </a:r>
            <a:r>
              <a:rPr lang="en-US" altLang="en-US" sz="1200" dirty="0"/>
              <a:t> </a:t>
            </a:r>
            <a:r>
              <a:rPr lang="en-US" altLang="en-US" sz="1200" dirty="0" err="1"/>
              <a:t>liên</a:t>
            </a:r>
            <a:r>
              <a:rPr lang="en-US" altLang="en-US" sz="1200" dirty="0"/>
              <a:t> </a:t>
            </a:r>
            <a:r>
              <a:rPr lang="en-US" altLang="en-US" sz="1200" dirty="0" err="1"/>
              <a:t>lạc</a:t>
            </a:r>
            <a:r>
              <a:rPr lang="en-US" altLang="en-US" sz="1200" dirty="0"/>
              <a:t> </a:t>
            </a:r>
            <a:r>
              <a:rPr lang="en-US" altLang="en-US" sz="1200" dirty="0" err="1"/>
              <a:t>thông</a:t>
            </a:r>
            <a:r>
              <a:rPr lang="en-US" altLang="en-US" sz="1200" dirty="0"/>
              <a:t> tin.</a:t>
            </a:r>
          </a:p>
          <a:p>
            <a:endParaRPr dirty="0"/>
          </a:p>
        </p:txBody>
      </p:sp>
      <p:sp>
        <p:nvSpPr>
          <p:cNvPr id="4" name="Slide Number Placeholder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2361962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18</a:t>
            </a:fld>
            <a:endParaRPr lang="en-US"/>
          </a:p>
        </p:txBody>
      </p:sp>
    </p:spTree>
    <p:extLst>
      <p:ext uri="{BB962C8B-B14F-4D97-AF65-F5344CB8AC3E}">
        <p14:creationId xmlns:p14="http://schemas.microsoft.com/office/powerpoint/2010/main" val="4144845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AB2FC7A4-3D1B-482D-8C9D-7642A2CE3076}" type="slidenum">
              <a:rPr lang="en-US" smtClean="0"/>
              <a:t>24</a:t>
            </a:fld>
            <a:endParaRPr lang="en-US"/>
          </a:p>
        </p:txBody>
      </p:sp>
    </p:spTree>
    <p:extLst>
      <p:ext uri="{BB962C8B-B14F-4D97-AF65-F5344CB8AC3E}">
        <p14:creationId xmlns:p14="http://schemas.microsoft.com/office/powerpoint/2010/main" val="7197001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9/22/25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dcode.fr/monoalphabetic-substitution" TargetMode="External"/><Relationship Id="rId2" Type="http://schemas.openxmlformats.org/officeDocument/2006/relationships/hyperlink" Target="https://www.simonsingh.net/The_Black_Chamber/substitutioncrackingtool.html"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Text&#10;&#10;Description automatically generated">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012" y="317038"/>
            <a:ext cx="2576374" cy="936215"/>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a:t>LÝ THUYẾT MẬT MÃ </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dirty="0"/>
              <a:t>TS. TẠ KIM HUỆ </a:t>
            </a:r>
          </a:p>
          <a:p>
            <a:r>
              <a:rPr lang="en-US" sz="2800" b="0" dirty="0"/>
              <a:t>TRƯỜNG ĐIỆN – ĐIỆN TỬ </a:t>
            </a:r>
          </a:p>
          <a:p>
            <a:endParaRPr lang="en-US" sz="2800" b="0" dirty="0"/>
          </a:p>
          <a:p>
            <a:endParaRPr lang="en-US" sz="2800" b="0" dirty="0"/>
          </a:p>
          <a:p>
            <a:endParaRPr lang="en-US" sz="2800" b="0" dirty="0"/>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CHƯƠNG 1: GIỚI THIỆU </a:t>
            </a:r>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r>
              <a:rPr lang="en-US" dirty="0" err="1"/>
              <a:t>Tổng</a:t>
            </a:r>
            <a:r>
              <a:rPr lang="en-US" dirty="0"/>
              <a:t> </a:t>
            </a:r>
            <a:r>
              <a:rPr lang="en-US" dirty="0" err="1"/>
              <a:t>quan</a:t>
            </a:r>
            <a:r>
              <a:rPr lang="en-US" dirty="0"/>
              <a:t> </a:t>
            </a:r>
            <a:r>
              <a:rPr lang="en-US" dirty="0" err="1"/>
              <a:t>và</a:t>
            </a:r>
            <a:r>
              <a:rPr lang="en-US" dirty="0"/>
              <a:t> </a:t>
            </a:r>
            <a:r>
              <a:rPr lang="en-US" dirty="0" err="1"/>
              <a:t>cơ</a:t>
            </a:r>
            <a:r>
              <a:rPr lang="en-US" dirty="0"/>
              <a:t> </a:t>
            </a:r>
            <a:r>
              <a:rPr lang="en-US" dirty="0" err="1"/>
              <a:t>sở</a:t>
            </a:r>
            <a:r>
              <a:rPr lang="en-US" dirty="0"/>
              <a:t> </a:t>
            </a:r>
            <a:r>
              <a:rPr lang="en-US" dirty="0" err="1"/>
              <a:t>lý</a:t>
            </a:r>
            <a:r>
              <a:rPr lang="en-US" dirty="0"/>
              <a:t> </a:t>
            </a:r>
            <a:r>
              <a:rPr lang="en-US" dirty="0" err="1"/>
              <a:t>thuyết</a:t>
            </a:r>
            <a:r>
              <a:rPr lang="en-US" dirty="0"/>
              <a:t> </a:t>
            </a:r>
          </a:p>
          <a:p>
            <a:r>
              <a:rPr lang="en-US" dirty="0" err="1"/>
              <a:t>Mật</a:t>
            </a:r>
            <a:r>
              <a:rPr lang="en-US" dirty="0"/>
              <a:t> </a:t>
            </a:r>
            <a:r>
              <a:rPr lang="en-US" dirty="0" err="1"/>
              <a:t>mã</a:t>
            </a:r>
            <a:r>
              <a:rPr lang="en-US" dirty="0"/>
              <a:t> </a:t>
            </a:r>
            <a:r>
              <a:rPr lang="en-US" dirty="0" err="1"/>
              <a:t>dòng</a:t>
            </a:r>
            <a:r>
              <a:rPr lang="en-US" dirty="0"/>
              <a:t> </a:t>
            </a:r>
          </a:p>
          <a:p>
            <a:r>
              <a:rPr lang="en-US" dirty="0" err="1"/>
              <a:t>Mật</a:t>
            </a:r>
            <a:r>
              <a:rPr lang="en-US" dirty="0"/>
              <a:t> </a:t>
            </a:r>
            <a:r>
              <a:rPr lang="en-US" dirty="0" err="1"/>
              <a:t>mã</a:t>
            </a:r>
            <a:r>
              <a:rPr lang="en-US" dirty="0"/>
              <a:t> </a:t>
            </a:r>
            <a:r>
              <a:rPr lang="en-US" dirty="0" err="1"/>
              <a:t>khối</a:t>
            </a:r>
            <a:r>
              <a:rPr lang="en-US" dirty="0"/>
              <a:t> </a:t>
            </a:r>
          </a:p>
          <a:p>
            <a:r>
              <a:rPr lang="en-US" dirty="0" err="1"/>
              <a:t>Hàm</a:t>
            </a:r>
            <a:r>
              <a:rPr lang="en-US" dirty="0"/>
              <a:t> </a:t>
            </a:r>
            <a:r>
              <a:rPr lang="en-US" dirty="0" err="1"/>
              <a:t>băm</a:t>
            </a:r>
            <a:r>
              <a:rPr lang="en-US" dirty="0"/>
              <a:t> </a:t>
            </a:r>
          </a:p>
          <a:p>
            <a:r>
              <a:rPr lang="en-US" dirty="0" err="1"/>
              <a:t>Chữ</a:t>
            </a:r>
            <a:r>
              <a:rPr lang="en-US" dirty="0"/>
              <a:t> </a:t>
            </a:r>
            <a:r>
              <a:rPr lang="en-US" dirty="0" err="1"/>
              <a:t>ký</a:t>
            </a:r>
            <a:r>
              <a:rPr lang="en-US" dirty="0"/>
              <a:t> </a:t>
            </a:r>
            <a:r>
              <a:rPr lang="en-US" dirty="0" err="1"/>
              <a:t>số</a:t>
            </a:r>
            <a:r>
              <a:rPr lang="en-US" dirty="0"/>
              <a:t> </a:t>
            </a:r>
          </a:p>
          <a:p>
            <a:r>
              <a:rPr lang="en-US" dirty="0" err="1"/>
              <a:t>Mã</a:t>
            </a:r>
            <a:r>
              <a:rPr lang="en-US" dirty="0"/>
              <a:t> </a:t>
            </a:r>
            <a:r>
              <a:rPr lang="en-US" dirty="0" err="1"/>
              <a:t>khoá</a:t>
            </a:r>
            <a:r>
              <a:rPr lang="en-US" dirty="0"/>
              <a:t> </a:t>
            </a:r>
            <a:r>
              <a:rPr lang="en-US" dirty="0" err="1"/>
              <a:t>bất</a:t>
            </a:r>
            <a:r>
              <a:rPr lang="en-US" dirty="0"/>
              <a:t> </a:t>
            </a:r>
            <a:r>
              <a:rPr lang="en-US" dirty="0" err="1"/>
              <a:t>đối</a:t>
            </a:r>
            <a:r>
              <a:rPr lang="en-US" dirty="0"/>
              <a:t> </a:t>
            </a:r>
            <a:r>
              <a:rPr lang="en-US" dirty="0" err="1"/>
              <a:t>xứng</a:t>
            </a:r>
            <a:r>
              <a:rPr lang="en-US" dirty="0"/>
              <a:t> </a:t>
            </a:r>
          </a:p>
          <a:p>
            <a:endParaRPr lang="en-US" dirty="0"/>
          </a:p>
        </p:txBody>
      </p:sp>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ECD52C-630E-D591-72C8-2A00465F48FC}"/>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6" name="Title 5">
            <a:extLst>
              <a:ext uri="{FF2B5EF4-FFF2-40B4-BE49-F238E27FC236}">
                <a16:creationId xmlns:a16="http://schemas.microsoft.com/office/drawing/2014/main" id="{C9463638-5DC4-7139-1BA9-C409F3E47138}"/>
              </a:ext>
            </a:extLst>
          </p:cNvPr>
          <p:cNvSpPr>
            <a:spLocks noGrp="1"/>
          </p:cNvSpPr>
          <p:nvPr>
            <p:ph type="title"/>
          </p:nvPr>
        </p:nvSpPr>
        <p:spPr/>
        <p:txBody>
          <a:bodyPr/>
          <a:lstStyle/>
          <a:p>
            <a:r>
              <a:rPr lang="en-US"/>
              <a:t>Lịch sử </a:t>
            </a:r>
            <a:endParaRPr lang="en-US" dirty="0"/>
          </a:p>
        </p:txBody>
      </p:sp>
      <p:sp>
        <p:nvSpPr>
          <p:cNvPr id="8" name="Content Placeholder 2">
            <a:extLst>
              <a:ext uri="{FF2B5EF4-FFF2-40B4-BE49-F238E27FC236}">
                <a16:creationId xmlns:a16="http://schemas.microsoft.com/office/drawing/2014/main" id="{DC6D441D-E94E-E269-23AE-6918B1E4A1E7}"/>
              </a:ext>
            </a:extLst>
          </p:cNvPr>
          <p:cNvSpPr txBox="1">
            <a:spLocks/>
          </p:cNvSpPr>
          <p:nvPr/>
        </p:nvSpPr>
        <p:spPr>
          <a:xfrm>
            <a:off x="457200" y="1504950"/>
            <a:ext cx="8229600" cy="29372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David Kahn,   “The code breakers”   </a:t>
            </a:r>
            <a:r>
              <a:rPr lang="en-US" sz="2400"/>
              <a:t>(1996)</a:t>
            </a:r>
            <a:endParaRPr lang="en-US" sz="2400" dirty="0"/>
          </a:p>
        </p:txBody>
      </p:sp>
      <p:pic>
        <p:nvPicPr>
          <p:cNvPr id="9" name="Picture 8">
            <a:extLst>
              <a:ext uri="{FF2B5EF4-FFF2-40B4-BE49-F238E27FC236}">
                <a16:creationId xmlns:a16="http://schemas.microsoft.com/office/drawing/2014/main" id="{E4AE7DE9-F000-E05D-786E-4161C9E02C6C}"/>
              </a:ext>
            </a:extLst>
          </p:cNvPr>
          <p:cNvPicPr>
            <a:picLocks noChangeAspect="1"/>
          </p:cNvPicPr>
          <p:nvPr/>
        </p:nvPicPr>
        <p:blipFill>
          <a:blip r:embed="rId2"/>
          <a:stretch>
            <a:fillRect/>
          </a:stretch>
        </p:blipFill>
        <p:spPr>
          <a:xfrm>
            <a:off x="3581400" y="2495550"/>
            <a:ext cx="1694923" cy="2444750"/>
          </a:xfrm>
          <a:prstGeom prst="rect">
            <a:avLst/>
          </a:prstGeom>
        </p:spPr>
      </p:pic>
    </p:spTree>
    <p:extLst>
      <p:ext uri="{BB962C8B-B14F-4D97-AF65-F5344CB8AC3E}">
        <p14:creationId xmlns:p14="http://schemas.microsoft.com/office/powerpoint/2010/main" val="2544108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E5B73B-6A62-4508-53EC-CF0E338CC741}"/>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ECB3CD88-554E-4B4E-4366-AE849066FE60}"/>
              </a:ext>
            </a:extLst>
          </p:cNvPr>
          <p:cNvSpPr>
            <a:spLocks noGrp="1"/>
          </p:cNvSpPr>
          <p:nvPr>
            <p:ph type="title"/>
          </p:nvPr>
        </p:nvSpPr>
        <p:spPr/>
        <p:txBody>
          <a:bodyPr/>
          <a:lstStyle/>
          <a:p>
            <a:r>
              <a:rPr lang="en-US" dirty="0"/>
              <a:t>M</a:t>
            </a:r>
            <a:r>
              <a:rPr lang="en-VN" dirty="0"/>
              <a:t>ật mã nguyên thuỷ </a:t>
            </a:r>
            <a:endParaRPr dirty="0"/>
          </a:p>
        </p:txBody>
      </p:sp>
      <p:sp>
        <p:nvSpPr>
          <p:cNvPr id="4" name="Content Placeholder 3">
            <a:extLst>
              <a:ext uri="{FF2B5EF4-FFF2-40B4-BE49-F238E27FC236}">
                <a16:creationId xmlns:a16="http://schemas.microsoft.com/office/drawing/2014/main" id="{BF1F9710-7DA7-3BE3-D550-A25F2B3DF85A}"/>
              </a:ext>
            </a:extLst>
          </p:cNvPr>
          <p:cNvSpPr>
            <a:spLocks noGrp="1"/>
          </p:cNvSpPr>
          <p:nvPr>
            <p:ph sz="quarter" idx="13"/>
          </p:nvPr>
        </p:nvSpPr>
        <p:spPr>
          <a:xfrm>
            <a:off x="235077" y="841247"/>
            <a:ext cx="8674100" cy="5579431"/>
          </a:xfrm>
        </p:spPr>
        <p:txBody>
          <a:bodyPr/>
          <a:lstStyle/>
          <a:p>
            <a:r>
              <a:rPr lang="en-US" dirty="0">
                <a:solidFill>
                  <a:srgbClr val="0033CC"/>
                </a:solidFill>
              </a:rPr>
              <a:t>Substitution Ciphers : </a:t>
            </a:r>
            <a:r>
              <a:rPr lang="vi-VN" dirty="0"/>
              <a:t>Một mật mã thay thế thay thế một ký hiệu bằng một ký hiệu khác. Mật mã thay thế có thể được phân loại là mật mã đơn </a:t>
            </a:r>
            <a:r>
              <a:rPr lang="en-US" dirty="0" err="1"/>
              <a:t>ký</a:t>
            </a:r>
            <a:r>
              <a:rPr lang="en-US" dirty="0"/>
              <a:t> </a:t>
            </a:r>
            <a:r>
              <a:rPr lang="en-US" dirty="0" err="1"/>
              <a:t>tự</a:t>
            </a:r>
            <a:r>
              <a:rPr lang="vi-VN" dirty="0"/>
              <a:t> hoặc mật mã đa </a:t>
            </a:r>
            <a:r>
              <a:rPr lang="en-US" dirty="0" err="1"/>
              <a:t>ký</a:t>
            </a:r>
            <a:r>
              <a:rPr lang="en-US" dirty="0"/>
              <a:t> </a:t>
            </a:r>
            <a:r>
              <a:rPr lang="en-US" dirty="0" err="1"/>
              <a:t>tự</a:t>
            </a:r>
            <a:r>
              <a:rPr lang="vi-VN" dirty="0"/>
              <a:t>.</a:t>
            </a:r>
            <a:endParaRPr lang="en-US" dirty="0">
              <a:solidFill>
                <a:srgbClr val="0033CC"/>
              </a:solidFill>
            </a:endParaRPr>
          </a:p>
          <a:p>
            <a:r>
              <a:rPr lang="en-US" altLang="en-US" sz="2800" i="0" baseline="0" dirty="0">
                <a:solidFill>
                  <a:srgbClr val="0033CC"/>
                </a:solidFill>
              </a:rPr>
              <a:t>Monoalphabetic Ciphers: </a:t>
            </a:r>
            <a:r>
              <a:rPr lang="en-US" altLang="en-US" sz="2800" dirty="0"/>
              <a:t>Trong </a:t>
            </a:r>
            <a:r>
              <a:rPr lang="en-US" altLang="en-US" sz="2800" dirty="0" err="1"/>
              <a:t>phép</a:t>
            </a:r>
            <a:r>
              <a:rPr lang="en-US" altLang="en-US" sz="2800" dirty="0"/>
              <a:t> </a:t>
            </a:r>
            <a:r>
              <a:rPr lang="en-US" altLang="en-US" sz="2800" dirty="0" err="1"/>
              <a:t>thay</a:t>
            </a:r>
            <a:r>
              <a:rPr lang="en-US" altLang="en-US" sz="2800" dirty="0"/>
              <a:t> </a:t>
            </a:r>
            <a:r>
              <a:rPr lang="en-US" altLang="en-US" sz="2800" dirty="0" err="1"/>
              <a:t>thế</a:t>
            </a:r>
            <a:r>
              <a:rPr lang="en-US" altLang="en-US" sz="2800" dirty="0"/>
              <a:t> </a:t>
            </a:r>
            <a:r>
              <a:rPr lang="en-US" altLang="en-US" sz="2800" dirty="0" err="1"/>
              <a:t>đơn</a:t>
            </a:r>
            <a:r>
              <a:rPr lang="en-US" altLang="en-US" sz="2800" dirty="0"/>
              <a:t> </a:t>
            </a:r>
            <a:r>
              <a:rPr lang="en-US" altLang="en-US" sz="2800" dirty="0" err="1"/>
              <a:t>ký</a:t>
            </a:r>
            <a:r>
              <a:rPr lang="en-US" altLang="en-US" sz="2800" dirty="0"/>
              <a:t> </a:t>
            </a:r>
            <a:r>
              <a:rPr lang="en-US" altLang="en-US" sz="2800" dirty="0" err="1"/>
              <a:t>tự</a:t>
            </a:r>
            <a:r>
              <a:rPr lang="en-US" altLang="en-US" sz="2800" dirty="0"/>
              <a:t>, </a:t>
            </a:r>
            <a:r>
              <a:rPr lang="en-US" altLang="en-US" sz="2800" dirty="0" err="1"/>
              <a:t>mối</a:t>
            </a:r>
            <a:r>
              <a:rPr lang="en-US" altLang="en-US" sz="2800" dirty="0"/>
              <a:t> </a:t>
            </a:r>
            <a:r>
              <a:rPr lang="en-US" altLang="en-US" sz="2800" dirty="0" err="1"/>
              <a:t>quan</a:t>
            </a:r>
            <a:r>
              <a:rPr lang="en-US" altLang="en-US" sz="2800" dirty="0"/>
              <a:t> </a:t>
            </a:r>
            <a:r>
              <a:rPr lang="en-US" altLang="en-US" sz="2800" dirty="0" err="1"/>
              <a:t>hệ</a:t>
            </a:r>
            <a:r>
              <a:rPr lang="en-US" altLang="en-US" sz="2800" dirty="0"/>
              <a:t> </a:t>
            </a:r>
            <a:r>
              <a:rPr lang="en-US" altLang="en-US" sz="2800" dirty="0" err="1"/>
              <a:t>giữa</a:t>
            </a:r>
            <a:r>
              <a:rPr lang="en-US" altLang="en-US" sz="2800" dirty="0"/>
              <a:t> </a:t>
            </a:r>
            <a:r>
              <a:rPr lang="en-US" altLang="en-US" sz="2800" dirty="0" err="1"/>
              <a:t>một</a:t>
            </a:r>
            <a:r>
              <a:rPr lang="en-US" altLang="en-US" sz="2800" dirty="0"/>
              <a:t> </a:t>
            </a:r>
            <a:r>
              <a:rPr lang="en-US" altLang="en-US" sz="2800" dirty="0" err="1"/>
              <a:t>ký</a:t>
            </a:r>
            <a:r>
              <a:rPr lang="en-US" altLang="en-US" sz="2800" dirty="0"/>
              <a:t> </a:t>
            </a:r>
            <a:r>
              <a:rPr lang="en-US" altLang="en-US" sz="2800" dirty="0" err="1"/>
              <a:t>hiệu</a:t>
            </a:r>
            <a:r>
              <a:rPr lang="en-US" altLang="en-US" sz="2800" dirty="0"/>
              <a:t> </a:t>
            </a:r>
            <a:r>
              <a:rPr lang="en-US" altLang="en-US" sz="2800" dirty="0" err="1"/>
              <a:t>trong</a:t>
            </a:r>
            <a:r>
              <a:rPr lang="en-US" altLang="en-US" sz="2800" dirty="0"/>
              <a:t> </a:t>
            </a:r>
            <a:r>
              <a:rPr lang="en-US" altLang="en-US" sz="2800" dirty="0" err="1"/>
              <a:t>bản</a:t>
            </a:r>
            <a:r>
              <a:rPr lang="en-US" altLang="en-US" sz="2800" dirty="0"/>
              <a:t> </a:t>
            </a:r>
            <a:r>
              <a:rPr lang="en-US" altLang="en-US" sz="2800" dirty="0" err="1"/>
              <a:t>rõ</a:t>
            </a:r>
            <a:r>
              <a:rPr lang="en-US" altLang="en-US" sz="2800" dirty="0"/>
              <a:t> </a:t>
            </a:r>
            <a:r>
              <a:rPr lang="en-US" altLang="en-US" sz="2800" dirty="0" err="1"/>
              <a:t>với</a:t>
            </a:r>
            <a:r>
              <a:rPr lang="en-US" altLang="en-US" sz="2800" dirty="0"/>
              <a:t> </a:t>
            </a:r>
            <a:r>
              <a:rPr lang="en-US" altLang="en-US" sz="2800" dirty="0" err="1"/>
              <a:t>một</a:t>
            </a:r>
            <a:r>
              <a:rPr lang="en-US" altLang="en-US" sz="2800" dirty="0"/>
              <a:t> </a:t>
            </a:r>
            <a:r>
              <a:rPr lang="en-US" altLang="en-US" sz="2800" dirty="0" err="1"/>
              <a:t>ký</a:t>
            </a:r>
            <a:r>
              <a:rPr lang="en-US" altLang="en-US" sz="2800" dirty="0"/>
              <a:t> </a:t>
            </a:r>
            <a:r>
              <a:rPr lang="en-US" altLang="en-US" sz="2800" dirty="0" err="1"/>
              <a:t>hiệu</a:t>
            </a:r>
            <a:r>
              <a:rPr lang="en-US" altLang="en-US" sz="2800" dirty="0"/>
              <a:t> </a:t>
            </a:r>
            <a:r>
              <a:rPr lang="en-US" altLang="en-US" sz="2800" dirty="0" err="1"/>
              <a:t>trong</a:t>
            </a:r>
            <a:r>
              <a:rPr lang="en-US" altLang="en-US" sz="2800" dirty="0"/>
              <a:t> </a:t>
            </a:r>
            <a:r>
              <a:rPr lang="en-US" altLang="en-US" sz="2800" dirty="0" err="1"/>
              <a:t>bản</a:t>
            </a:r>
            <a:r>
              <a:rPr lang="en-US" altLang="en-US" sz="2800" dirty="0"/>
              <a:t> </a:t>
            </a:r>
            <a:r>
              <a:rPr lang="en-US" altLang="en-US" sz="2800" dirty="0" err="1"/>
              <a:t>mã</a:t>
            </a:r>
            <a:r>
              <a:rPr lang="en-US" altLang="en-US" sz="2800" dirty="0"/>
              <a:t> </a:t>
            </a:r>
            <a:r>
              <a:rPr lang="en-US" altLang="en-US" sz="2800" dirty="0" err="1"/>
              <a:t>luôn</a:t>
            </a:r>
            <a:r>
              <a:rPr lang="en-US" altLang="en-US" sz="2800" dirty="0"/>
              <a:t> </a:t>
            </a:r>
            <a:r>
              <a:rPr lang="en-US" altLang="en-US" sz="2800" dirty="0" err="1"/>
              <a:t>là</a:t>
            </a:r>
            <a:r>
              <a:rPr lang="en-US" altLang="en-US" sz="2800" dirty="0"/>
              <a:t> </a:t>
            </a:r>
            <a:r>
              <a:rPr lang="en-US" altLang="en-US" sz="2800" dirty="0" err="1"/>
              <a:t>một-một</a:t>
            </a:r>
            <a:r>
              <a:rPr lang="en-US" altLang="en-US" sz="2800" dirty="0"/>
              <a:t>.</a:t>
            </a:r>
            <a:endParaRPr lang="fr-FR" altLang="en-US" dirty="0">
              <a:solidFill>
                <a:srgbClr val="0033CC"/>
              </a:solidFill>
            </a:endParaRPr>
          </a:p>
          <a:p>
            <a:r>
              <a:rPr lang="fr-FR" altLang="en-US" dirty="0" err="1">
                <a:solidFill>
                  <a:srgbClr val="0033CC"/>
                </a:solidFill>
              </a:rPr>
              <a:t>Polyalphabetic</a:t>
            </a:r>
            <a:r>
              <a:rPr lang="fr-FR" altLang="en-US" sz="2800" i="0" baseline="0" dirty="0">
                <a:solidFill>
                  <a:srgbClr val="0033CC"/>
                </a:solidFill>
              </a:rPr>
              <a:t> </a:t>
            </a:r>
            <a:r>
              <a:rPr lang="fr-FR" altLang="en-US" sz="2800" i="0" baseline="0" dirty="0" err="1">
                <a:solidFill>
                  <a:srgbClr val="0033CC"/>
                </a:solidFill>
              </a:rPr>
              <a:t>Ciphers</a:t>
            </a:r>
            <a:r>
              <a:rPr lang="fr-FR" altLang="en-US" sz="2800" i="0" baseline="0" dirty="0">
                <a:solidFill>
                  <a:srgbClr val="0033CC"/>
                </a:solidFill>
              </a:rPr>
              <a:t>: </a:t>
            </a:r>
            <a:r>
              <a:rPr lang="en-US" altLang="en-US" b="0" i="0" baseline="0" dirty="0" err="1"/>
              <a:t>Trong</a:t>
            </a:r>
            <a:r>
              <a:rPr lang="en-US" altLang="en-US" b="0" i="0" baseline="0" dirty="0"/>
              <a:t> </a:t>
            </a:r>
            <a:r>
              <a:rPr lang="en-US" altLang="en-US" b="0" i="0" baseline="0" dirty="0" err="1"/>
              <a:t>thay</a:t>
            </a:r>
            <a:r>
              <a:rPr lang="en-US" altLang="en-US" b="0" i="0" baseline="0" dirty="0"/>
              <a:t> </a:t>
            </a:r>
            <a:r>
              <a:rPr lang="en-US" altLang="en-US" b="0" i="0" baseline="0" dirty="0" err="1"/>
              <a:t>thế</a:t>
            </a:r>
            <a:r>
              <a:rPr lang="en-US" altLang="en-US" b="0" i="0" baseline="0" dirty="0"/>
              <a:t> </a:t>
            </a:r>
            <a:r>
              <a:rPr lang="en-US" altLang="en-US" b="0" i="0" baseline="0" dirty="0" err="1"/>
              <a:t>đa</a:t>
            </a:r>
            <a:r>
              <a:rPr lang="en-US" altLang="en-US" b="0" i="0" baseline="0" dirty="0"/>
              <a:t> </a:t>
            </a:r>
            <a:r>
              <a:rPr lang="en-US" altLang="en-US" b="0" i="0" baseline="0" dirty="0" err="1"/>
              <a:t>chữ</a:t>
            </a:r>
            <a:r>
              <a:rPr lang="en-US" altLang="en-US" b="0" i="0" baseline="0" dirty="0"/>
              <a:t> </a:t>
            </a:r>
            <a:r>
              <a:rPr lang="en-US" altLang="en-US" b="0" i="0" baseline="0" dirty="0" err="1"/>
              <a:t>cái</a:t>
            </a:r>
            <a:r>
              <a:rPr lang="en-US" altLang="en-US" b="0" i="0" baseline="0" dirty="0"/>
              <a:t>, </a:t>
            </a:r>
            <a:r>
              <a:rPr lang="en-US" altLang="en-US" b="0" i="0" baseline="0" dirty="0" err="1"/>
              <a:t>mỗi</a:t>
            </a:r>
            <a:r>
              <a:rPr lang="en-US" altLang="en-US" b="0" i="0" baseline="0" dirty="0"/>
              <a:t> </a:t>
            </a:r>
            <a:r>
              <a:rPr lang="en-US" altLang="en-US" b="0" i="0" baseline="0" dirty="0" err="1"/>
              <a:t>lần</a:t>
            </a:r>
            <a:r>
              <a:rPr lang="en-US" altLang="en-US" b="0" i="0" baseline="0" dirty="0"/>
              <a:t> </a:t>
            </a:r>
            <a:r>
              <a:rPr lang="en-US" altLang="en-US" b="0" i="0" baseline="0" dirty="0" err="1"/>
              <a:t>xuất</a:t>
            </a:r>
            <a:r>
              <a:rPr lang="en-US" altLang="en-US" b="0" i="0" baseline="0" dirty="0"/>
              <a:t> </a:t>
            </a:r>
            <a:r>
              <a:rPr lang="en-US" altLang="en-US" b="0" i="0" baseline="0" dirty="0" err="1"/>
              <a:t>hiện</a:t>
            </a:r>
            <a:r>
              <a:rPr lang="en-US" altLang="en-US" b="0" i="0" baseline="0" dirty="0"/>
              <a:t> </a:t>
            </a:r>
            <a:r>
              <a:rPr lang="en-US" altLang="en-US" b="0" i="0" baseline="0" dirty="0" err="1"/>
              <a:t>của</a:t>
            </a:r>
            <a:r>
              <a:rPr lang="en-US" altLang="en-US" b="0" i="0" baseline="0" dirty="0"/>
              <a:t> </a:t>
            </a:r>
            <a:r>
              <a:rPr lang="en-US" altLang="en-US" b="0" i="0" baseline="0" dirty="0" err="1"/>
              <a:t>một</a:t>
            </a:r>
            <a:r>
              <a:rPr lang="en-US" altLang="en-US" b="0" i="0" baseline="0" dirty="0"/>
              <a:t> </a:t>
            </a:r>
            <a:r>
              <a:rPr lang="en-US" altLang="en-US" b="0" i="0" baseline="0" dirty="0" err="1"/>
              <a:t>ký</a:t>
            </a:r>
            <a:r>
              <a:rPr lang="en-US" altLang="en-US" b="0" i="0" baseline="0" dirty="0"/>
              <a:t> </a:t>
            </a:r>
            <a:r>
              <a:rPr lang="en-US" altLang="en-US" b="0" i="0" baseline="0" dirty="0" err="1"/>
              <a:t>tự</a:t>
            </a:r>
            <a:r>
              <a:rPr lang="en-US" altLang="en-US" b="0" i="0" baseline="0" dirty="0"/>
              <a:t> </a:t>
            </a:r>
            <a:r>
              <a:rPr lang="en-US" altLang="en-US" b="0" i="0" baseline="0" dirty="0" err="1"/>
              <a:t>có</a:t>
            </a:r>
            <a:r>
              <a:rPr lang="en-US" altLang="en-US" b="0" i="0" baseline="0" dirty="0"/>
              <a:t> </a:t>
            </a:r>
            <a:r>
              <a:rPr lang="en-US" altLang="en-US" b="0" i="0" baseline="0" dirty="0" err="1"/>
              <a:t>thể</a:t>
            </a:r>
            <a:r>
              <a:rPr lang="en-US" altLang="en-US" b="0" i="0" baseline="0" dirty="0"/>
              <a:t> </a:t>
            </a:r>
            <a:r>
              <a:rPr lang="en-US" altLang="en-US" b="0" i="0" baseline="0" dirty="0" err="1"/>
              <a:t>có</a:t>
            </a:r>
            <a:r>
              <a:rPr lang="en-US" altLang="en-US" b="0" i="0" baseline="0" dirty="0"/>
              <a:t> </a:t>
            </a:r>
            <a:r>
              <a:rPr lang="en-US" altLang="en-US" b="0" i="0" baseline="0" dirty="0" err="1"/>
              <a:t>một</a:t>
            </a:r>
            <a:r>
              <a:rPr lang="en-US" altLang="en-US" b="0" i="0" baseline="0" dirty="0"/>
              <a:t> </a:t>
            </a:r>
            <a:r>
              <a:rPr lang="en-US" altLang="en-US" b="0" i="0" baseline="0" dirty="0" err="1"/>
              <a:t>thay</a:t>
            </a:r>
            <a:r>
              <a:rPr lang="en-US" altLang="en-US" b="0" i="0" baseline="0" dirty="0"/>
              <a:t> </a:t>
            </a:r>
            <a:r>
              <a:rPr lang="en-US" altLang="en-US" b="0" i="0" baseline="0" dirty="0" err="1"/>
              <a:t>thế</a:t>
            </a:r>
            <a:r>
              <a:rPr lang="en-US" altLang="en-US" b="0" i="0" baseline="0" dirty="0"/>
              <a:t> </a:t>
            </a:r>
            <a:r>
              <a:rPr lang="en-US" altLang="en-US" b="0" i="0" baseline="0" dirty="0" err="1"/>
              <a:t>khác</a:t>
            </a:r>
            <a:r>
              <a:rPr lang="en-US" altLang="en-US" b="0" i="0" baseline="0" dirty="0"/>
              <a:t> </a:t>
            </a:r>
            <a:r>
              <a:rPr lang="en-US" altLang="en-US" b="0" i="0" baseline="0" dirty="0" err="1"/>
              <a:t>nhau</a:t>
            </a:r>
            <a:r>
              <a:rPr lang="en-US" altLang="en-US" b="0" i="0" baseline="0" dirty="0"/>
              <a:t>. </a:t>
            </a:r>
            <a:r>
              <a:rPr lang="en-US" altLang="en-US" b="0" i="0" baseline="0" dirty="0" err="1"/>
              <a:t>Mối</a:t>
            </a:r>
            <a:r>
              <a:rPr lang="en-US" altLang="en-US" b="0" i="0" baseline="0" dirty="0"/>
              <a:t> </a:t>
            </a:r>
            <a:r>
              <a:rPr lang="en-US" altLang="en-US" b="0" i="0" baseline="0" dirty="0" err="1"/>
              <a:t>quan</a:t>
            </a:r>
            <a:r>
              <a:rPr lang="en-US" altLang="en-US" b="0" i="0" baseline="0" dirty="0"/>
              <a:t> </a:t>
            </a:r>
            <a:r>
              <a:rPr lang="en-US" altLang="en-US" b="0" i="0" baseline="0" dirty="0" err="1"/>
              <a:t>hệ</a:t>
            </a:r>
            <a:r>
              <a:rPr lang="en-US" altLang="en-US" b="0" i="0" baseline="0" dirty="0"/>
              <a:t> </a:t>
            </a:r>
            <a:r>
              <a:rPr lang="en-US" altLang="en-US" b="0" i="0" baseline="0" dirty="0" err="1"/>
              <a:t>giữa</a:t>
            </a:r>
            <a:r>
              <a:rPr lang="en-US" altLang="en-US" b="0" i="0" baseline="0" dirty="0"/>
              <a:t> </a:t>
            </a:r>
            <a:r>
              <a:rPr lang="en-US" altLang="en-US" b="0" i="0" baseline="0" dirty="0" err="1"/>
              <a:t>một</a:t>
            </a:r>
            <a:r>
              <a:rPr lang="en-US" altLang="en-US" b="0" i="0" baseline="0" dirty="0"/>
              <a:t> </a:t>
            </a:r>
            <a:r>
              <a:rPr lang="en-US" altLang="en-US" b="0" i="0" baseline="0" dirty="0" err="1"/>
              <a:t>ký</a:t>
            </a:r>
            <a:r>
              <a:rPr lang="en-US" altLang="en-US" b="0" i="0" baseline="0" dirty="0"/>
              <a:t> </a:t>
            </a:r>
            <a:r>
              <a:rPr lang="en-US" altLang="en-US" b="0" i="0" baseline="0" dirty="0" err="1"/>
              <a:t>tự</a:t>
            </a:r>
            <a:r>
              <a:rPr lang="en-US" altLang="en-US" b="0" i="0" baseline="0" dirty="0"/>
              <a:t> </a:t>
            </a:r>
            <a:r>
              <a:rPr lang="en-US" altLang="en-US" b="0" i="0" baseline="0" dirty="0" err="1"/>
              <a:t>trong</a:t>
            </a:r>
            <a:r>
              <a:rPr lang="en-US" altLang="en-US" b="0" i="0" baseline="0" dirty="0"/>
              <a:t> </a:t>
            </a:r>
            <a:r>
              <a:rPr lang="en-US" altLang="en-US" b="0" i="0" baseline="0" dirty="0" err="1"/>
              <a:t>bản</a:t>
            </a:r>
            <a:r>
              <a:rPr lang="en-US" altLang="en-US" b="0" i="0" baseline="0" dirty="0"/>
              <a:t> </a:t>
            </a:r>
            <a:r>
              <a:rPr lang="en-US" altLang="en-US" b="0" i="0" baseline="0" dirty="0" err="1"/>
              <a:t>rõ</a:t>
            </a:r>
            <a:r>
              <a:rPr lang="en-US" altLang="en-US" b="0" i="0" baseline="0" dirty="0"/>
              <a:t> </a:t>
            </a:r>
            <a:r>
              <a:rPr lang="en-US" altLang="en-US" b="0" i="0" baseline="0" dirty="0" err="1"/>
              <a:t>với</a:t>
            </a:r>
            <a:r>
              <a:rPr lang="en-US" altLang="en-US" b="0" i="0" baseline="0" dirty="0"/>
              <a:t> </a:t>
            </a:r>
            <a:r>
              <a:rPr lang="en-US" altLang="en-US" b="0" i="0" baseline="0" dirty="0" err="1"/>
              <a:t>một</a:t>
            </a:r>
            <a:r>
              <a:rPr lang="en-US" altLang="en-US" b="0" i="0" baseline="0" dirty="0"/>
              <a:t> </a:t>
            </a:r>
            <a:r>
              <a:rPr lang="en-US" altLang="en-US" b="0" i="0" baseline="0" dirty="0" err="1"/>
              <a:t>ký</a:t>
            </a:r>
            <a:r>
              <a:rPr lang="en-US" altLang="en-US" b="0" i="0" baseline="0" dirty="0"/>
              <a:t> </a:t>
            </a:r>
            <a:r>
              <a:rPr lang="en-US" altLang="en-US" b="0" i="0" baseline="0" dirty="0" err="1"/>
              <a:t>tự</a:t>
            </a:r>
            <a:r>
              <a:rPr lang="en-US" altLang="en-US" b="0" i="0" baseline="0" dirty="0"/>
              <a:t> </a:t>
            </a:r>
            <a:r>
              <a:rPr lang="en-US" altLang="en-US" b="0" i="0" baseline="0" dirty="0" err="1"/>
              <a:t>trong</a:t>
            </a:r>
            <a:r>
              <a:rPr lang="en-US" altLang="en-US" b="0" i="0" baseline="0" dirty="0"/>
              <a:t> </a:t>
            </a:r>
            <a:r>
              <a:rPr lang="en-US" altLang="en-US" b="0" i="0" baseline="0" dirty="0" err="1"/>
              <a:t>bản</a:t>
            </a:r>
            <a:r>
              <a:rPr lang="en-US" altLang="en-US" b="0" i="0" baseline="0" dirty="0"/>
              <a:t> </a:t>
            </a:r>
            <a:r>
              <a:rPr lang="en-US" altLang="en-US" b="0" i="0" baseline="0" dirty="0" err="1"/>
              <a:t>mã</a:t>
            </a:r>
            <a:r>
              <a:rPr lang="en-US" altLang="en-US" b="0" i="0" baseline="0" dirty="0"/>
              <a:t> </a:t>
            </a:r>
            <a:r>
              <a:rPr lang="en-US" altLang="en-US" b="0" i="0" baseline="0" dirty="0" err="1"/>
              <a:t>là</a:t>
            </a:r>
            <a:r>
              <a:rPr lang="en-US" altLang="en-US" b="0" i="0" baseline="0" dirty="0"/>
              <a:t> </a:t>
            </a:r>
            <a:r>
              <a:rPr lang="en-US" altLang="en-US" b="0" i="0" baseline="0" dirty="0" err="1"/>
              <a:t>một-nhiều</a:t>
            </a:r>
            <a:endParaRPr dirty="0"/>
          </a:p>
        </p:txBody>
      </p:sp>
    </p:spTree>
    <p:extLst>
      <p:ext uri="{BB962C8B-B14F-4D97-AF65-F5344CB8AC3E}">
        <p14:creationId xmlns:p14="http://schemas.microsoft.com/office/powerpoint/2010/main" val="2217768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B2E7B8-4D0E-B784-997F-A6288047D1B9}"/>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230346E7-629E-84DD-4022-919549C15F82}"/>
              </a:ext>
            </a:extLst>
          </p:cNvPr>
          <p:cNvSpPr>
            <a:spLocks noGrp="1"/>
          </p:cNvSpPr>
          <p:nvPr>
            <p:ph type="title"/>
          </p:nvPr>
        </p:nvSpPr>
        <p:spPr/>
        <p:txBody>
          <a:bodyPr/>
          <a:lstStyle/>
          <a:p>
            <a:r>
              <a:rPr lang="en-US" altLang="en-US" sz="2800" baseline="0" dirty="0"/>
              <a:t>Monoalphabetic Ciphers: </a:t>
            </a:r>
            <a:r>
              <a:rPr lang="en-US" altLang="en-US" sz="2800" baseline="0" dirty="0" err="1"/>
              <a:t>Mã</a:t>
            </a:r>
            <a:r>
              <a:rPr lang="en-US" altLang="en-US" sz="2800" baseline="0" dirty="0"/>
              <a:t> </a:t>
            </a:r>
            <a:r>
              <a:rPr lang="en-US" altLang="en-US" sz="2800" baseline="0" dirty="0" err="1"/>
              <a:t>đơn</a:t>
            </a:r>
            <a:r>
              <a:rPr lang="en-US" altLang="en-US" sz="2800" baseline="0" dirty="0"/>
              <a:t> </a:t>
            </a:r>
            <a:r>
              <a:rPr lang="en-US" altLang="en-US" sz="2800" baseline="0" dirty="0" err="1"/>
              <a:t>ký</a:t>
            </a:r>
            <a:r>
              <a:rPr lang="en-US" altLang="en-US" sz="2800" baseline="0" dirty="0"/>
              <a:t> </a:t>
            </a:r>
            <a:r>
              <a:rPr lang="en-US" altLang="en-US" sz="2800" baseline="0" dirty="0" err="1"/>
              <a:t>tự</a:t>
            </a:r>
            <a:endParaRPr dirty="0"/>
          </a:p>
        </p:txBody>
      </p:sp>
      <p:sp>
        <p:nvSpPr>
          <p:cNvPr id="4" name="Content Placeholder 3">
            <a:extLst>
              <a:ext uri="{FF2B5EF4-FFF2-40B4-BE49-F238E27FC236}">
                <a16:creationId xmlns:a16="http://schemas.microsoft.com/office/drawing/2014/main" id="{5D76E167-95F2-19DE-CF09-FD2A5517D963}"/>
              </a:ext>
            </a:extLst>
          </p:cNvPr>
          <p:cNvSpPr>
            <a:spLocks noGrp="1"/>
          </p:cNvSpPr>
          <p:nvPr>
            <p:ph sz="quarter" idx="13"/>
          </p:nvPr>
        </p:nvSpPr>
        <p:spPr>
          <a:xfrm>
            <a:off x="235077" y="841248"/>
            <a:ext cx="8674100" cy="2736840"/>
          </a:xfrm>
        </p:spPr>
        <p:txBody>
          <a:bodyPr/>
          <a:lstStyle/>
          <a:p>
            <a:r>
              <a:rPr lang="en-VN" dirty="0"/>
              <a:t>Mã cộng (Additive cipher): Dạng mã thay thế đơn giản nhất, còn được gọi là mã dịch (Shift cipher) hoặc với tên gọi là CAESAR CIPHER. Thuật ngữ tính cộng (Additive) tiết lộ phép toán được sử dụng </a:t>
            </a:r>
          </a:p>
          <a:p>
            <a:r>
              <a:rPr lang="en-US" dirty="0"/>
              <a:t>Caesar Cipher</a:t>
            </a:r>
          </a:p>
          <a:p>
            <a:endParaRPr lang="en-VN" dirty="0"/>
          </a:p>
          <a:p>
            <a:endParaRPr lang="en-VN" dirty="0"/>
          </a:p>
        </p:txBody>
      </p:sp>
      <p:pic>
        <p:nvPicPr>
          <p:cNvPr id="5" name="Picture 14">
            <a:extLst>
              <a:ext uri="{FF2B5EF4-FFF2-40B4-BE49-F238E27FC236}">
                <a16:creationId xmlns:a16="http://schemas.microsoft.com/office/drawing/2014/main" id="{9CDB5ADA-59F8-6119-4FEB-977C6C9E0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362" y="3259690"/>
            <a:ext cx="73866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5DDED29D-9563-41D7-4E29-B02395A1D1EF}"/>
              </a:ext>
            </a:extLst>
          </p:cNvPr>
          <p:cNvSpPr txBox="1"/>
          <p:nvPr/>
        </p:nvSpPr>
        <p:spPr>
          <a:xfrm>
            <a:off x="655983" y="4254280"/>
            <a:ext cx="5482530" cy="646331"/>
          </a:xfrm>
          <a:prstGeom prst="rect">
            <a:avLst/>
          </a:prstGeom>
          <a:noFill/>
        </p:spPr>
        <p:txBody>
          <a:bodyPr wrap="square">
            <a:spAutoFit/>
          </a:bodyPr>
          <a:lstStyle/>
          <a:p>
            <a:r>
              <a:rPr lang="en-US" sz="1800" dirty="0">
                <a:effectLst/>
                <a:latin typeface="Courier" pitchFamily="2" charset="0"/>
              </a:rPr>
              <a:t>plain:  </a:t>
            </a:r>
            <a:r>
              <a:rPr lang="en-US" sz="1800" dirty="0" err="1">
                <a:effectLst/>
                <a:latin typeface="Courier" pitchFamily="2" charset="0"/>
              </a:rPr>
              <a:t>abcdefghijklmnopqrstuvwxyz</a:t>
            </a:r>
            <a:r>
              <a:rPr lang="en-US" sz="1800" dirty="0">
                <a:effectLst/>
                <a:latin typeface="Courier" pitchFamily="2" charset="0"/>
              </a:rPr>
              <a:t> cipher: DEFGHIJKLMNOPQRSTUVWXYZABC </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C3DBF33-EB88-AD98-5E0B-8DC408B90D22}"/>
                  </a:ext>
                </a:extLst>
              </p:cNvPr>
              <p:cNvSpPr txBox="1"/>
              <p:nvPr/>
            </p:nvSpPr>
            <p:spPr>
              <a:xfrm>
                <a:off x="782362" y="5119786"/>
                <a:ext cx="4744278" cy="3693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𝐶</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𝐸</m:t>
                      </m:r>
                      <m:r>
                        <a:rPr lang="en-US" sz="1800" i="1" dirty="0" smtClean="0">
                          <a:effectLst/>
                          <a:latin typeface="Cambria Math" panose="02040503050406030204" pitchFamily="18" charset="0"/>
                        </a:rPr>
                        <m:t>(3,</m:t>
                      </m:r>
                      <m:r>
                        <a:rPr lang="en-US" sz="1800" i="1" dirty="0" smtClean="0">
                          <a:effectLst/>
                          <a:latin typeface="Cambria Math" panose="02040503050406030204" pitchFamily="18" charset="0"/>
                        </a:rPr>
                        <m:t>𝑝</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𝑝</m:t>
                      </m:r>
                      <m:r>
                        <a:rPr lang="en-US" sz="1800" i="1" dirty="0" smtClean="0">
                          <a:effectLst/>
                          <a:latin typeface="Cambria Math" panose="02040503050406030204" pitchFamily="18" charset="0"/>
                        </a:rPr>
                        <m:t> + 3)</m:t>
                      </m:r>
                      <m:r>
                        <a:rPr lang="en-US" sz="1800" i="1" dirty="0" smtClean="0">
                          <a:effectLst/>
                          <a:latin typeface="Cambria Math" panose="02040503050406030204" pitchFamily="18" charset="0"/>
                        </a:rPr>
                        <m:t>𝑚𝑜𝑑</m:t>
                      </m:r>
                      <m:r>
                        <a:rPr lang="en-US" sz="1800" i="1" dirty="0" smtClean="0">
                          <a:effectLst/>
                          <a:latin typeface="Cambria Math" panose="02040503050406030204" pitchFamily="18" charset="0"/>
                        </a:rPr>
                        <m:t>26</m:t>
                      </m:r>
                    </m:oMath>
                  </m:oMathPara>
                </a14:m>
                <a:br>
                  <a:rPr lang="en-US" sz="1800" dirty="0">
                    <a:effectLst/>
                    <a:latin typeface="TimesTen"/>
                  </a:rPr>
                </a:br>
                <a:endParaRPr lang="en-US" dirty="0"/>
              </a:p>
            </p:txBody>
          </p:sp>
        </mc:Choice>
        <mc:Fallback xmlns="">
          <p:sp>
            <p:nvSpPr>
              <p:cNvPr id="8" name="TextBox 7">
                <a:extLst>
                  <a:ext uri="{FF2B5EF4-FFF2-40B4-BE49-F238E27FC236}">
                    <a16:creationId xmlns:a16="http://schemas.microsoft.com/office/drawing/2014/main" id="{3C3DBF33-EB88-AD98-5E0B-8DC408B90D22}"/>
                  </a:ext>
                </a:extLst>
              </p:cNvPr>
              <p:cNvSpPr txBox="1">
                <a:spLocks noRot="1" noChangeAspect="1" noMove="1" noResize="1" noEditPoints="1" noAdjustHandles="1" noChangeArrowheads="1" noChangeShapeType="1" noTextEdit="1"/>
              </p:cNvSpPr>
              <p:nvPr/>
            </p:nvSpPr>
            <p:spPr>
              <a:xfrm>
                <a:off x="782362" y="5119786"/>
                <a:ext cx="4744278" cy="369397"/>
              </a:xfrm>
              <a:prstGeom prst="rect">
                <a:avLst/>
              </a:prstGeom>
              <a:blipFill>
                <a:blip r:embed="rId4"/>
                <a:stretch>
                  <a:fillRect b="-13333"/>
                </a:stretch>
              </a:blipFill>
            </p:spPr>
            <p:txBody>
              <a:bodyPr/>
              <a:lstStyle/>
              <a:p>
                <a:r>
                  <a:rP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AC21AEC-1F15-9921-507C-A81C302AE36B}"/>
                  </a:ext>
                </a:extLst>
              </p:cNvPr>
              <p:cNvSpPr txBox="1"/>
              <p:nvPr/>
            </p:nvSpPr>
            <p:spPr>
              <a:xfrm>
                <a:off x="868501" y="5647420"/>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𝐶</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𝐸</m:t>
                      </m:r>
                      <m:r>
                        <a:rPr lang="en-US" sz="1800" i="1" dirty="0" smtClean="0">
                          <a:effectLst/>
                          <a:latin typeface="Cambria Math" panose="02040503050406030204" pitchFamily="18" charset="0"/>
                        </a:rPr>
                        <m:t>(</m:t>
                      </m:r>
                      <m:r>
                        <a:rPr lang="en-US" sz="1800" i="1" dirty="0" err="1">
                          <a:effectLst/>
                          <a:latin typeface="Cambria Math" panose="02040503050406030204" pitchFamily="18" charset="0"/>
                        </a:rPr>
                        <m:t>𝑘</m:t>
                      </m:r>
                      <m:r>
                        <a:rPr lang="en-US" sz="1800" i="1" dirty="0" err="1">
                          <a:effectLst/>
                          <a:latin typeface="Cambria Math" panose="02040503050406030204" pitchFamily="18" charset="0"/>
                        </a:rPr>
                        <m:t>,</m:t>
                      </m:r>
                      <m:r>
                        <a:rPr lang="en-US" sz="1800" i="1" dirty="0" err="1">
                          <a:effectLst/>
                          <a:latin typeface="Cambria Math" panose="02040503050406030204" pitchFamily="18" charset="0"/>
                        </a:rPr>
                        <m:t>𝑝</m:t>
                      </m:r>
                      <m:r>
                        <a:rPr lang="en-US" sz="1800" i="1" dirty="0">
                          <a:effectLst/>
                          <a:latin typeface="Cambria Math" panose="02040503050406030204" pitchFamily="18" charset="0"/>
                        </a:rPr>
                        <m:t>) = (</m:t>
                      </m:r>
                      <m:r>
                        <a:rPr lang="en-US" sz="1800" i="1" dirty="0">
                          <a:effectLst/>
                          <a:latin typeface="Cambria Math" panose="02040503050406030204" pitchFamily="18" charset="0"/>
                        </a:rPr>
                        <m:t>𝑝</m:t>
                      </m:r>
                      <m:r>
                        <a:rPr lang="en-US" sz="1800" i="1" dirty="0">
                          <a:effectLst/>
                          <a:latin typeface="Cambria Math" panose="02040503050406030204" pitchFamily="18" charset="0"/>
                        </a:rPr>
                        <m:t> + </m:t>
                      </m:r>
                      <m:r>
                        <a:rPr lang="en-US" sz="1800" i="1" dirty="0">
                          <a:effectLst/>
                          <a:latin typeface="Cambria Math" panose="02040503050406030204" pitchFamily="18" charset="0"/>
                        </a:rPr>
                        <m:t>𝑘</m:t>
                      </m:r>
                      <m:r>
                        <a:rPr lang="en-US" sz="1800" i="1" dirty="0">
                          <a:effectLst/>
                          <a:latin typeface="Cambria Math" panose="02040503050406030204" pitchFamily="18" charset="0"/>
                        </a:rPr>
                        <m:t>)</m:t>
                      </m:r>
                      <m:r>
                        <a:rPr lang="en-US" sz="1800" i="1" dirty="0">
                          <a:effectLst/>
                          <a:latin typeface="Cambria Math" panose="02040503050406030204" pitchFamily="18" charset="0"/>
                        </a:rPr>
                        <m:t>𝑚𝑜𝑑</m:t>
                      </m:r>
                      <m:r>
                        <a:rPr lang="en-US" sz="1800" i="1" dirty="0">
                          <a:effectLst/>
                          <a:latin typeface="Cambria Math" panose="02040503050406030204" pitchFamily="18" charset="0"/>
                        </a:rPr>
                        <m:t>26 </m:t>
                      </m:r>
                    </m:oMath>
                  </m:oMathPara>
                </a14:m>
                <a:endParaRPr lang="en-US" dirty="0"/>
              </a:p>
            </p:txBody>
          </p:sp>
        </mc:Choice>
        <mc:Fallback xmlns="">
          <p:sp>
            <p:nvSpPr>
              <p:cNvPr id="10" name="TextBox 9">
                <a:extLst>
                  <a:ext uri="{FF2B5EF4-FFF2-40B4-BE49-F238E27FC236}">
                    <a16:creationId xmlns:a16="http://schemas.microsoft.com/office/drawing/2014/main" id="{1AC21AEC-1F15-9921-507C-A81C302AE36B}"/>
                  </a:ext>
                </a:extLst>
              </p:cNvPr>
              <p:cNvSpPr txBox="1">
                <a:spLocks noRot="1" noChangeAspect="1" noMove="1" noResize="1" noEditPoints="1" noAdjustHandles="1" noChangeArrowheads="1" noChangeShapeType="1" noTextEdit="1"/>
              </p:cNvSpPr>
              <p:nvPr/>
            </p:nvSpPr>
            <p:spPr>
              <a:xfrm>
                <a:off x="868501" y="5647420"/>
                <a:ext cx="4572000" cy="369332"/>
              </a:xfrm>
              <a:prstGeom prst="rect">
                <a:avLst/>
              </a:prstGeom>
              <a:blipFill>
                <a:blip r:embed="rId5"/>
                <a:stretch>
                  <a:fillRect b="-16667"/>
                </a:stretch>
              </a:blipFill>
            </p:spPr>
            <p:txBody>
              <a:bodyPr/>
              <a:lstStyle/>
              <a:p>
                <a:r>
                  <a:rP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B11C90B-09EC-9BC0-D9F6-23ECD7C9BC76}"/>
                  </a:ext>
                </a:extLst>
              </p:cNvPr>
              <p:cNvSpPr txBox="1"/>
              <p:nvPr/>
            </p:nvSpPr>
            <p:spPr>
              <a:xfrm>
                <a:off x="5440501" y="5119851"/>
                <a:ext cx="34842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𝑝</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𝐷</m:t>
                      </m:r>
                      <m:r>
                        <a:rPr lang="en-US" sz="1800" i="1" dirty="0" smtClean="0">
                          <a:effectLst/>
                          <a:latin typeface="Cambria Math" panose="02040503050406030204" pitchFamily="18" charset="0"/>
                        </a:rPr>
                        <m:t>(</m:t>
                      </m:r>
                      <m:r>
                        <a:rPr lang="en-US" sz="1800" i="1" dirty="0" err="1">
                          <a:effectLst/>
                          <a:latin typeface="Cambria Math" panose="02040503050406030204" pitchFamily="18" charset="0"/>
                        </a:rPr>
                        <m:t>𝑘</m:t>
                      </m:r>
                      <m:r>
                        <a:rPr lang="en-US" sz="1800" i="1" dirty="0" err="1">
                          <a:effectLst/>
                          <a:latin typeface="Cambria Math" panose="02040503050406030204" pitchFamily="18" charset="0"/>
                        </a:rPr>
                        <m:t>,</m:t>
                      </m:r>
                      <m:r>
                        <a:rPr lang="en-US" sz="1800" i="1" dirty="0" err="1">
                          <a:effectLst/>
                          <a:latin typeface="Cambria Math" panose="02040503050406030204" pitchFamily="18" charset="0"/>
                        </a:rPr>
                        <m:t>𝐶</m:t>
                      </m:r>
                      <m:r>
                        <a:rPr lang="en-US" sz="1800" i="1" dirty="0">
                          <a:effectLst/>
                          <a:latin typeface="Cambria Math" panose="02040503050406030204" pitchFamily="18" charset="0"/>
                        </a:rPr>
                        <m:t>) = (</m:t>
                      </m:r>
                      <m:r>
                        <a:rPr lang="en-US" sz="1800" i="1" dirty="0">
                          <a:effectLst/>
                          <a:latin typeface="Cambria Math" panose="02040503050406030204" pitchFamily="18" charset="0"/>
                        </a:rPr>
                        <m:t>𝐶</m:t>
                      </m:r>
                      <m:r>
                        <a:rPr lang="en-US" sz="1800" i="1" dirty="0">
                          <a:effectLst/>
                          <a:latin typeface="Cambria Math" panose="02040503050406030204" pitchFamily="18" charset="0"/>
                        </a:rPr>
                        <m:t> − </m:t>
                      </m:r>
                      <m:r>
                        <a:rPr lang="en-US" sz="1800" i="1" dirty="0">
                          <a:effectLst/>
                          <a:latin typeface="Cambria Math" panose="02040503050406030204" pitchFamily="18" charset="0"/>
                        </a:rPr>
                        <m:t>𝑘</m:t>
                      </m:r>
                      <m:r>
                        <a:rPr lang="en-US" sz="1800" i="1" dirty="0">
                          <a:effectLst/>
                          <a:latin typeface="Cambria Math" panose="02040503050406030204" pitchFamily="18" charset="0"/>
                        </a:rPr>
                        <m:t>)</m:t>
                      </m:r>
                      <m:r>
                        <a:rPr lang="en-US" sz="1800" i="1" dirty="0">
                          <a:effectLst/>
                          <a:latin typeface="Cambria Math" panose="02040503050406030204" pitchFamily="18" charset="0"/>
                        </a:rPr>
                        <m:t>𝑚𝑜𝑑</m:t>
                      </m:r>
                      <m:r>
                        <a:rPr lang="en-US" sz="1800" i="1" dirty="0">
                          <a:effectLst/>
                          <a:latin typeface="Cambria Math" panose="02040503050406030204" pitchFamily="18" charset="0"/>
                        </a:rPr>
                        <m:t>26 </m:t>
                      </m:r>
                    </m:oMath>
                  </m:oMathPara>
                </a14:m>
                <a:endParaRPr lang="en-US" dirty="0"/>
              </a:p>
            </p:txBody>
          </p:sp>
        </mc:Choice>
        <mc:Fallback xmlns="">
          <p:sp>
            <p:nvSpPr>
              <p:cNvPr id="12" name="TextBox 11">
                <a:extLst>
                  <a:ext uri="{FF2B5EF4-FFF2-40B4-BE49-F238E27FC236}">
                    <a16:creationId xmlns:a16="http://schemas.microsoft.com/office/drawing/2014/main" id="{DB11C90B-09EC-9BC0-D9F6-23ECD7C9BC76}"/>
                  </a:ext>
                </a:extLst>
              </p:cNvPr>
              <p:cNvSpPr txBox="1">
                <a:spLocks noRot="1" noChangeAspect="1" noMove="1" noResize="1" noEditPoints="1" noAdjustHandles="1" noChangeArrowheads="1" noChangeShapeType="1" noTextEdit="1"/>
              </p:cNvSpPr>
              <p:nvPr/>
            </p:nvSpPr>
            <p:spPr>
              <a:xfrm>
                <a:off x="5440501" y="5119851"/>
                <a:ext cx="3484282" cy="369332"/>
              </a:xfrm>
              <a:prstGeom prst="rect">
                <a:avLst/>
              </a:prstGeom>
              <a:blipFill>
                <a:blip r:embed="rId6"/>
                <a:stretch>
                  <a:fillRect b="-13333"/>
                </a:stretch>
              </a:blipFill>
            </p:spPr>
            <p:txBody>
              <a:bodyPr/>
              <a:lstStyle/>
              <a:p>
                <a:r>
                  <a:rPr>
                    <a:noFill/>
                  </a:rPr>
                  <a:t> </a:t>
                </a:r>
              </a:p>
            </p:txBody>
          </p:sp>
        </mc:Fallback>
      </mc:AlternateContent>
      <p:sp>
        <p:nvSpPr>
          <p:cNvPr id="13" name="TextBox 12">
            <a:extLst>
              <a:ext uri="{FF2B5EF4-FFF2-40B4-BE49-F238E27FC236}">
                <a16:creationId xmlns:a16="http://schemas.microsoft.com/office/drawing/2014/main" id="{144A0F94-6003-6D94-ABFD-3FE8C3FEAC21}"/>
              </a:ext>
            </a:extLst>
          </p:cNvPr>
          <p:cNvSpPr txBox="1"/>
          <p:nvPr/>
        </p:nvSpPr>
        <p:spPr>
          <a:xfrm>
            <a:off x="5317388" y="5647420"/>
            <a:ext cx="3730508" cy="646331"/>
          </a:xfrm>
          <a:prstGeom prst="rect">
            <a:avLst/>
          </a:prstGeom>
          <a:noFill/>
        </p:spPr>
        <p:txBody>
          <a:bodyPr wrap="none" rtlCol="0">
            <a:spAutoFit/>
          </a:bodyPr>
          <a:lstStyle/>
          <a:p>
            <a:r>
              <a:rPr lang="en-US" sz="1800" i="1" dirty="0">
                <a:effectLst/>
                <a:latin typeface="TimesTen"/>
              </a:rPr>
              <a:t>k </a:t>
            </a:r>
            <a:r>
              <a:rPr lang="en-US" sz="1800" dirty="0">
                <a:effectLst/>
                <a:latin typeface="TimesTen"/>
              </a:rPr>
              <a:t>takes on a value in the range 1 to 25 </a:t>
            </a:r>
          </a:p>
          <a:p>
            <a:endParaRPr dirty="0"/>
          </a:p>
        </p:txBody>
      </p:sp>
    </p:spTree>
    <p:extLst>
      <p:ext uri="{BB962C8B-B14F-4D97-AF65-F5344CB8AC3E}">
        <p14:creationId xmlns:p14="http://schemas.microsoft.com/office/powerpoint/2010/main" val="359191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3BDFB0-E089-9E0B-71B9-645D46FD10A8}"/>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EF408998-C36C-34B7-2237-4E14F4B418FC}"/>
              </a:ext>
            </a:extLst>
          </p:cNvPr>
          <p:cNvSpPr>
            <a:spLocks noGrp="1"/>
          </p:cNvSpPr>
          <p:nvPr>
            <p:ph type="title"/>
          </p:nvPr>
        </p:nvSpPr>
        <p:spPr/>
        <p:txBody>
          <a:bodyPr/>
          <a:lstStyle/>
          <a:p>
            <a:r>
              <a:rPr lang="en-US" altLang="en-US" sz="2800" baseline="0" dirty="0"/>
              <a:t>Monoalphabetic Ciphers: </a:t>
            </a:r>
            <a:r>
              <a:rPr lang="en-US" altLang="en-US" sz="2800" baseline="0" dirty="0" err="1"/>
              <a:t>Mã</a:t>
            </a:r>
            <a:r>
              <a:rPr lang="en-US" altLang="en-US" sz="2800" baseline="0" dirty="0"/>
              <a:t> </a:t>
            </a:r>
            <a:r>
              <a:rPr lang="en-US" altLang="en-US" sz="2800" baseline="0" dirty="0" err="1"/>
              <a:t>đơn</a:t>
            </a:r>
            <a:r>
              <a:rPr lang="en-US" altLang="en-US" sz="2800" baseline="0" dirty="0"/>
              <a:t> </a:t>
            </a:r>
            <a:r>
              <a:rPr lang="en-US" altLang="en-US" sz="2800" baseline="0" dirty="0" err="1"/>
              <a:t>ký</a:t>
            </a:r>
            <a:r>
              <a:rPr lang="en-US" altLang="en-US" sz="2800" baseline="0" dirty="0"/>
              <a:t> </a:t>
            </a:r>
            <a:r>
              <a:rPr lang="en-US" altLang="en-US" sz="2800" baseline="0" dirty="0" err="1"/>
              <a:t>tự</a:t>
            </a:r>
            <a:endParaRPr dirty="0"/>
          </a:p>
        </p:txBody>
      </p:sp>
      <p:graphicFrame>
        <p:nvGraphicFramePr>
          <p:cNvPr id="5" name="Table 5">
            <a:extLst>
              <a:ext uri="{FF2B5EF4-FFF2-40B4-BE49-F238E27FC236}">
                <a16:creationId xmlns:a16="http://schemas.microsoft.com/office/drawing/2014/main" id="{08565576-330B-F45E-6A7A-B1F3E46844FB}"/>
              </a:ext>
            </a:extLst>
          </p:cNvPr>
          <p:cNvGraphicFramePr>
            <a:graphicFrameLocks noGrp="1"/>
          </p:cNvGraphicFramePr>
          <p:nvPr>
            <p:ph sz="quarter" idx="13"/>
            <p:extLst>
              <p:ext uri="{D42A27DB-BD31-4B8C-83A1-F6EECF244321}">
                <p14:modId xmlns:p14="http://schemas.microsoft.com/office/powerpoint/2010/main" val="2009940704"/>
              </p:ext>
            </p:extLst>
          </p:nvPr>
        </p:nvGraphicFramePr>
        <p:xfrm>
          <a:off x="818047" y="894384"/>
          <a:ext cx="5344214" cy="5191760"/>
        </p:xfrm>
        <a:graphic>
          <a:graphicData uri="http://schemas.openxmlformats.org/drawingml/2006/table">
            <a:tbl>
              <a:tblPr firstRow="1" bandRow="1">
                <a:tableStyleId>{5C22544A-7EE6-4342-B048-85BDC9FD1C3A}</a:tableStyleId>
              </a:tblPr>
              <a:tblGrid>
                <a:gridCol w="617715">
                  <a:extLst>
                    <a:ext uri="{9D8B030D-6E8A-4147-A177-3AD203B41FA5}">
                      <a16:colId xmlns:a16="http://schemas.microsoft.com/office/drawing/2014/main" val="1357656555"/>
                    </a:ext>
                  </a:extLst>
                </a:gridCol>
                <a:gridCol w="4726499">
                  <a:extLst>
                    <a:ext uri="{9D8B030D-6E8A-4147-A177-3AD203B41FA5}">
                      <a16:colId xmlns:a16="http://schemas.microsoft.com/office/drawing/2014/main" val="3339438198"/>
                    </a:ext>
                  </a:extLst>
                </a:gridCol>
              </a:tblGrid>
              <a:tr h="370840">
                <a:tc>
                  <a:txBody>
                    <a:bodyPr/>
                    <a:lstStyle/>
                    <a:p>
                      <a:r>
                        <a:rPr lang="vi-VN" dirty="0"/>
                        <a:t>Key</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urier" pitchFamily="2" charset="0"/>
                        </a:rPr>
                        <a:t>PHHW PH DIWHU WKH WRJD SDUWB KEY </a:t>
                      </a:r>
                      <a:endParaRPr lang="en-US" dirty="0">
                        <a:effectLst/>
                      </a:endParaRPr>
                    </a:p>
                  </a:txBody>
                  <a:tcPr/>
                </a:tc>
                <a:extLst>
                  <a:ext uri="{0D108BD9-81ED-4DB2-BD59-A6C34878D82A}">
                    <a16:rowId xmlns:a16="http://schemas.microsoft.com/office/drawing/2014/main" val="3786927446"/>
                  </a:ext>
                </a:extLst>
              </a:tr>
              <a:tr h="370840">
                <a:tc>
                  <a:txBody>
                    <a:bodyPr/>
                    <a:lstStyle/>
                    <a:p>
                      <a:r>
                        <a:rPr lang="vi-VN" dirty="0"/>
                        <a:t>1</a:t>
                      </a:r>
                      <a:endParaRPr dirty="0"/>
                    </a:p>
                  </a:txBody>
                  <a:tcPr/>
                </a:tc>
                <a:tc>
                  <a:txBody>
                    <a:bodyPr/>
                    <a:lstStyle/>
                    <a:p>
                      <a:r>
                        <a:rPr lang="en-US" sz="1800" dirty="0" err="1">
                          <a:effectLst/>
                          <a:latin typeface="Courier" pitchFamily="2" charset="0"/>
                        </a:rPr>
                        <a:t>oggv</a:t>
                      </a:r>
                      <a:r>
                        <a:rPr lang="en-US" sz="1800" dirty="0">
                          <a:effectLst/>
                          <a:latin typeface="Courier" pitchFamily="2" charset="0"/>
                        </a:rPr>
                        <a:t> </a:t>
                      </a:r>
                      <a:r>
                        <a:rPr lang="en-US" sz="1800" dirty="0" err="1">
                          <a:effectLst/>
                          <a:latin typeface="Courier" pitchFamily="2" charset="0"/>
                        </a:rPr>
                        <a:t>og</a:t>
                      </a:r>
                      <a:r>
                        <a:rPr lang="en-US" sz="1800" dirty="0">
                          <a:effectLst/>
                          <a:latin typeface="Courier" pitchFamily="2" charset="0"/>
                        </a:rPr>
                        <a:t> </a:t>
                      </a:r>
                      <a:r>
                        <a:rPr lang="en-US" sz="1800" dirty="0" err="1">
                          <a:effectLst/>
                          <a:latin typeface="Courier" pitchFamily="2" charset="0"/>
                        </a:rPr>
                        <a:t>chvgt</a:t>
                      </a:r>
                      <a:r>
                        <a:rPr lang="en-US" sz="1800" dirty="0">
                          <a:effectLst/>
                          <a:latin typeface="Courier" pitchFamily="2" charset="0"/>
                        </a:rPr>
                        <a:t> </a:t>
                      </a:r>
                      <a:r>
                        <a:rPr lang="en-US" sz="1800" dirty="0" err="1">
                          <a:effectLst/>
                          <a:latin typeface="Courier" pitchFamily="2" charset="0"/>
                        </a:rPr>
                        <a:t>vjg</a:t>
                      </a:r>
                      <a:r>
                        <a:rPr lang="en-US" sz="1800" dirty="0">
                          <a:effectLst/>
                          <a:latin typeface="Courier" pitchFamily="2" charset="0"/>
                        </a:rPr>
                        <a:t> </a:t>
                      </a:r>
                      <a:r>
                        <a:rPr lang="en-US" sz="1800" dirty="0" err="1">
                          <a:effectLst/>
                          <a:latin typeface="Courier" pitchFamily="2" charset="0"/>
                        </a:rPr>
                        <a:t>vqic</a:t>
                      </a:r>
                      <a:r>
                        <a:rPr lang="en-US" sz="1800" dirty="0">
                          <a:effectLst/>
                          <a:latin typeface="Courier" pitchFamily="2" charset="0"/>
                        </a:rPr>
                        <a:t> </a:t>
                      </a:r>
                      <a:r>
                        <a:rPr lang="en-US" sz="1800" dirty="0" err="1">
                          <a:effectLst/>
                          <a:latin typeface="Courier" pitchFamily="2" charset="0"/>
                        </a:rPr>
                        <a:t>rctva</a:t>
                      </a:r>
                      <a:r>
                        <a:rPr lang="en-US" sz="1800" dirty="0">
                          <a:effectLst/>
                          <a:latin typeface="Courier" pitchFamily="2" charset="0"/>
                        </a:rPr>
                        <a:t> </a:t>
                      </a:r>
                      <a:endParaRPr dirty="0"/>
                    </a:p>
                  </a:txBody>
                  <a:tcPr/>
                </a:tc>
                <a:extLst>
                  <a:ext uri="{0D108BD9-81ED-4DB2-BD59-A6C34878D82A}">
                    <a16:rowId xmlns:a16="http://schemas.microsoft.com/office/drawing/2014/main" val="2429298608"/>
                  </a:ext>
                </a:extLst>
              </a:tr>
              <a:tr h="370840">
                <a:tc>
                  <a:txBody>
                    <a:bodyPr/>
                    <a:lstStyle/>
                    <a:p>
                      <a:r>
                        <a:rPr lang="vi-VN" dirty="0"/>
                        <a:t>2</a:t>
                      </a:r>
                      <a:endParaRPr dirty="0"/>
                    </a:p>
                  </a:txBody>
                  <a:tcPr/>
                </a:tc>
                <a:tc>
                  <a:txBody>
                    <a:bodyPr/>
                    <a:lstStyle/>
                    <a:p>
                      <a:r>
                        <a:rPr lang="en-US" sz="1800" dirty="0" err="1">
                          <a:effectLst/>
                          <a:latin typeface="Courier" pitchFamily="2" charset="0"/>
                        </a:rPr>
                        <a:t>nffu</a:t>
                      </a:r>
                      <a:r>
                        <a:rPr lang="en-US" sz="1800" dirty="0">
                          <a:effectLst/>
                          <a:latin typeface="Courier" pitchFamily="2" charset="0"/>
                        </a:rPr>
                        <a:t> </a:t>
                      </a:r>
                      <a:r>
                        <a:rPr lang="en-US" sz="1800" dirty="0" err="1">
                          <a:effectLst/>
                          <a:latin typeface="Courier" pitchFamily="2" charset="0"/>
                        </a:rPr>
                        <a:t>nf</a:t>
                      </a:r>
                      <a:r>
                        <a:rPr lang="en-US" sz="1800" dirty="0">
                          <a:effectLst/>
                          <a:latin typeface="Courier" pitchFamily="2" charset="0"/>
                        </a:rPr>
                        <a:t> </a:t>
                      </a:r>
                      <a:r>
                        <a:rPr lang="en-US" sz="1800" dirty="0" err="1">
                          <a:effectLst/>
                          <a:latin typeface="Courier" pitchFamily="2" charset="0"/>
                        </a:rPr>
                        <a:t>bgufs</a:t>
                      </a:r>
                      <a:r>
                        <a:rPr lang="en-US" sz="1800" dirty="0">
                          <a:effectLst/>
                          <a:latin typeface="Courier" pitchFamily="2" charset="0"/>
                        </a:rPr>
                        <a:t> </a:t>
                      </a:r>
                      <a:r>
                        <a:rPr lang="en-US" sz="1800" dirty="0" err="1">
                          <a:effectLst/>
                          <a:latin typeface="Courier" pitchFamily="2" charset="0"/>
                        </a:rPr>
                        <a:t>uif</a:t>
                      </a:r>
                      <a:r>
                        <a:rPr lang="en-US" sz="1800" dirty="0">
                          <a:effectLst/>
                          <a:latin typeface="Courier" pitchFamily="2" charset="0"/>
                        </a:rPr>
                        <a:t> </a:t>
                      </a:r>
                      <a:r>
                        <a:rPr lang="en-US" sz="1800" dirty="0" err="1">
                          <a:effectLst/>
                          <a:latin typeface="Courier" pitchFamily="2" charset="0"/>
                        </a:rPr>
                        <a:t>uphb</a:t>
                      </a:r>
                      <a:r>
                        <a:rPr lang="en-US" sz="1800" dirty="0">
                          <a:effectLst/>
                          <a:latin typeface="Courier" pitchFamily="2" charset="0"/>
                        </a:rPr>
                        <a:t> </a:t>
                      </a:r>
                      <a:r>
                        <a:rPr lang="en-US" sz="1800" dirty="0" err="1">
                          <a:effectLst/>
                          <a:latin typeface="Courier" pitchFamily="2" charset="0"/>
                        </a:rPr>
                        <a:t>qbsuz</a:t>
                      </a:r>
                      <a:r>
                        <a:rPr lang="en-US" sz="1800" dirty="0">
                          <a:effectLst/>
                          <a:latin typeface="Courier" pitchFamily="2" charset="0"/>
                        </a:rPr>
                        <a:t> </a:t>
                      </a:r>
                      <a:endParaRPr dirty="0"/>
                    </a:p>
                  </a:txBody>
                  <a:tcPr/>
                </a:tc>
                <a:extLst>
                  <a:ext uri="{0D108BD9-81ED-4DB2-BD59-A6C34878D82A}">
                    <a16:rowId xmlns:a16="http://schemas.microsoft.com/office/drawing/2014/main" val="805800639"/>
                  </a:ext>
                </a:extLst>
              </a:tr>
              <a:tr h="370840">
                <a:tc>
                  <a:txBody>
                    <a:bodyPr/>
                    <a:lstStyle/>
                    <a:p>
                      <a:r>
                        <a:rPr lang="vi-VN" dirty="0"/>
                        <a:t>3</a:t>
                      </a:r>
                      <a:endParaRPr dirty="0"/>
                    </a:p>
                  </a:txBody>
                  <a:tcPr/>
                </a:tc>
                <a:tc>
                  <a:txBody>
                    <a:bodyPr/>
                    <a:lstStyle/>
                    <a:p>
                      <a:r>
                        <a:rPr lang="en-US" sz="1800" dirty="0">
                          <a:effectLst/>
                          <a:latin typeface="Courier" pitchFamily="2" charset="0"/>
                        </a:rPr>
                        <a:t>meet me after the toga par</a:t>
                      </a:r>
                      <a:endParaRPr dirty="0"/>
                    </a:p>
                  </a:txBody>
                  <a:tcPr/>
                </a:tc>
                <a:extLst>
                  <a:ext uri="{0D108BD9-81ED-4DB2-BD59-A6C34878D82A}">
                    <a16:rowId xmlns:a16="http://schemas.microsoft.com/office/drawing/2014/main" val="1773543599"/>
                  </a:ext>
                </a:extLst>
              </a:tr>
              <a:tr h="370840">
                <a:tc>
                  <a:txBody>
                    <a:bodyPr/>
                    <a:lstStyle/>
                    <a:p>
                      <a:r>
                        <a:rPr lang="vi-VN" dirty="0"/>
                        <a:t>4</a:t>
                      </a:r>
                      <a:endParaRPr dirty="0"/>
                    </a:p>
                  </a:txBody>
                  <a:tcPr/>
                </a:tc>
                <a:tc>
                  <a:txBody>
                    <a:bodyPr/>
                    <a:lstStyle/>
                    <a:p>
                      <a:r>
                        <a:rPr lang="en-US" sz="1800" dirty="0" err="1">
                          <a:effectLst/>
                          <a:latin typeface="Courier" pitchFamily="2" charset="0"/>
                        </a:rPr>
                        <a:t>ldds</a:t>
                      </a:r>
                      <a:r>
                        <a:rPr lang="en-US" sz="1800" dirty="0">
                          <a:effectLst/>
                          <a:latin typeface="Courier" pitchFamily="2" charset="0"/>
                        </a:rPr>
                        <a:t> </a:t>
                      </a:r>
                      <a:r>
                        <a:rPr lang="en-US" sz="1800" dirty="0" err="1">
                          <a:effectLst/>
                          <a:latin typeface="Courier" pitchFamily="2" charset="0"/>
                        </a:rPr>
                        <a:t>ld</a:t>
                      </a:r>
                      <a:r>
                        <a:rPr lang="en-US" sz="1800" dirty="0">
                          <a:effectLst/>
                          <a:latin typeface="Courier" pitchFamily="2" charset="0"/>
                        </a:rPr>
                        <a:t> </a:t>
                      </a:r>
                      <a:r>
                        <a:rPr lang="en-US" sz="1800" dirty="0" err="1">
                          <a:effectLst/>
                          <a:latin typeface="Courier" pitchFamily="2" charset="0"/>
                        </a:rPr>
                        <a:t>zesdq</a:t>
                      </a:r>
                      <a:r>
                        <a:rPr lang="en-US" sz="1800" dirty="0">
                          <a:effectLst/>
                          <a:latin typeface="Courier" pitchFamily="2" charset="0"/>
                        </a:rPr>
                        <a:t> </a:t>
                      </a:r>
                      <a:r>
                        <a:rPr lang="en-US" sz="1800" dirty="0" err="1">
                          <a:effectLst/>
                          <a:latin typeface="Courier" pitchFamily="2" charset="0"/>
                        </a:rPr>
                        <a:t>sgd</a:t>
                      </a:r>
                      <a:r>
                        <a:rPr lang="en-US" sz="1800" dirty="0">
                          <a:effectLst/>
                          <a:latin typeface="Courier" pitchFamily="2" charset="0"/>
                        </a:rPr>
                        <a:t> </a:t>
                      </a:r>
                      <a:r>
                        <a:rPr lang="en-US" sz="1800" dirty="0" err="1">
                          <a:effectLst/>
                          <a:latin typeface="Courier" pitchFamily="2" charset="0"/>
                        </a:rPr>
                        <a:t>snfz</a:t>
                      </a:r>
                      <a:r>
                        <a:rPr lang="en-US" sz="1800" dirty="0">
                          <a:effectLst/>
                          <a:latin typeface="Courier" pitchFamily="2" charset="0"/>
                        </a:rPr>
                        <a:t> </a:t>
                      </a:r>
                      <a:r>
                        <a:rPr lang="en-US" sz="1800" dirty="0" err="1">
                          <a:effectLst/>
                          <a:latin typeface="Courier" pitchFamily="2" charset="0"/>
                        </a:rPr>
                        <a:t>ozqsx</a:t>
                      </a:r>
                      <a:r>
                        <a:rPr lang="en-US" sz="1800" dirty="0">
                          <a:effectLst/>
                          <a:latin typeface="Courier" pitchFamily="2" charset="0"/>
                        </a:rPr>
                        <a:t> </a:t>
                      </a:r>
                      <a:endParaRPr dirty="0"/>
                    </a:p>
                  </a:txBody>
                  <a:tcPr/>
                </a:tc>
                <a:extLst>
                  <a:ext uri="{0D108BD9-81ED-4DB2-BD59-A6C34878D82A}">
                    <a16:rowId xmlns:a16="http://schemas.microsoft.com/office/drawing/2014/main" val="2825785751"/>
                  </a:ext>
                </a:extLst>
              </a:tr>
              <a:tr h="370840">
                <a:tc>
                  <a:txBody>
                    <a:bodyPr/>
                    <a:lstStyle/>
                    <a:p>
                      <a:r>
                        <a:rPr lang="vi-VN" dirty="0"/>
                        <a:t>5</a:t>
                      </a:r>
                      <a:endParaRPr dirty="0"/>
                    </a:p>
                  </a:txBody>
                  <a:tcPr/>
                </a:tc>
                <a:tc>
                  <a:txBody>
                    <a:bodyPr/>
                    <a:lstStyle/>
                    <a:p>
                      <a:r>
                        <a:rPr lang="en-US" sz="1800" dirty="0" err="1">
                          <a:effectLst/>
                          <a:latin typeface="Courier" pitchFamily="2" charset="0"/>
                        </a:rPr>
                        <a:t>kccr</a:t>
                      </a:r>
                      <a:r>
                        <a:rPr lang="en-US" sz="1800" dirty="0">
                          <a:effectLst/>
                          <a:latin typeface="Courier" pitchFamily="2" charset="0"/>
                        </a:rPr>
                        <a:t> kc </a:t>
                      </a:r>
                      <a:r>
                        <a:rPr lang="en-US" sz="1800" dirty="0" err="1">
                          <a:effectLst/>
                          <a:latin typeface="Courier" pitchFamily="2" charset="0"/>
                        </a:rPr>
                        <a:t>ydrcp</a:t>
                      </a:r>
                      <a:r>
                        <a:rPr lang="en-US" sz="1800" dirty="0">
                          <a:effectLst/>
                          <a:latin typeface="Courier" pitchFamily="2" charset="0"/>
                        </a:rPr>
                        <a:t> </a:t>
                      </a:r>
                      <a:r>
                        <a:rPr lang="en-US" sz="1800" dirty="0" err="1">
                          <a:effectLst/>
                          <a:latin typeface="Courier" pitchFamily="2" charset="0"/>
                        </a:rPr>
                        <a:t>rfc</a:t>
                      </a:r>
                      <a:r>
                        <a:rPr lang="en-US" sz="1800" dirty="0">
                          <a:effectLst/>
                          <a:latin typeface="Courier" pitchFamily="2" charset="0"/>
                        </a:rPr>
                        <a:t> </a:t>
                      </a:r>
                      <a:r>
                        <a:rPr lang="en-US" sz="1800" dirty="0" err="1">
                          <a:effectLst/>
                          <a:latin typeface="Courier" pitchFamily="2" charset="0"/>
                        </a:rPr>
                        <a:t>rmey</a:t>
                      </a:r>
                      <a:r>
                        <a:rPr lang="en-US" sz="1800" dirty="0">
                          <a:effectLst/>
                          <a:latin typeface="Courier" pitchFamily="2" charset="0"/>
                        </a:rPr>
                        <a:t> </a:t>
                      </a:r>
                      <a:r>
                        <a:rPr lang="en-US" sz="1800" dirty="0" err="1">
                          <a:effectLst/>
                          <a:latin typeface="Courier" pitchFamily="2" charset="0"/>
                        </a:rPr>
                        <a:t>nyprw</a:t>
                      </a:r>
                      <a:r>
                        <a:rPr lang="en-US" sz="1800" dirty="0">
                          <a:effectLst/>
                          <a:latin typeface="Courier" pitchFamily="2" charset="0"/>
                        </a:rPr>
                        <a:t> </a:t>
                      </a:r>
                      <a:endParaRPr dirty="0"/>
                    </a:p>
                  </a:txBody>
                  <a:tcPr/>
                </a:tc>
                <a:extLst>
                  <a:ext uri="{0D108BD9-81ED-4DB2-BD59-A6C34878D82A}">
                    <a16:rowId xmlns:a16="http://schemas.microsoft.com/office/drawing/2014/main" val="2845713171"/>
                  </a:ext>
                </a:extLst>
              </a:tr>
              <a:tr h="370840">
                <a:tc>
                  <a:txBody>
                    <a:bodyPr/>
                    <a:lstStyle/>
                    <a:p>
                      <a:r>
                        <a:rPr lang="vi-VN" dirty="0"/>
                        <a:t>6</a:t>
                      </a:r>
                      <a:endParaRPr dirty="0"/>
                    </a:p>
                  </a:txBody>
                  <a:tcPr/>
                </a:tc>
                <a:tc>
                  <a:txBody>
                    <a:bodyPr/>
                    <a:lstStyle/>
                    <a:p>
                      <a:r>
                        <a:rPr lang="en-US" sz="1800" dirty="0" err="1">
                          <a:effectLst/>
                          <a:latin typeface="Courier" pitchFamily="2" charset="0"/>
                        </a:rPr>
                        <a:t>jbbq</a:t>
                      </a:r>
                      <a:r>
                        <a:rPr lang="en-US" sz="1800" dirty="0">
                          <a:effectLst/>
                          <a:latin typeface="Courier" pitchFamily="2" charset="0"/>
                        </a:rPr>
                        <a:t> </a:t>
                      </a:r>
                      <a:r>
                        <a:rPr lang="en-US" sz="1800" dirty="0" err="1">
                          <a:effectLst/>
                          <a:latin typeface="Courier" pitchFamily="2" charset="0"/>
                        </a:rPr>
                        <a:t>jb</a:t>
                      </a:r>
                      <a:r>
                        <a:rPr lang="en-US" sz="1800" dirty="0">
                          <a:effectLst/>
                          <a:latin typeface="Courier" pitchFamily="2" charset="0"/>
                        </a:rPr>
                        <a:t> </a:t>
                      </a:r>
                      <a:r>
                        <a:rPr lang="en-US" sz="1800" dirty="0" err="1">
                          <a:effectLst/>
                          <a:latin typeface="Courier" pitchFamily="2" charset="0"/>
                        </a:rPr>
                        <a:t>xcqbo</a:t>
                      </a:r>
                      <a:r>
                        <a:rPr lang="en-US" sz="1800" dirty="0">
                          <a:effectLst/>
                          <a:latin typeface="Courier" pitchFamily="2" charset="0"/>
                        </a:rPr>
                        <a:t> </a:t>
                      </a:r>
                      <a:r>
                        <a:rPr lang="en-US" sz="1800" dirty="0" err="1">
                          <a:effectLst/>
                          <a:latin typeface="Courier" pitchFamily="2" charset="0"/>
                        </a:rPr>
                        <a:t>qeb</a:t>
                      </a:r>
                      <a:r>
                        <a:rPr lang="en-US" sz="1800" dirty="0">
                          <a:effectLst/>
                          <a:latin typeface="Courier" pitchFamily="2" charset="0"/>
                        </a:rPr>
                        <a:t> </a:t>
                      </a:r>
                      <a:r>
                        <a:rPr lang="en-US" sz="1800" dirty="0" err="1">
                          <a:effectLst/>
                          <a:latin typeface="Courier" pitchFamily="2" charset="0"/>
                        </a:rPr>
                        <a:t>qldx</a:t>
                      </a:r>
                      <a:r>
                        <a:rPr lang="en-US" sz="1800" dirty="0">
                          <a:effectLst/>
                          <a:latin typeface="Courier" pitchFamily="2" charset="0"/>
                        </a:rPr>
                        <a:t> </a:t>
                      </a:r>
                      <a:r>
                        <a:rPr lang="en-US" sz="1800" dirty="0" err="1">
                          <a:effectLst/>
                          <a:latin typeface="Courier" pitchFamily="2" charset="0"/>
                        </a:rPr>
                        <a:t>mxoqv</a:t>
                      </a:r>
                      <a:r>
                        <a:rPr lang="en-US" sz="1800" dirty="0">
                          <a:effectLst/>
                          <a:latin typeface="Courier" pitchFamily="2" charset="0"/>
                        </a:rPr>
                        <a:t> </a:t>
                      </a:r>
                      <a:endParaRPr dirty="0"/>
                    </a:p>
                  </a:txBody>
                  <a:tcPr/>
                </a:tc>
                <a:extLst>
                  <a:ext uri="{0D108BD9-81ED-4DB2-BD59-A6C34878D82A}">
                    <a16:rowId xmlns:a16="http://schemas.microsoft.com/office/drawing/2014/main" val="2239519528"/>
                  </a:ext>
                </a:extLst>
              </a:tr>
              <a:tr h="370840">
                <a:tc>
                  <a:txBody>
                    <a:bodyPr/>
                    <a:lstStyle/>
                    <a:p>
                      <a:r>
                        <a:rPr lang="vi-VN" dirty="0"/>
                        <a:t>7</a:t>
                      </a:r>
                      <a:endParaRPr dirty="0"/>
                    </a:p>
                  </a:txBody>
                  <a:tcPr/>
                </a:tc>
                <a:tc>
                  <a:txBody>
                    <a:bodyPr/>
                    <a:lstStyle/>
                    <a:p>
                      <a:r>
                        <a:rPr lang="en-US" sz="1800" dirty="0" err="1">
                          <a:effectLst/>
                          <a:latin typeface="Courier" pitchFamily="2" charset="0"/>
                        </a:rPr>
                        <a:t>iaap</a:t>
                      </a:r>
                      <a:r>
                        <a:rPr lang="en-US" sz="1800" dirty="0">
                          <a:effectLst/>
                          <a:latin typeface="Courier" pitchFamily="2" charset="0"/>
                        </a:rPr>
                        <a:t> </a:t>
                      </a:r>
                      <a:r>
                        <a:rPr lang="en-US" sz="1800" dirty="0" err="1">
                          <a:effectLst/>
                          <a:latin typeface="Courier" pitchFamily="2" charset="0"/>
                        </a:rPr>
                        <a:t>ia</a:t>
                      </a:r>
                      <a:r>
                        <a:rPr lang="en-US" sz="1800" dirty="0">
                          <a:effectLst/>
                          <a:latin typeface="Courier" pitchFamily="2" charset="0"/>
                        </a:rPr>
                        <a:t> </a:t>
                      </a:r>
                      <a:r>
                        <a:rPr lang="en-US" sz="1800" dirty="0" err="1">
                          <a:effectLst/>
                          <a:latin typeface="Courier" pitchFamily="2" charset="0"/>
                        </a:rPr>
                        <a:t>wbpan</a:t>
                      </a:r>
                      <a:r>
                        <a:rPr lang="en-US" sz="1800" dirty="0">
                          <a:effectLst/>
                          <a:latin typeface="Courier" pitchFamily="2" charset="0"/>
                        </a:rPr>
                        <a:t> </a:t>
                      </a:r>
                      <a:r>
                        <a:rPr lang="en-US" sz="1800" dirty="0" err="1">
                          <a:effectLst/>
                          <a:latin typeface="Courier" pitchFamily="2" charset="0"/>
                        </a:rPr>
                        <a:t>pda</a:t>
                      </a:r>
                      <a:r>
                        <a:rPr lang="en-US" sz="1800" dirty="0">
                          <a:effectLst/>
                          <a:latin typeface="Courier" pitchFamily="2" charset="0"/>
                        </a:rPr>
                        <a:t> </a:t>
                      </a:r>
                      <a:r>
                        <a:rPr lang="en-US" sz="1800" dirty="0" err="1">
                          <a:effectLst/>
                          <a:latin typeface="Courier" pitchFamily="2" charset="0"/>
                        </a:rPr>
                        <a:t>pkcw</a:t>
                      </a:r>
                      <a:r>
                        <a:rPr lang="en-US" sz="1800" dirty="0">
                          <a:effectLst/>
                          <a:latin typeface="Courier" pitchFamily="2" charset="0"/>
                        </a:rPr>
                        <a:t> </a:t>
                      </a:r>
                      <a:r>
                        <a:rPr lang="en-US" sz="1800" dirty="0" err="1">
                          <a:effectLst/>
                          <a:latin typeface="Courier" pitchFamily="2" charset="0"/>
                        </a:rPr>
                        <a:t>lwnpu</a:t>
                      </a:r>
                      <a:r>
                        <a:rPr lang="en-US" sz="1800" dirty="0">
                          <a:effectLst/>
                          <a:latin typeface="Courier" pitchFamily="2" charset="0"/>
                        </a:rPr>
                        <a:t> </a:t>
                      </a:r>
                      <a:endParaRPr dirty="0"/>
                    </a:p>
                  </a:txBody>
                  <a:tcPr/>
                </a:tc>
                <a:extLst>
                  <a:ext uri="{0D108BD9-81ED-4DB2-BD59-A6C34878D82A}">
                    <a16:rowId xmlns:a16="http://schemas.microsoft.com/office/drawing/2014/main" val="3676111067"/>
                  </a:ext>
                </a:extLst>
              </a:tr>
              <a:tr h="370840">
                <a:tc>
                  <a:txBody>
                    <a:bodyPr/>
                    <a:lstStyle/>
                    <a:p>
                      <a:r>
                        <a:rPr lang="vi-VN" dirty="0"/>
                        <a:t>8</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hzzo</a:t>
                      </a:r>
                      <a:r>
                        <a:rPr lang="en-US" sz="1800" dirty="0">
                          <a:effectLst/>
                          <a:latin typeface="Courier" pitchFamily="2" charset="0"/>
                        </a:rPr>
                        <a:t> </a:t>
                      </a:r>
                      <a:r>
                        <a:rPr lang="en-US" sz="1800" dirty="0" err="1">
                          <a:effectLst/>
                          <a:latin typeface="Courier" pitchFamily="2" charset="0"/>
                        </a:rPr>
                        <a:t>hz</a:t>
                      </a:r>
                      <a:r>
                        <a:rPr lang="en-US" sz="1800" dirty="0">
                          <a:effectLst/>
                          <a:latin typeface="Courier" pitchFamily="2" charset="0"/>
                        </a:rPr>
                        <a:t> </a:t>
                      </a:r>
                      <a:r>
                        <a:rPr lang="en-US" sz="1800" dirty="0" err="1">
                          <a:effectLst/>
                          <a:latin typeface="Courier" pitchFamily="2" charset="0"/>
                        </a:rPr>
                        <a:t>vaozm</a:t>
                      </a:r>
                      <a:r>
                        <a:rPr lang="en-US" sz="1800" dirty="0">
                          <a:effectLst/>
                          <a:latin typeface="Courier" pitchFamily="2" charset="0"/>
                        </a:rPr>
                        <a:t> </a:t>
                      </a:r>
                      <a:r>
                        <a:rPr lang="en-US" sz="1800" dirty="0" err="1">
                          <a:effectLst/>
                          <a:latin typeface="Courier" pitchFamily="2" charset="0"/>
                        </a:rPr>
                        <a:t>ocz</a:t>
                      </a:r>
                      <a:r>
                        <a:rPr lang="en-US" sz="1800" dirty="0">
                          <a:effectLst/>
                          <a:latin typeface="Courier" pitchFamily="2" charset="0"/>
                        </a:rPr>
                        <a:t> </a:t>
                      </a:r>
                      <a:r>
                        <a:rPr lang="en-US" sz="1800" dirty="0" err="1">
                          <a:effectLst/>
                          <a:latin typeface="Courier" pitchFamily="2" charset="0"/>
                        </a:rPr>
                        <a:t>ojbv</a:t>
                      </a:r>
                      <a:r>
                        <a:rPr lang="en-US" sz="1800" dirty="0">
                          <a:effectLst/>
                          <a:latin typeface="Courier" pitchFamily="2" charset="0"/>
                        </a:rPr>
                        <a:t> </a:t>
                      </a:r>
                      <a:r>
                        <a:rPr lang="en-US" sz="1800" dirty="0" err="1">
                          <a:effectLst/>
                          <a:latin typeface="Courier" pitchFamily="2" charset="0"/>
                        </a:rPr>
                        <a:t>kvmot</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844510232"/>
                  </a:ext>
                </a:extLst>
              </a:tr>
              <a:tr h="370840">
                <a:tc>
                  <a:txBody>
                    <a:bodyPr/>
                    <a:lstStyle/>
                    <a:p>
                      <a:r>
                        <a:rPr lang="vi-VN" dirty="0"/>
                        <a:t>9</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gyyn</a:t>
                      </a:r>
                      <a:r>
                        <a:rPr lang="en-US" sz="1800" dirty="0">
                          <a:effectLst/>
                          <a:latin typeface="Courier" pitchFamily="2" charset="0"/>
                        </a:rPr>
                        <a:t> </a:t>
                      </a:r>
                      <a:r>
                        <a:rPr lang="en-US" sz="1800" dirty="0" err="1">
                          <a:effectLst/>
                          <a:latin typeface="Courier" pitchFamily="2" charset="0"/>
                        </a:rPr>
                        <a:t>gy</a:t>
                      </a:r>
                      <a:r>
                        <a:rPr lang="en-US" sz="1800" dirty="0">
                          <a:effectLst/>
                          <a:latin typeface="Courier" pitchFamily="2" charset="0"/>
                        </a:rPr>
                        <a:t> </a:t>
                      </a:r>
                      <a:r>
                        <a:rPr lang="en-US" sz="1800" dirty="0" err="1">
                          <a:effectLst/>
                          <a:latin typeface="Courier" pitchFamily="2" charset="0"/>
                        </a:rPr>
                        <a:t>uznyl</a:t>
                      </a:r>
                      <a:r>
                        <a:rPr lang="en-US" sz="1800" dirty="0">
                          <a:effectLst/>
                          <a:latin typeface="Courier" pitchFamily="2" charset="0"/>
                        </a:rPr>
                        <a:t> </a:t>
                      </a:r>
                      <a:r>
                        <a:rPr lang="en-US" sz="1800" dirty="0" err="1">
                          <a:effectLst/>
                          <a:latin typeface="Courier" pitchFamily="2" charset="0"/>
                        </a:rPr>
                        <a:t>nby</a:t>
                      </a:r>
                      <a:r>
                        <a:rPr lang="en-US" sz="1800" dirty="0">
                          <a:effectLst/>
                          <a:latin typeface="Courier" pitchFamily="2" charset="0"/>
                        </a:rPr>
                        <a:t> </a:t>
                      </a:r>
                      <a:r>
                        <a:rPr lang="en-US" sz="1800" dirty="0" err="1">
                          <a:effectLst/>
                          <a:latin typeface="Courier" pitchFamily="2" charset="0"/>
                        </a:rPr>
                        <a:t>niau</a:t>
                      </a:r>
                      <a:r>
                        <a:rPr lang="en-US" sz="1800" dirty="0">
                          <a:effectLst/>
                          <a:latin typeface="Courier" pitchFamily="2" charset="0"/>
                        </a:rPr>
                        <a:t> </a:t>
                      </a:r>
                      <a:r>
                        <a:rPr lang="en-US" sz="1800" dirty="0" err="1">
                          <a:effectLst/>
                          <a:latin typeface="Courier" pitchFamily="2" charset="0"/>
                        </a:rPr>
                        <a:t>julns</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567542185"/>
                  </a:ext>
                </a:extLst>
              </a:tr>
              <a:tr h="370840">
                <a:tc>
                  <a:txBody>
                    <a:bodyPr/>
                    <a:lstStyle/>
                    <a:p>
                      <a:r>
                        <a:rPr lang="vi-VN" dirty="0"/>
                        <a:t>10</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fxxm</a:t>
                      </a:r>
                      <a:r>
                        <a:rPr lang="en-US" sz="1800" dirty="0">
                          <a:effectLst/>
                          <a:latin typeface="Courier" pitchFamily="2" charset="0"/>
                        </a:rPr>
                        <a:t> </a:t>
                      </a:r>
                      <a:r>
                        <a:rPr lang="en-US" sz="1800" dirty="0" err="1">
                          <a:effectLst/>
                          <a:latin typeface="Courier" pitchFamily="2" charset="0"/>
                        </a:rPr>
                        <a:t>fx</a:t>
                      </a:r>
                      <a:r>
                        <a:rPr lang="en-US" sz="1800" dirty="0">
                          <a:effectLst/>
                          <a:latin typeface="Courier" pitchFamily="2" charset="0"/>
                        </a:rPr>
                        <a:t> </a:t>
                      </a:r>
                      <a:r>
                        <a:rPr lang="en-US" sz="1800" dirty="0" err="1">
                          <a:effectLst/>
                          <a:latin typeface="Courier" pitchFamily="2" charset="0"/>
                        </a:rPr>
                        <a:t>tymxk</a:t>
                      </a:r>
                      <a:r>
                        <a:rPr lang="en-US" sz="1800" dirty="0">
                          <a:effectLst/>
                          <a:latin typeface="Courier" pitchFamily="2" charset="0"/>
                        </a:rPr>
                        <a:t> max </a:t>
                      </a:r>
                      <a:r>
                        <a:rPr lang="en-US" sz="1800" dirty="0" err="1">
                          <a:effectLst/>
                          <a:latin typeface="Courier" pitchFamily="2" charset="0"/>
                        </a:rPr>
                        <a:t>mhzt</a:t>
                      </a:r>
                      <a:r>
                        <a:rPr lang="en-US" sz="1800" dirty="0">
                          <a:effectLst/>
                          <a:latin typeface="Courier" pitchFamily="2" charset="0"/>
                        </a:rPr>
                        <a:t> </a:t>
                      </a:r>
                      <a:r>
                        <a:rPr lang="en-US" sz="1800" dirty="0" err="1">
                          <a:effectLst/>
                          <a:latin typeface="Courier" pitchFamily="2" charset="0"/>
                        </a:rPr>
                        <a:t>itkmr</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4165994"/>
                  </a:ext>
                </a:extLst>
              </a:tr>
              <a:tr h="370840">
                <a:tc>
                  <a:txBody>
                    <a:bodyPr/>
                    <a:lstStyle/>
                    <a:p>
                      <a:r>
                        <a:rPr lang="vi-VN" dirty="0"/>
                        <a:t>11</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ewwl</a:t>
                      </a:r>
                      <a:r>
                        <a:rPr lang="en-US" sz="1800" dirty="0">
                          <a:effectLst/>
                          <a:latin typeface="Courier" pitchFamily="2" charset="0"/>
                        </a:rPr>
                        <a:t> </a:t>
                      </a:r>
                      <a:r>
                        <a:rPr lang="en-US" sz="1800" dirty="0" err="1">
                          <a:effectLst/>
                          <a:latin typeface="Courier" pitchFamily="2" charset="0"/>
                        </a:rPr>
                        <a:t>ew</a:t>
                      </a:r>
                      <a:r>
                        <a:rPr lang="en-US" sz="1800" dirty="0">
                          <a:effectLst/>
                          <a:latin typeface="Courier" pitchFamily="2" charset="0"/>
                        </a:rPr>
                        <a:t> </a:t>
                      </a:r>
                      <a:r>
                        <a:rPr lang="en-US" sz="1800" dirty="0" err="1">
                          <a:effectLst/>
                          <a:latin typeface="Courier" pitchFamily="2" charset="0"/>
                        </a:rPr>
                        <a:t>sxlwj</a:t>
                      </a:r>
                      <a:r>
                        <a:rPr lang="en-US" sz="1800" dirty="0">
                          <a:effectLst/>
                          <a:latin typeface="Courier" pitchFamily="2" charset="0"/>
                        </a:rPr>
                        <a:t> </a:t>
                      </a:r>
                      <a:r>
                        <a:rPr lang="en-US" sz="1800" dirty="0" err="1">
                          <a:effectLst/>
                          <a:latin typeface="Courier" pitchFamily="2" charset="0"/>
                        </a:rPr>
                        <a:t>lzw</a:t>
                      </a:r>
                      <a:r>
                        <a:rPr lang="en-US" sz="1800" dirty="0">
                          <a:effectLst/>
                          <a:latin typeface="Courier" pitchFamily="2" charset="0"/>
                        </a:rPr>
                        <a:t> </a:t>
                      </a:r>
                      <a:r>
                        <a:rPr lang="en-US" sz="1800" dirty="0" err="1">
                          <a:effectLst/>
                          <a:latin typeface="Courier" pitchFamily="2" charset="0"/>
                        </a:rPr>
                        <a:t>lgys</a:t>
                      </a:r>
                      <a:r>
                        <a:rPr lang="en-US" sz="1800" dirty="0">
                          <a:effectLst/>
                          <a:latin typeface="Courier" pitchFamily="2" charset="0"/>
                        </a:rPr>
                        <a:t> </a:t>
                      </a:r>
                      <a:r>
                        <a:rPr lang="en-US" sz="1800" dirty="0" err="1">
                          <a:effectLst/>
                          <a:latin typeface="Courier" pitchFamily="2" charset="0"/>
                        </a:rPr>
                        <a:t>hsjlq</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3592886062"/>
                  </a:ext>
                </a:extLst>
              </a:tr>
              <a:tr h="370840">
                <a:tc>
                  <a:txBody>
                    <a:bodyPr/>
                    <a:lstStyle/>
                    <a:p>
                      <a:r>
                        <a:rPr lang="vi-VN" dirty="0"/>
                        <a:t>12</a:t>
                      </a:r>
                      <a:endParaRPr dirty="0"/>
                    </a:p>
                  </a:txBody>
                  <a:tcPr/>
                </a:tc>
                <a:tc>
                  <a:txBody>
                    <a:bodyPr/>
                    <a:lstStyle/>
                    <a:p>
                      <a:r>
                        <a:rPr lang="en-US" sz="1800" dirty="0" err="1">
                          <a:effectLst/>
                          <a:latin typeface="Courier" pitchFamily="2" charset="0"/>
                        </a:rPr>
                        <a:t>dvvk</a:t>
                      </a:r>
                      <a:r>
                        <a:rPr lang="en-US" sz="1800" dirty="0">
                          <a:effectLst/>
                          <a:latin typeface="Courier" pitchFamily="2" charset="0"/>
                        </a:rPr>
                        <a:t> dv </a:t>
                      </a:r>
                      <a:r>
                        <a:rPr lang="en-US" sz="1800" dirty="0" err="1">
                          <a:effectLst/>
                          <a:latin typeface="Courier" pitchFamily="2" charset="0"/>
                        </a:rPr>
                        <a:t>rwkvi</a:t>
                      </a:r>
                      <a:r>
                        <a:rPr lang="en-US" sz="1800" dirty="0">
                          <a:effectLst/>
                          <a:latin typeface="Courier" pitchFamily="2" charset="0"/>
                        </a:rPr>
                        <a:t> </a:t>
                      </a:r>
                      <a:r>
                        <a:rPr lang="en-US" sz="1800" dirty="0" err="1">
                          <a:effectLst/>
                          <a:latin typeface="Courier" pitchFamily="2" charset="0"/>
                        </a:rPr>
                        <a:t>kyv</a:t>
                      </a:r>
                      <a:r>
                        <a:rPr lang="en-US" sz="1800" dirty="0">
                          <a:effectLst/>
                          <a:latin typeface="Courier" pitchFamily="2" charset="0"/>
                        </a:rPr>
                        <a:t> </a:t>
                      </a:r>
                      <a:r>
                        <a:rPr lang="en-US" sz="1800" dirty="0" err="1">
                          <a:effectLst/>
                          <a:latin typeface="Courier" pitchFamily="2" charset="0"/>
                        </a:rPr>
                        <a:t>kfxr</a:t>
                      </a:r>
                      <a:r>
                        <a:rPr lang="en-US" sz="1800" dirty="0">
                          <a:effectLst/>
                          <a:latin typeface="Courier" pitchFamily="2" charset="0"/>
                        </a:rPr>
                        <a:t> </a:t>
                      </a:r>
                      <a:r>
                        <a:rPr lang="en-US" sz="1800" dirty="0" err="1">
                          <a:effectLst/>
                          <a:latin typeface="Courier" pitchFamily="2" charset="0"/>
                        </a:rPr>
                        <a:t>grikp</a:t>
                      </a:r>
                      <a:r>
                        <a:rPr lang="en-US" sz="1800" dirty="0">
                          <a:effectLst/>
                          <a:latin typeface="Courier" pitchFamily="2" charset="0"/>
                        </a:rPr>
                        <a:t> </a:t>
                      </a:r>
                      <a:endParaRPr dirty="0"/>
                    </a:p>
                  </a:txBody>
                  <a:tcPr/>
                </a:tc>
                <a:extLst>
                  <a:ext uri="{0D108BD9-81ED-4DB2-BD59-A6C34878D82A}">
                    <a16:rowId xmlns:a16="http://schemas.microsoft.com/office/drawing/2014/main" val="2441986589"/>
                  </a:ext>
                </a:extLst>
              </a:tr>
              <a:tr h="370840">
                <a:tc>
                  <a:txBody>
                    <a:bodyPr/>
                    <a:lstStyle/>
                    <a:p>
                      <a:r>
                        <a:rPr lang="vi-VN" dirty="0"/>
                        <a:t>13</a:t>
                      </a:r>
                      <a:endParaRPr dirty="0"/>
                    </a:p>
                  </a:txBody>
                  <a:tcPr/>
                </a:tc>
                <a:tc>
                  <a:txBody>
                    <a:bodyPr/>
                    <a:lstStyle/>
                    <a:p>
                      <a:r>
                        <a:rPr lang="en-US" sz="1800" dirty="0" err="1">
                          <a:effectLst/>
                          <a:latin typeface="Courier" pitchFamily="2" charset="0"/>
                        </a:rPr>
                        <a:t>cuuj</a:t>
                      </a:r>
                      <a:r>
                        <a:rPr lang="en-US" sz="1800" dirty="0">
                          <a:effectLst/>
                          <a:latin typeface="Courier" pitchFamily="2" charset="0"/>
                        </a:rPr>
                        <a:t> cu </a:t>
                      </a:r>
                      <a:r>
                        <a:rPr lang="en-US" sz="1800" dirty="0" err="1">
                          <a:effectLst/>
                          <a:latin typeface="Courier" pitchFamily="2" charset="0"/>
                        </a:rPr>
                        <a:t>qvjuh</a:t>
                      </a:r>
                      <a:r>
                        <a:rPr lang="en-US" sz="1800" dirty="0">
                          <a:effectLst/>
                          <a:latin typeface="Courier" pitchFamily="2" charset="0"/>
                        </a:rPr>
                        <a:t> </a:t>
                      </a:r>
                      <a:r>
                        <a:rPr lang="en-US" sz="1800" dirty="0" err="1">
                          <a:effectLst/>
                          <a:latin typeface="Courier" pitchFamily="2" charset="0"/>
                        </a:rPr>
                        <a:t>jxu</a:t>
                      </a:r>
                      <a:r>
                        <a:rPr lang="en-US" sz="1800" dirty="0">
                          <a:effectLst/>
                          <a:latin typeface="Courier" pitchFamily="2" charset="0"/>
                        </a:rPr>
                        <a:t> </a:t>
                      </a:r>
                      <a:r>
                        <a:rPr lang="en-US" sz="1800" dirty="0" err="1">
                          <a:effectLst/>
                          <a:latin typeface="Courier" pitchFamily="2" charset="0"/>
                        </a:rPr>
                        <a:t>jewq</a:t>
                      </a:r>
                      <a:r>
                        <a:rPr lang="en-US" sz="1800" dirty="0">
                          <a:effectLst/>
                          <a:latin typeface="Courier" pitchFamily="2" charset="0"/>
                        </a:rPr>
                        <a:t> </a:t>
                      </a:r>
                      <a:r>
                        <a:rPr lang="en-US" sz="1800" dirty="0" err="1">
                          <a:effectLst/>
                          <a:latin typeface="Courier" pitchFamily="2" charset="0"/>
                        </a:rPr>
                        <a:t>fqhjo</a:t>
                      </a:r>
                      <a:r>
                        <a:rPr lang="en-US" sz="1800" dirty="0">
                          <a:effectLst/>
                          <a:latin typeface="Courier" pitchFamily="2" charset="0"/>
                        </a:rPr>
                        <a:t> </a:t>
                      </a:r>
                      <a:endParaRPr dirty="0"/>
                    </a:p>
                  </a:txBody>
                  <a:tcPr/>
                </a:tc>
                <a:extLst>
                  <a:ext uri="{0D108BD9-81ED-4DB2-BD59-A6C34878D82A}">
                    <a16:rowId xmlns:a16="http://schemas.microsoft.com/office/drawing/2014/main" val="2958641355"/>
                  </a:ext>
                </a:extLst>
              </a:tr>
            </a:tbl>
          </a:graphicData>
        </a:graphic>
      </p:graphicFrame>
      <p:sp>
        <p:nvSpPr>
          <p:cNvPr id="12" name="TextBox 11">
            <a:extLst>
              <a:ext uri="{FF2B5EF4-FFF2-40B4-BE49-F238E27FC236}">
                <a16:creationId xmlns:a16="http://schemas.microsoft.com/office/drawing/2014/main" id="{81070CC9-B90D-9518-2F06-2AE2B6854913}"/>
              </a:ext>
            </a:extLst>
          </p:cNvPr>
          <p:cNvSpPr txBox="1"/>
          <p:nvPr/>
        </p:nvSpPr>
        <p:spPr>
          <a:xfrm>
            <a:off x="6404262" y="2836830"/>
            <a:ext cx="2504661" cy="923330"/>
          </a:xfrm>
          <a:prstGeom prst="rect">
            <a:avLst/>
          </a:prstGeom>
          <a:noFill/>
        </p:spPr>
        <p:txBody>
          <a:bodyPr wrap="square">
            <a:spAutoFit/>
          </a:bodyPr>
          <a:lstStyle/>
          <a:p>
            <a:r>
              <a:rPr lang="en-US" sz="1800" dirty="0">
                <a:effectLst/>
                <a:latin typeface="TimesTen"/>
              </a:rPr>
              <a:t>Brute-Force Cryptanalysis of Caesar Cipher </a:t>
            </a:r>
            <a:endParaRPr lang="en-US" dirty="0"/>
          </a:p>
        </p:txBody>
      </p:sp>
    </p:spTree>
    <p:extLst>
      <p:ext uri="{BB962C8B-B14F-4D97-AF65-F5344CB8AC3E}">
        <p14:creationId xmlns:p14="http://schemas.microsoft.com/office/powerpoint/2010/main" val="4154706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01753D-3E9A-6E5C-A3C3-A050134356CC}"/>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8A1E6D82-C3D8-E946-B3AC-56FE379BEFA6}"/>
              </a:ext>
            </a:extLst>
          </p:cNvPr>
          <p:cNvSpPr>
            <a:spLocks noGrp="1"/>
          </p:cNvSpPr>
          <p:nvPr>
            <p:ph type="title"/>
          </p:nvPr>
        </p:nvSpPr>
        <p:spPr/>
        <p:txBody>
          <a:bodyPr/>
          <a:lstStyle/>
          <a:p>
            <a:r>
              <a:rPr lang="en-US" altLang="en-US" sz="2800" baseline="0" dirty="0"/>
              <a:t>Monoalphabetic Ciphers: </a:t>
            </a:r>
            <a:r>
              <a:rPr lang="en-US" altLang="en-US" sz="2800" baseline="0" dirty="0" err="1"/>
              <a:t>Mã</a:t>
            </a:r>
            <a:r>
              <a:rPr lang="en-US" altLang="en-US" sz="2800" baseline="0" dirty="0"/>
              <a:t> </a:t>
            </a:r>
            <a:r>
              <a:rPr lang="en-US" altLang="en-US" sz="2800" baseline="0" dirty="0" err="1"/>
              <a:t>đơn</a:t>
            </a:r>
            <a:r>
              <a:rPr lang="en-US" altLang="en-US" sz="2800" baseline="0" dirty="0"/>
              <a:t> </a:t>
            </a:r>
            <a:r>
              <a:rPr lang="en-US" altLang="en-US" sz="2800" baseline="0" dirty="0" err="1"/>
              <a:t>ký</a:t>
            </a:r>
            <a:r>
              <a:rPr lang="en-US" altLang="en-US" sz="2800" baseline="0" dirty="0"/>
              <a:t> </a:t>
            </a:r>
            <a:r>
              <a:rPr lang="en-US" altLang="en-US" sz="2800" baseline="0" dirty="0" err="1"/>
              <a:t>tự</a:t>
            </a:r>
            <a:endParaRPr dirty="0"/>
          </a:p>
        </p:txBody>
      </p:sp>
      <p:graphicFrame>
        <p:nvGraphicFramePr>
          <p:cNvPr id="5" name="Table 5">
            <a:extLst>
              <a:ext uri="{FF2B5EF4-FFF2-40B4-BE49-F238E27FC236}">
                <a16:creationId xmlns:a16="http://schemas.microsoft.com/office/drawing/2014/main" id="{9BBBC78D-1056-E417-8174-969C3062F4F0}"/>
              </a:ext>
            </a:extLst>
          </p:cNvPr>
          <p:cNvGraphicFramePr>
            <a:graphicFrameLocks noGrp="1"/>
          </p:cNvGraphicFramePr>
          <p:nvPr>
            <p:ph sz="quarter" idx="13"/>
            <p:extLst>
              <p:ext uri="{D42A27DB-BD31-4B8C-83A1-F6EECF244321}">
                <p14:modId xmlns:p14="http://schemas.microsoft.com/office/powerpoint/2010/main" val="979455619"/>
              </p:ext>
            </p:extLst>
          </p:nvPr>
        </p:nvGraphicFramePr>
        <p:xfrm>
          <a:off x="235077" y="1018540"/>
          <a:ext cx="5344214" cy="4820920"/>
        </p:xfrm>
        <a:graphic>
          <a:graphicData uri="http://schemas.openxmlformats.org/drawingml/2006/table">
            <a:tbl>
              <a:tblPr firstRow="1" bandRow="1">
                <a:tableStyleId>{5C22544A-7EE6-4342-B048-85BDC9FD1C3A}</a:tableStyleId>
              </a:tblPr>
              <a:tblGrid>
                <a:gridCol w="617715">
                  <a:extLst>
                    <a:ext uri="{9D8B030D-6E8A-4147-A177-3AD203B41FA5}">
                      <a16:colId xmlns:a16="http://schemas.microsoft.com/office/drawing/2014/main" val="1357656555"/>
                    </a:ext>
                  </a:extLst>
                </a:gridCol>
                <a:gridCol w="4726499">
                  <a:extLst>
                    <a:ext uri="{9D8B030D-6E8A-4147-A177-3AD203B41FA5}">
                      <a16:colId xmlns:a16="http://schemas.microsoft.com/office/drawing/2014/main" val="3339438198"/>
                    </a:ext>
                  </a:extLst>
                </a:gridCol>
              </a:tblGrid>
              <a:tr h="370840">
                <a:tc>
                  <a:txBody>
                    <a:bodyPr/>
                    <a:lstStyle/>
                    <a:p>
                      <a:r>
                        <a:rPr lang="vi-VN" dirty="0"/>
                        <a:t>Key</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urier" pitchFamily="2" charset="0"/>
                        </a:rPr>
                        <a:t>PHHW PH DIWHU WKH WRJD SDUWB KEY </a:t>
                      </a:r>
                      <a:endParaRPr lang="en-US" dirty="0">
                        <a:effectLst/>
                      </a:endParaRPr>
                    </a:p>
                  </a:txBody>
                  <a:tcPr/>
                </a:tc>
                <a:extLst>
                  <a:ext uri="{0D108BD9-81ED-4DB2-BD59-A6C34878D82A}">
                    <a16:rowId xmlns:a16="http://schemas.microsoft.com/office/drawing/2014/main" val="3786927446"/>
                  </a:ext>
                </a:extLst>
              </a:tr>
              <a:tr h="370840">
                <a:tc>
                  <a:txBody>
                    <a:bodyPr/>
                    <a:lstStyle/>
                    <a:p>
                      <a:r>
                        <a:rPr lang="vi-VN" dirty="0"/>
                        <a:t>14</a:t>
                      </a:r>
                      <a:endParaRPr dirty="0"/>
                    </a:p>
                  </a:txBody>
                  <a:tcPr/>
                </a:tc>
                <a:tc>
                  <a:txBody>
                    <a:bodyPr/>
                    <a:lstStyle/>
                    <a:p>
                      <a:r>
                        <a:rPr lang="en-US" sz="1800" dirty="0" err="1">
                          <a:effectLst/>
                          <a:latin typeface="Courier" pitchFamily="2" charset="0"/>
                        </a:rPr>
                        <a:t>btti</a:t>
                      </a:r>
                      <a:r>
                        <a:rPr lang="en-US" sz="1800" dirty="0">
                          <a:effectLst/>
                          <a:latin typeface="Courier" pitchFamily="2" charset="0"/>
                        </a:rPr>
                        <a:t> </a:t>
                      </a:r>
                      <a:r>
                        <a:rPr lang="en-US" sz="1800" dirty="0" err="1">
                          <a:effectLst/>
                          <a:latin typeface="Courier" pitchFamily="2" charset="0"/>
                        </a:rPr>
                        <a:t>bt</a:t>
                      </a:r>
                      <a:r>
                        <a:rPr lang="en-US" sz="1800" dirty="0">
                          <a:effectLst/>
                          <a:latin typeface="Courier" pitchFamily="2" charset="0"/>
                        </a:rPr>
                        <a:t> </a:t>
                      </a:r>
                      <a:r>
                        <a:rPr lang="en-US" sz="1800" dirty="0" err="1">
                          <a:effectLst/>
                          <a:latin typeface="Courier" pitchFamily="2" charset="0"/>
                        </a:rPr>
                        <a:t>puitg</a:t>
                      </a:r>
                      <a:r>
                        <a:rPr lang="en-US" sz="1800" dirty="0">
                          <a:effectLst/>
                          <a:latin typeface="Courier" pitchFamily="2" charset="0"/>
                        </a:rPr>
                        <a:t> </a:t>
                      </a:r>
                      <a:r>
                        <a:rPr lang="en-US" sz="1800" dirty="0" err="1">
                          <a:effectLst/>
                          <a:latin typeface="Courier" pitchFamily="2" charset="0"/>
                        </a:rPr>
                        <a:t>iwt</a:t>
                      </a:r>
                      <a:r>
                        <a:rPr lang="en-US" sz="1800" dirty="0">
                          <a:effectLst/>
                          <a:latin typeface="Courier" pitchFamily="2" charset="0"/>
                        </a:rPr>
                        <a:t> </a:t>
                      </a:r>
                      <a:r>
                        <a:rPr lang="en-US" sz="1800" dirty="0" err="1">
                          <a:effectLst/>
                          <a:latin typeface="Courier" pitchFamily="2" charset="0"/>
                        </a:rPr>
                        <a:t>idvp</a:t>
                      </a:r>
                      <a:r>
                        <a:rPr lang="en-US" sz="1800" dirty="0">
                          <a:effectLst/>
                          <a:latin typeface="Courier" pitchFamily="2" charset="0"/>
                        </a:rPr>
                        <a:t> </a:t>
                      </a:r>
                      <a:r>
                        <a:rPr lang="en-US" sz="1800" dirty="0" err="1">
                          <a:effectLst/>
                          <a:latin typeface="Courier" pitchFamily="2" charset="0"/>
                        </a:rPr>
                        <a:t>epgin</a:t>
                      </a:r>
                      <a:r>
                        <a:rPr lang="en-US" sz="1800" dirty="0">
                          <a:effectLst/>
                          <a:latin typeface="Courier" pitchFamily="2" charset="0"/>
                        </a:rPr>
                        <a:t> </a:t>
                      </a:r>
                      <a:endParaRPr dirty="0"/>
                    </a:p>
                  </a:txBody>
                  <a:tcPr/>
                </a:tc>
                <a:extLst>
                  <a:ext uri="{0D108BD9-81ED-4DB2-BD59-A6C34878D82A}">
                    <a16:rowId xmlns:a16="http://schemas.microsoft.com/office/drawing/2014/main" val="2825785751"/>
                  </a:ext>
                </a:extLst>
              </a:tr>
              <a:tr h="370840">
                <a:tc>
                  <a:txBody>
                    <a:bodyPr/>
                    <a:lstStyle/>
                    <a:p>
                      <a:r>
                        <a:rPr lang="vi-VN" dirty="0"/>
                        <a:t>15</a:t>
                      </a:r>
                      <a:endParaRPr dirty="0"/>
                    </a:p>
                  </a:txBody>
                  <a:tcPr/>
                </a:tc>
                <a:tc>
                  <a:txBody>
                    <a:bodyPr/>
                    <a:lstStyle/>
                    <a:p>
                      <a:r>
                        <a:rPr lang="en-US" sz="1800" dirty="0" err="1">
                          <a:effectLst/>
                          <a:latin typeface="Courier" pitchFamily="2" charset="0"/>
                        </a:rPr>
                        <a:t>assh</a:t>
                      </a:r>
                      <a:r>
                        <a:rPr lang="en-US" sz="1800" dirty="0">
                          <a:effectLst/>
                          <a:latin typeface="Courier" pitchFamily="2" charset="0"/>
                        </a:rPr>
                        <a:t> as </a:t>
                      </a:r>
                      <a:r>
                        <a:rPr lang="en-US" sz="1800" dirty="0" err="1">
                          <a:effectLst/>
                          <a:latin typeface="Courier" pitchFamily="2" charset="0"/>
                        </a:rPr>
                        <a:t>othsf</a:t>
                      </a:r>
                      <a:r>
                        <a:rPr lang="en-US" sz="1800" dirty="0">
                          <a:effectLst/>
                          <a:latin typeface="Courier" pitchFamily="2" charset="0"/>
                        </a:rPr>
                        <a:t> </a:t>
                      </a:r>
                      <a:r>
                        <a:rPr lang="en-US" sz="1800" dirty="0" err="1">
                          <a:effectLst/>
                          <a:latin typeface="Courier" pitchFamily="2" charset="0"/>
                        </a:rPr>
                        <a:t>hvs</a:t>
                      </a:r>
                      <a:r>
                        <a:rPr lang="en-US" sz="1800" dirty="0">
                          <a:effectLst/>
                          <a:latin typeface="Courier" pitchFamily="2" charset="0"/>
                        </a:rPr>
                        <a:t> </a:t>
                      </a:r>
                      <a:r>
                        <a:rPr lang="en-US" sz="1800" dirty="0" err="1">
                          <a:effectLst/>
                          <a:latin typeface="Courier" pitchFamily="2" charset="0"/>
                        </a:rPr>
                        <a:t>hcuo</a:t>
                      </a:r>
                      <a:r>
                        <a:rPr lang="en-US" sz="1800" dirty="0">
                          <a:effectLst/>
                          <a:latin typeface="Courier" pitchFamily="2" charset="0"/>
                        </a:rPr>
                        <a:t> </a:t>
                      </a:r>
                      <a:r>
                        <a:rPr lang="en-US" sz="1800" dirty="0" err="1">
                          <a:effectLst/>
                          <a:latin typeface="Courier" pitchFamily="2" charset="0"/>
                        </a:rPr>
                        <a:t>dofhm</a:t>
                      </a:r>
                      <a:r>
                        <a:rPr lang="en-US" sz="1800" dirty="0">
                          <a:effectLst/>
                          <a:latin typeface="Courier" pitchFamily="2" charset="0"/>
                        </a:rPr>
                        <a:t> </a:t>
                      </a:r>
                      <a:endParaRPr dirty="0"/>
                    </a:p>
                  </a:txBody>
                  <a:tcPr/>
                </a:tc>
                <a:extLst>
                  <a:ext uri="{0D108BD9-81ED-4DB2-BD59-A6C34878D82A}">
                    <a16:rowId xmlns:a16="http://schemas.microsoft.com/office/drawing/2014/main" val="2845713171"/>
                  </a:ext>
                </a:extLst>
              </a:tr>
              <a:tr h="370840">
                <a:tc>
                  <a:txBody>
                    <a:bodyPr/>
                    <a:lstStyle/>
                    <a:p>
                      <a:r>
                        <a:rPr lang="vi-VN" dirty="0"/>
                        <a:t>16</a:t>
                      </a:r>
                      <a:endParaRPr dirty="0"/>
                    </a:p>
                  </a:txBody>
                  <a:tcPr/>
                </a:tc>
                <a:tc>
                  <a:txBody>
                    <a:bodyPr/>
                    <a:lstStyle/>
                    <a:p>
                      <a:r>
                        <a:rPr lang="en-US" sz="1800" dirty="0" err="1">
                          <a:effectLst/>
                          <a:latin typeface="Courier" pitchFamily="2" charset="0"/>
                        </a:rPr>
                        <a:t>zrrg</a:t>
                      </a:r>
                      <a:r>
                        <a:rPr lang="en-US" sz="1800" dirty="0">
                          <a:effectLst/>
                          <a:latin typeface="Courier" pitchFamily="2" charset="0"/>
                        </a:rPr>
                        <a:t> </a:t>
                      </a:r>
                      <a:r>
                        <a:rPr lang="en-US" sz="1800" dirty="0" err="1">
                          <a:effectLst/>
                          <a:latin typeface="Courier" pitchFamily="2" charset="0"/>
                        </a:rPr>
                        <a:t>zr</a:t>
                      </a:r>
                      <a:r>
                        <a:rPr lang="en-US" sz="1800" dirty="0">
                          <a:effectLst/>
                          <a:latin typeface="Courier" pitchFamily="2" charset="0"/>
                        </a:rPr>
                        <a:t> </a:t>
                      </a:r>
                      <a:r>
                        <a:rPr lang="en-US" sz="1800" dirty="0" err="1">
                          <a:effectLst/>
                          <a:latin typeface="Courier" pitchFamily="2" charset="0"/>
                        </a:rPr>
                        <a:t>nsgre</a:t>
                      </a:r>
                      <a:r>
                        <a:rPr lang="en-US" sz="1800" dirty="0">
                          <a:effectLst/>
                          <a:latin typeface="Courier" pitchFamily="2" charset="0"/>
                        </a:rPr>
                        <a:t> </a:t>
                      </a:r>
                      <a:r>
                        <a:rPr lang="en-US" sz="1800" dirty="0" err="1">
                          <a:effectLst/>
                          <a:latin typeface="Courier" pitchFamily="2" charset="0"/>
                        </a:rPr>
                        <a:t>gur</a:t>
                      </a:r>
                      <a:r>
                        <a:rPr lang="en-US" sz="1800" dirty="0">
                          <a:effectLst/>
                          <a:latin typeface="Courier" pitchFamily="2" charset="0"/>
                        </a:rPr>
                        <a:t> </a:t>
                      </a:r>
                      <a:r>
                        <a:rPr lang="en-US" sz="1800" dirty="0" err="1">
                          <a:effectLst/>
                          <a:latin typeface="Courier" pitchFamily="2" charset="0"/>
                        </a:rPr>
                        <a:t>gbtn</a:t>
                      </a:r>
                      <a:r>
                        <a:rPr lang="en-US" sz="1800" dirty="0">
                          <a:effectLst/>
                          <a:latin typeface="Courier" pitchFamily="2" charset="0"/>
                        </a:rPr>
                        <a:t> </a:t>
                      </a:r>
                      <a:r>
                        <a:rPr lang="en-US" sz="1800" dirty="0" err="1">
                          <a:effectLst/>
                          <a:latin typeface="Courier" pitchFamily="2" charset="0"/>
                        </a:rPr>
                        <a:t>cnegl</a:t>
                      </a:r>
                      <a:r>
                        <a:rPr lang="en-US" sz="1800" dirty="0">
                          <a:effectLst/>
                          <a:latin typeface="Courier" pitchFamily="2" charset="0"/>
                        </a:rPr>
                        <a:t> </a:t>
                      </a:r>
                      <a:endParaRPr dirty="0"/>
                    </a:p>
                  </a:txBody>
                  <a:tcPr/>
                </a:tc>
                <a:extLst>
                  <a:ext uri="{0D108BD9-81ED-4DB2-BD59-A6C34878D82A}">
                    <a16:rowId xmlns:a16="http://schemas.microsoft.com/office/drawing/2014/main" val="2239519528"/>
                  </a:ext>
                </a:extLst>
              </a:tr>
              <a:tr h="370840">
                <a:tc>
                  <a:txBody>
                    <a:bodyPr/>
                    <a:lstStyle/>
                    <a:p>
                      <a:r>
                        <a:rPr lang="vi-VN" dirty="0"/>
                        <a:t>17</a:t>
                      </a:r>
                      <a:endParaRPr dirty="0"/>
                    </a:p>
                  </a:txBody>
                  <a:tcPr/>
                </a:tc>
                <a:tc>
                  <a:txBody>
                    <a:bodyPr/>
                    <a:lstStyle/>
                    <a:p>
                      <a:r>
                        <a:rPr lang="en-US" sz="1800" dirty="0" err="1">
                          <a:effectLst/>
                          <a:latin typeface="Courier" pitchFamily="2" charset="0"/>
                        </a:rPr>
                        <a:t>yqqf</a:t>
                      </a:r>
                      <a:r>
                        <a:rPr lang="en-US" sz="1800" dirty="0">
                          <a:effectLst/>
                          <a:latin typeface="Courier" pitchFamily="2" charset="0"/>
                        </a:rPr>
                        <a:t> </a:t>
                      </a:r>
                      <a:r>
                        <a:rPr lang="en-US" sz="1800" dirty="0" err="1">
                          <a:effectLst/>
                          <a:latin typeface="Courier" pitchFamily="2" charset="0"/>
                        </a:rPr>
                        <a:t>yq</a:t>
                      </a:r>
                      <a:r>
                        <a:rPr lang="en-US" sz="1800" dirty="0">
                          <a:effectLst/>
                          <a:latin typeface="Courier" pitchFamily="2" charset="0"/>
                        </a:rPr>
                        <a:t> </a:t>
                      </a:r>
                      <a:r>
                        <a:rPr lang="en-US" sz="1800" dirty="0" err="1">
                          <a:effectLst/>
                          <a:latin typeface="Courier" pitchFamily="2" charset="0"/>
                        </a:rPr>
                        <a:t>mrfqd</a:t>
                      </a:r>
                      <a:r>
                        <a:rPr lang="en-US" sz="1800" dirty="0">
                          <a:effectLst/>
                          <a:latin typeface="Courier" pitchFamily="2" charset="0"/>
                        </a:rPr>
                        <a:t> </a:t>
                      </a:r>
                      <a:r>
                        <a:rPr lang="en-US" sz="1800" dirty="0" err="1">
                          <a:effectLst/>
                          <a:latin typeface="Courier" pitchFamily="2" charset="0"/>
                        </a:rPr>
                        <a:t>ftq</a:t>
                      </a:r>
                      <a:r>
                        <a:rPr lang="en-US" sz="1800" dirty="0">
                          <a:effectLst/>
                          <a:latin typeface="Courier" pitchFamily="2" charset="0"/>
                        </a:rPr>
                        <a:t> </a:t>
                      </a:r>
                      <a:r>
                        <a:rPr lang="en-US" sz="1800" dirty="0" err="1">
                          <a:effectLst/>
                          <a:latin typeface="Courier" pitchFamily="2" charset="0"/>
                        </a:rPr>
                        <a:t>fasm</a:t>
                      </a:r>
                      <a:r>
                        <a:rPr lang="en-US" sz="1800" dirty="0">
                          <a:effectLst/>
                          <a:latin typeface="Courier" pitchFamily="2" charset="0"/>
                        </a:rPr>
                        <a:t> </a:t>
                      </a:r>
                      <a:r>
                        <a:rPr lang="en-US" sz="1800" dirty="0" err="1">
                          <a:effectLst/>
                          <a:latin typeface="Courier" pitchFamily="2" charset="0"/>
                        </a:rPr>
                        <a:t>bmdfk</a:t>
                      </a:r>
                      <a:r>
                        <a:rPr lang="en-US" sz="1800" dirty="0">
                          <a:effectLst/>
                          <a:latin typeface="Courier" pitchFamily="2" charset="0"/>
                        </a:rPr>
                        <a:t> </a:t>
                      </a:r>
                      <a:endParaRPr dirty="0"/>
                    </a:p>
                  </a:txBody>
                  <a:tcPr/>
                </a:tc>
                <a:extLst>
                  <a:ext uri="{0D108BD9-81ED-4DB2-BD59-A6C34878D82A}">
                    <a16:rowId xmlns:a16="http://schemas.microsoft.com/office/drawing/2014/main" val="3676111067"/>
                  </a:ext>
                </a:extLst>
              </a:tr>
              <a:tr h="370840">
                <a:tc>
                  <a:txBody>
                    <a:bodyPr/>
                    <a:lstStyle/>
                    <a:p>
                      <a:r>
                        <a:rPr lang="vi-VN" dirty="0"/>
                        <a:t>18</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xppe</a:t>
                      </a:r>
                      <a:r>
                        <a:rPr lang="en-US" sz="1800" dirty="0">
                          <a:effectLst/>
                          <a:latin typeface="Courier" pitchFamily="2" charset="0"/>
                        </a:rPr>
                        <a:t> </a:t>
                      </a:r>
                      <a:r>
                        <a:rPr lang="en-US" sz="1800" dirty="0" err="1">
                          <a:effectLst/>
                          <a:latin typeface="Courier" pitchFamily="2" charset="0"/>
                        </a:rPr>
                        <a:t>xp</a:t>
                      </a:r>
                      <a:r>
                        <a:rPr lang="en-US" sz="1800" dirty="0">
                          <a:effectLst/>
                          <a:latin typeface="Courier" pitchFamily="2" charset="0"/>
                        </a:rPr>
                        <a:t> </a:t>
                      </a:r>
                      <a:r>
                        <a:rPr lang="en-US" sz="1800" dirty="0" err="1">
                          <a:effectLst/>
                          <a:latin typeface="Courier" pitchFamily="2" charset="0"/>
                        </a:rPr>
                        <a:t>lqepc</a:t>
                      </a:r>
                      <a:r>
                        <a:rPr lang="en-US" sz="1800" dirty="0">
                          <a:effectLst/>
                          <a:latin typeface="Courier" pitchFamily="2" charset="0"/>
                        </a:rPr>
                        <a:t> </a:t>
                      </a:r>
                      <a:r>
                        <a:rPr lang="en-US" sz="1800" dirty="0" err="1">
                          <a:effectLst/>
                          <a:latin typeface="Courier" pitchFamily="2" charset="0"/>
                        </a:rPr>
                        <a:t>esp</a:t>
                      </a:r>
                      <a:r>
                        <a:rPr lang="en-US" sz="1800" dirty="0">
                          <a:effectLst/>
                          <a:latin typeface="Courier" pitchFamily="2" charset="0"/>
                        </a:rPr>
                        <a:t> </a:t>
                      </a:r>
                      <a:r>
                        <a:rPr lang="en-US" sz="1800" dirty="0" err="1">
                          <a:effectLst/>
                          <a:latin typeface="Courier" pitchFamily="2" charset="0"/>
                        </a:rPr>
                        <a:t>ezrl</a:t>
                      </a:r>
                      <a:r>
                        <a:rPr lang="en-US" sz="1800" dirty="0">
                          <a:effectLst/>
                          <a:latin typeface="Courier" pitchFamily="2" charset="0"/>
                        </a:rPr>
                        <a:t> </a:t>
                      </a:r>
                      <a:r>
                        <a:rPr lang="en-US" sz="1800" dirty="0" err="1">
                          <a:effectLst/>
                          <a:latin typeface="Courier" pitchFamily="2" charset="0"/>
                        </a:rPr>
                        <a:t>alcej</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844510232"/>
                  </a:ext>
                </a:extLst>
              </a:tr>
              <a:tr h="370840">
                <a:tc>
                  <a:txBody>
                    <a:bodyPr/>
                    <a:lstStyle/>
                    <a:p>
                      <a:r>
                        <a:rPr lang="vi-VN" dirty="0"/>
                        <a:t>19</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urier" pitchFamily="2" charset="0"/>
                        </a:rPr>
                        <a:t>wood wo </a:t>
                      </a:r>
                      <a:r>
                        <a:rPr lang="en-US" sz="1800" dirty="0" err="1">
                          <a:effectLst/>
                          <a:latin typeface="Courier" pitchFamily="2" charset="0"/>
                        </a:rPr>
                        <a:t>kpdob</a:t>
                      </a:r>
                      <a:r>
                        <a:rPr lang="en-US" sz="1800" dirty="0">
                          <a:effectLst/>
                          <a:latin typeface="Courier" pitchFamily="2" charset="0"/>
                        </a:rPr>
                        <a:t> </a:t>
                      </a:r>
                      <a:r>
                        <a:rPr lang="en-US" sz="1800" dirty="0" err="1">
                          <a:effectLst/>
                          <a:latin typeface="Courier" pitchFamily="2" charset="0"/>
                        </a:rPr>
                        <a:t>dro</a:t>
                      </a:r>
                      <a:r>
                        <a:rPr lang="en-US" sz="1800" dirty="0">
                          <a:effectLst/>
                          <a:latin typeface="Courier" pitchFamily="2" charset="0"/>
                        </a:rPr>
                        <a:t> </a:t>
                      </a:r>
                      <a:r>
                        <a:rPr lang="en-US" sz="1800" dirty="0" err="1">
                          <a:effectLst/>
                          <a:latin typeface="Courier" pitchFamily="2" charset="0"/>
                        </a:rPr>
                        <a:t>dyqk</a:t>
                      </a:r>
                      <a:r>
                        <a:rPr lang="en-US" sz="1800" dirty="0">
                          <a:effectLst/>
                          <a:latin typeface="Courier" pitchFamily="2" charset="0"/>
                        </a:rPr>
                        <a:t> </a:t>
                      </a:r>
                      <a:r>
                        <a:rPr lang="en-US" sz="1800" dirty="0" err="1">
                          <a:effectLst/>
                          <a:latin typeface="Courier" pitchFamily="2" charset="0"/>
                        </a:rPr>
                        <a:t>zkbdi</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567542185"/>
                  </a:ext>
                </a:extLst>
              </a:tr>
              <a:tr h="370840">
                <a:tc>
                  <a:txBody>
                    <a:bodyPr/>
                    <a:lstStyle/>
                    <a:p>
                      <a:r>
                        <a:rPr lang="vi-VN" dirty="0"/>
                        <a:t>20</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vnnc</a:t>
                      </a:r>
                      <a:r>
                        <a:rPr lang="en-US" sz="1800" dirty="0">
                          <a:effectLst/>
                          <a:latin typeface="Courier" pitchFamily="2" charset="0"/>
                        </a:rPr>
                        <a:t> </a:t>
                      </a:r>
                      <a:r>
                        <a:rPr lang="en-US" sz="1800" dirty="0" err="1">
                          <a:effectLst/>
                          <a:latin typeface="Courier" pitchFamily="2" charset="0"/>
                        </a:rPr>
                        <a:t>vn</a:t>
                      </a:r>
                      <a:r>
                        <a:rPr lang="en-US" sz="1800" dirty="0">
                          <a:effectLst/>
                          <a:latin typeface="Courier" pitchFamily="2" charset="0"/>
                        </a:rPr>
                        <a:t> </a:t>
                      </a:r>
                      <a:r>
                        <a:rPr lang="en-US" sz="1800" dirty="0" err="1">
                          <a:effectLst/>
                          <a:latin typeface="Courier" pitchFamily="2" charset="0"/>
                        </a:rPr>
                        <a:t>jocna</a:t>
                      </a:r>
                      <a:r>
                        <a:rPr lang="en-US" sz="1800" dirty="0">
                          <a:effectLst/>
                          <a:latin typeface="Courier" pitchFamily="2" charset="0"/>
                        </a:rPr>
                        <a:t> </a:t>
                      </a:r>
                      <a:r>
                        <a:rPr lang="en-US" sz="1800" dirty="0" err="1">
                          <a:effectLst/>
                          <a:latin typeface="Courier" pitchFamily="2" charset="0"/>
                        </a:rPr>
                        <a:t>cqn</a:t>
                      </a:r>
                      <a:r>
                        <a:rPr lang="en-US" sz="1800" dirty="0">
                          <a:effectLst/>
                          <a:latin typeface="Courier" pitchFamily="2" charset="0"/>
                        </a:rPr>
                        <a:t> </a:t>
                      </a:r>
                      <a:r>
                        <a:rPr lang="en-US" sz="1800" dirty="0" err="1">
                          <a:effectLst/>
                          <a:latin typeface="Courier" pitchFamily="2" charset="0"/>
                        </a:rPr>
                        <a:t>cxpj</a:t>
                      </a:r>
                      <a:r>
                        <a:rPr lang="en-US" sz="1800" dirty="0">
                          <a:effectLst/>
                          <a:latin typeface="Courier" pitchFamily="2" charset="0"/>
                        </a:rPr>
                        <a:t> </a:t>
                      </a:r>
                      <a:r>
                        <a:rPr lang="en-US" sz="1800" dirty="0" err="1">
                          <a:effectLst/>
                          <a:latin typeface="Courier" pitchFamily="2" charset="0"/>
                        </a:rPr>
                        <a:t>yjach</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4165994"/>
                  </a:ext>
                </a:extLst>
              </a:tr>
              <a:tr h="370840">
                <a:tc>
                  <a:txBody>
                    <a:bodyPr/>
                    <a:lstStyle/>
                    <a:p>
                      <a:r>
                        <a:rPr lang="vi-VN" dirty="0"/>
                        <a:t>21</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ummb</a:t>
                      </a:r>
                      <a:r>
                        <a:rPr lang="en-US" sz="1800" dirty="0">
                          <a:effectLst/>
                          <a:latin typeface="Courier" pitchFamily="2" charset="0"/>
                        </a:rPr>
                        <a:t> um </a:t>
                      </a:r>
                      <a:r>
                        <a:rPr lang="en-US" sz="1800" dirty="0" err="1">
                          <a:effectLst/>
                          <a:latin typeface="Courier" pitchFamily="2" charset="0"/>
                        </a:rPr>
                        <a:t>inbmz</a:t>
                      </a:r>
                      <a:r>
                        <a:rPr lang="en-US" sz="1800" dirty="0">
                          <a:effectLst/>
                          <a:latin typeface="Courier" pitchFamily="2" charset="0"/>
                        </a:rPr>
                        <a:t> bpm </a:t>
                      </a:r>
                      <a:r>
                        <a:rPr lang="en-US" sz="1800" dirty="0" err="1">
                          <a:effectLst/>
                          <a:latin typeface="Courier" pitchFamily="2" charset="0"/>
                        </a:rPr>
                        <a:t>bwoi</a:t>
                      </a:r>
                      <a:r>
                        <a:rPr lang="en-US" sz="1800" dirty="0">
                          <a:effectLst/>
                          <a:latin typeface="Courier" pitchFamily="2" charset="0"/>
                        </a:rPr>
                        <a:t> </a:t>
                      </a:r>
                      <a:r>
                        <a:rPr lang="en-US" sz="1800" dirty="0" err="1">
                          <a:effectLst/>
                          <a:latin typeface="Courier" pitchFamily="2" charset="0"/>
                        </a:rPr>
                        <a:t>xizbg</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290038108"/>
                  </a:ext>
                </a:extLst>
              </a:tr>
              <a:tr h="370840">
                <a:tc>
                  <a:txBody>
                    <a:bodyPr/>
                    <a:lstStyle/>
                    <a:p>
                      <a:r>
                        <a:rPr lang="vi-VN" dirty="0"/>
                        <a:t>22</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tlla</a:t>
                      </a:r>
                      <a:r>
                        <a:rPr lang="en-US" sz="1800" dirty="0">
                          <a:effectLst/>
                          <a:latin typeface="Courier" pitchFamily="2" charset="0"/>
                        </a:rPr>
                        <a:t> </a:t>
                      </a:r>
                      <a:r>
                        <a:rPr lang="en-US" sz="1800" dirty="0" err="1">
                          <a:effectLst/>
                          <a:latin typeface="Courier" pitchFamily="2" charset="0"/>
                        </a:rPr>
                        <a:t>tl</a:t>
                      </a:r>
                      <a:r>
                        <a:rPr lang="en-US" sz="1800" dirty="0">
                          <a:effectLst/>
                          <a:latin typeface="Courier" pitchFamily="2" charset="0"/>
                        </a:rPr>
                        <a:t> </a:t>
                      </a:r>
                      <a:r>
                        <a:rPr lang="en-US" sz="1800" dirty="0" err="1">
                          <a:effectLst/>
                          <a:latin typeface="Courier" pitchFamily="2" charset="0"/>
                        </a:rPr>
                        <a:t>hmaly</a:t>
                      </a:r>
                      <a:r>
                        <a:rPr lang="en-US" sz="1800" dirty="0">
                          <a:effectLst/>
                          <a:latin typeface="Courier" pitchFamily="2" charset="0"/>
                        </a:rPr>
                        <a:t> </a:t>
                      </a:r>
                      <a:r>
                        <a:rPr lang="en-US" sz="1800" dirty="0" err="1">
                          <a:effectLst/>
                          <a:latin typeface="Courier" pitchFamily="2" charset="0"/>
                        </a:rPr>
                        <a:t>aol</a:t>
                      </a:r>
                      <a:r>
                        <a:rPr lang="en-US" sz="1800" dirty="0">
                          <a:effectLst/>
                          <a:latin typeface="Courier" pitchFamily="2" charset="0"/>
                        </a:rPr>
                        <a:t> </a:t>
                      </a:r>
                      <a:r>
                        <a:rPr lang="en-US" sz="1800" dirty="0" err="1">
                          <a:effectLst/>
                          <a:latin typeface="Courier" pitchFamily="2" charset="0"/>
                        </a:rPr>
                        <a:t>avnh</a:t>
                      </a:r>
                      <a:r>
                        <a:rPr lang="en-US" sz="1800" dirty="0">
                          <a:effectLst/>
                          <a:latin typeface="Courier" pitchFamily="2" charset="0"/>
                        </a:rPr>
                        <a:t> </a:t>
                      </a:r>
                      <a:r>
                        <a:rPr lang="en-US" sz="1800" dirty="0" err="1">
                          <a:effectLst/>
                          <a:latin typeface="Courier" pitchFamily="2" charset="0"/>
                        </a:rPr>
                        <a:t>whyaf</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34191265"/>
                  </a:ext>
                </a:extLst>
              </a:tr>
              <a:tr h="370840">
                <a:tc>
                  <a:txBody>
                    <a:bodyPr/>
                    <a:lstStyle/>
                    <a:p>
                      <a:r>
                        <a:rPr lang="vi-VN" dirty="0"/>
                        <a:t>23</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skkz</a:t>
                      </a:r>
                      <a:r>
                        <a:rPr lang="en-US" sz="1800" dirty="0">
                          <a:effectLst/>
                          <a:latin typeface="Courier" pitchFamily="2" charset="0"/>
                        </a:rPr>
                        <a:t> </a:t>
                      </a:r>
                      <a:r>
                        <a:rPr lang="en-US" sz="1800" dirty="0" err="1">
                          <a:effectLst/>
                          <a:latin typeface="Courier" pitchFamily="2" charset="0"/>
                        </a:rPr>
                        <a:t>sk</a:t>
                      </a:r>
                      <a:r>
                        <a:rPr lang="en-US" sz="1800" dirty="0">
                          <a:effectLst/>
                          <a:latin typeface="Courier" pitchFamily="2" charset="0"/>
                        </a:rPr>
                        <a:t> </a:t>
                      </a:r>
                      <a:r>
                        <a:rPr lang="en-US" sz="1800" dirty="0" err="1">
                          <a:effectLst/>
                          <a:latin typeface="Courier" pitchFamily="2" charset="0"/>
                        </a:rPr>
                        <a:t>glzkx</a:t>
                      </a:r>
                      <a:r>
                        <a:rPr lang="en-US" sz="1800" dirty="0">
                          <a:effectLst/>
                          <a:latin typeface="Courier" pitchFamily="2" charset="0"/>
                        </a:rPr>
                        <a:t> </a:t>
                      </a:r>
                      <a:r>
                        <a:rPr lang="en-US" sz="1800" dirty="0" err="1">
                          <a:effectLst/>
                          <a:latin typeface="Courier" pitchFamily="2" charset="0"/>
                        </a:rPr>
                        <a:t>znk</a:t>
                      </a:r>
                      <a:r>
                        <a:rPr lang="en-US" sz="1800" dirty="0">
                          <a:effectLst/>
                          <a:latin typeface="Courier" pitchFamily="2" charset="0"/>
                        </a:rPr>
                        <a:t> </a:t>
                      </a:r>
                      <a:r>
                        <a:rPr lang="en-US" sz="1800" dirty="0" err="1">
                          <a:effectLst/>
                          <a:latin typeface="Courier" pitchFamily="2" charset="0"/>
                        </a:rPr>
                        <a:t>zumg</a:t>
                      </a:r>
                      <a:r>
                        <a:rPr lang="en-US" sz="1800" dirty="0">
                          <a:effectLst/>
                          <a:latin typeface="Courier" pitchFamily="2" charset="0"/>
                        </a:rPr>
                        <a:t> </a:t>
                      </a:r>
                      <a:r>
                        <a:rPr lang="en-US" sz="1800" dirty="0" err="1">
                          <a:effectLst/>
                          <a:latin typeface="Courier" pitchFamily="2" charset="0"/>
                        </a:rPr>
                        <a:t>vgxze</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2229123567"/>
                  </a:ext>
                </a:extLst>
              </a:tr>
              <a:tr h="370840">
                <a:tc>
                  <a:txBody>
                    <a:bodyPr/>
                    <a:lstStyle/>
                    <a:p>
                      <a:r>
                        <a:rPr lang="vi-VN" dirty="0"/>
                        <a:t>24</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rjjy</a:t>
                      </a:r>
                      <a:r>
                        <a:rPr lang="en-US" sz="1800" dirty="0">
                          <a:effectLst/>
                          <a:latin typeface="Courier" pitchFamily="2" charset="0"/>
                        </a:rPr>
                        <a:t> </a:t>
                      </a:r>
                      <a:r>
                        <a:rPr lang="en-US" sz="1800" dirty="0" err="1">
                          <a:effectLst/>
                          <a:latin typeface="Courier" pitchFamily="2" charset="0"/>
                        </a:rPr>
                        <a:t>rj</a:t>
                      </a:r>
                      <a:r>
                        <a:rPr lang="en-US" sz="1800" dirty="0">
                          <a:effectLst/>
                          <a:latin typeface="Courier" pitchFamily="2" charset="0"/>
                        </a:rPr>
                        <a:t> </a:t>
                      </a:r>
                      <a:r>
                        <a:rPr lang="en-US" sz="1800" dirty="0" err="1">
                          <a:effectLst/>
                          <a:latin typeface="Courier" pitchFamily="2" charset="0"/>
                        </a:rPr>
                        <a:t>fkyjw</a:t>
                      </a:r>
                      <a:r>
                        <a:rPr lang="en-US" sz="1800" dirty="0">
                          <a:effectLst/>
                          <a:latin typeface="Courier" pitchFamily="2" charset="0"/>
                        </a:rPr>
                        <a:t> </a:t>
                      </a:r>
                      <a:r>
                        <a:rPr lang="en-US" sz="1800" dirty="0" err="1">
                          <a:effectLst/>
                          <a:latin typeface="Courier" pitchFamily="2" charset="0"/>
                        </a:rPr>
                        <a:t>ymj</a:t>
                      </a:r>
                      <a:r>
                        <a:rPr lang="en-US" sz="1800" dirty="0">
                          <a:effectLst/>
                          <a:latin typeface="Courier" pitchFamily="2" charset="0"/>
                        </a:rPr>
                        <a:t> </a:t>
                      </a:r>
                      <a:r>
                        <a:rPr lang="en-US" sz="1800" dirty="0" err="1">
                          <a:effectLst/>
                          <a:latin typeface="Courier" pitchFamily="2" charset="0"/>
                        </a:rPr>
                        <a:t>ytlf</a:t>
                      </a:r>
                      <a:r>
                        <a:rPr lang="en-US" sz="1800" dirty="0">
                          <a:effectLst/>
                          <a:latin typeface="Courier" pitchFamily="2" charset="0"/>
                        </a:rPr>
                        <a:t> </a:t>
                      </a:r>
                      <a:r>
                        <a:rPr lang="en-US" sz="1800" dirty="0" err="1">
                          <a:effectLst/>
                          <a:latin typeface="Courier" pitchFamily="2" charset="0"/>
                        </a:rPr>
                        <a:t>ufwyd</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1103051136"/>
                  </a:ext>
                </a:extLst>
              </a:tr>
              <a:tr h="370840">
                <a:tc>
                  <a:txBody>
                    <a:bodyPr/>
                    <a:lstStyle/>
                    <a:p>
                      <a:r>
                        <a:rPr lang="vi-VN" dirty="0"/>
                        <a:t>25</a:t>
                      </a:r>
                      <a:endParaRP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effectLst/>
                          <a:latin typeface="Courier" pitchFamily="2" charset="0"/>
                        </a:rPr>
                        <a:t>qiix</a:t>
                      </a:r>
                      <a:r>
                        <a:rPr lang="en-US" sz="1800" dirty="0">
                          <a:effectLst/>
                          <a:latin typeface="Courier" pitchFamily="2" charset="0"/>
                        </a:rPr>
                        <a:t> qi </a:t>
                      </a:r>
                      <a:r>
                        <a:rPr lang="en-US" sz="1800" dirty="0" err="1">
                          <a:effectLst/>
                          <a:latin typeface="Courier" pitchFamily="2" charset="0"/>
                        </a:rPr>
                        <a:t>ejxiv</a:t>
                      </a:r>
                      <a:r>
                        <a:rPr lang="en-US" sz="1800" dirty="0">
                          <a:effectLst/>
                          <a:latin typeface="Courier" pitchFamily="2" charset="0"/>
                        </a:rPr>
                        <a:t> xli </a:t>
                      </a:r>
                      <a:r>
                        <a:rPr lang="en-US" sz="1800" dirty="0" err="1">
                          <a:effectLst/>
                          <a:latin typeface="Courier" pitchFamily="2" charset="0"/>
                        </a:rPr>
                        <a:t>xske</a:t>
                      </a:r>
                      <a:r>
                        <a:rPr lang="en-US" sz="1800" dirty="0">
                          <a:effectLst/>
                          <a:latin typeface="Courier" pitchFamily="2" charset="0"/>
                        </a:rPr>
                        <a:t> </a:t>
                      </a:r>
                      <a:r>
                        <a:rPr lang="en-US" sz="1800" dirty="0" err="1">
                          <a:effectLst/>
                          <a:latin typeface="Courier" pitchFamily="2" charset="0"/>
                        </a:rPr>
                        <a:t>tevxc</a:t>
                      </a:r>
                      <a:r>
                        <a:rPr lang="en-US" sz="1800" dirty="0">
                          <a:effectLst/>
                          <a:latin typeface="Courier" pitchFamily="2" charset="0"/>
                        </a:rPr>
                        <a:t> </a:t>
                      </a:r>
                      <a:endParaRPr lang="en-US" dirty="0">
                        <a:effectLst/>
                      </a:endParaRPr>
                    </a:p>
                  </a:txBody>
                  <a:tcPr/>
                </a:tc>
                <a:extLst>
                  <a:ext uri="{0D108BD9-81ED-4DB2-BD59-A6C34878D82A}">
                    <a16:rowId xmlns:a16="http://schemas.microsoft.com/office/drawing/2014/main" val="4241085243"/>
                  </a:ext>
                </a:extLst>
              </a:tr>
            </a:tbl>
          </a:graphicData>
        </a:graphic>
      </p:graphicFrame>
      <p:sp>
        <p:nvSpPr>
          <p:cNvPr id="10" name="TextBox 9">
            <a:extLst>
              <a:ext uri="{FF2B5EF4-FFF2-40B4-BE49-F238E27FC236}">
                <a16:creationId xmlns:a16="http://schemas.microsoft.com/office/drawing/2014/main" id="{0BFF2BE8-A200-3931-ECB1-F6448EBAAF67}"/>
              </a:ext>
            </a:extLst>
          </p:cNvPr>
          <p:cNvSpPr txBox="1"/>
          <p:nvPr/>
        </p:nvSpPr>
        <p:spPr>
          <a:xfrm>
            <a:off x="5579291" y="1997839"/>
            <a:ext cx="3564709" cy="1754326"/>
          </a:xfrm>
          <a:prstGeom prst="rect">
            <a:avLst/>
          </a:prstGeom>
          <a:noFill/>
        </p:spPr>
        <p:txBody>
          <a:bodyPr wrap="square">
            <a:spAutoFit/>
          </a:bodyPr>
          <a:lstStyle/>
          <a:p>
            <a:r>
              <a:rPr lang="en-US" dirty="0">
                <a:latin typeface="TimesTen"/>
              </a:rPr>
              <a:t>Ba </a:t>
            </a:r>
            <a:r>
              <a:rPr lang="en-US" dirty="0" err="1">
                <a:latin typeface="TimesTen"/>
              </a:rPr>
              <a:t>đặc</a:t>
            </a:r>
            <a:r>
              <a:rPr lang="en-US" dirty="0">
                <a:latin typeface="TimesTen"/>
              </a:rPr>
              <a:t> </a:t>
            </a:r>
            <a:r>
              <a:rPr lang="en-US" dirty="0" err="1">
                <a:latin typeface="TimesTen"/>
              </a:rPr>
              <a:t>tính</a:t>
            </a:r>
            <a:r>
              <a:rPr lang="en-US" dirty="0">
                <a:latin typeface="TimesTen"/>
              </a:rPr>
              <a:t> </a:t>
            </a:r>
            <a:r>
              <a:rPr lang="en-US" dirty="0" err="1">
                <a:latin typeface="TimesTen"/>
              </a:rPr>
              <a:t>quan</a:t>
            </a:r>
            <a:r>
              <a:rPr lang="en-US" dirty="0">
                <a:latin typeface="TimesTen"/>
              </a:rPr>
              <a:t> </a:t>
            </a:r>
            <a:r>
              <a:rPr lang="en-US" dirty="0" err="1">
                <a:latin typeface="TimesTen"/>
              </a:rPr>
              <a:t>trọng</a:t>
            </a:r>
            <a:r>
              <a:rPr lang="en-US" dirty="0">
                <a:latin typeface="TimesTen"/>
              </a:rPr>
              <a:t> </a:t>
            </a:r>
            <a:r>
              <a:rPr lang="en-US" dirty="0" err="1">
                <a:latin typeface="TimesTen"/>
              </a:rPr>
              <a:t>trong</a:t>
            </a:r>
            <a:r>
              <a:rPr lang="en-US" dirty="0">
                <a:latin typeface="TimesTen"/>
              </a:rPr>
              <a:t> </a:t>
            </a:r>
            <a:r>
              <a:rPr lang="en-US" dirty="0" err="1">
                <a:latin typeface="TimesTen"/>
              </a:rPr>
              <a:t>phá</a:t>
            </a:r>
            <a:r>
              <a:rPr lang="en-US" dirty="0">
                <a:latin typeface="TimesTen"/>
              </a:rPr>
              <a:t> </a:t>
            </a:r>
            <a:r>
              <a:rPr lang="en-US" dirty="0" err="1">
                <a:latin typeface="TimesTen"/>
              </a:rPr>
              <a:t>mã</a:t>
            </a:r>
            <a:r>
              <a:rPr lang="en-US" dirty="0">
                <a:latin typeface="TimesTen"/>
              </a:rPr>
              <a:t> </a:t>
            </a:r>
            <a:r>
              <a:rPr lang="en-US" dirty="0" err="1">
                <a:latin typeface="TimesTen"/>
              </a:rPr>
              <a:t>vét</a:t>
            </a:r>
            <a:r>
              <a:rPr lang="en-US" dirty="0">
                <a:latin typeface="TimesTen"/>
              </a:rPr>
              <a:t> </a:t>
            </a:r>
            <a:r>
              <a:rPr lang="en-US" dirty="0" err="1">
                <a:latin typeface="TimesTen"/>
              </a:rPr>
              <a:t>cạn</a:t>
            </a:r>
            <a:r>
              <a:rPr lang="en-US" dirty="0">
                <a:latin typeface="TimesTen"/>
              </a:rPr>
              <a:t> </a:t>
            </a:r>
            <a:r>
              <a:rPr lang="en-US" sz="1800" dirty="0">
                <a:effectLst/>
                <a:latin typeface="TimesTen"/>
              </a:rPr>
              <a:t>: </a:t>
            </a:r>
            <a:endParaRPr lang="en-US" dirty="0"/>
          </a:p>
          <a:p>
            <a:pPr>
              <a:buFont typeface="+mj-lt"/>
              <a:buAutoNum type="arabicPeriod"/>
            </a:pPr>
            <a:r>
              <a:rPr lang="en-US" sz="1800" dirty="0">
                <a:effectLst/>
                <a:latin typeface="TimesTen"/>
              </a:rPr>
              <a:t> </a:t>
            </a:r>
            <a:r>
              <a:rPr lang="en-US" sz="1800" dirty="0" err="1">
                <a:effectLst/>
                <a:latin typeface="TimesTen"/>
              </a:rPr>
              <a:t>Biết</a:t>
            </a:r>
            <a:r>
              <a:rPr lang="en-US" sz="1800" dirty="0">
                <a:effectLst/>
                <a:latin typeface="TimesTen"/>
              </a:rPr>
              <a:t> </a:t>
            </a:r>
            <a:r>
              <a:rPr lang="en-US" sz="1800" dirty="0" err="1">
                <a:effectLst/>
                <a:latin typeface="TimesTen"/>
              </a:rPr>
              <a:t>thuật</a:t>
            </a:r>
            <a:r>
              <a:rPr lang="en-US" sz="1800" dirty="0">
                <a:effectLst/>
                <a:latin typeface="TimesTen"/>
              </a:rPr>
              <a:t> </a:t>
            </a:r>
            <a:r>
              <a:rPr lang="en-US" sz="1800" dirty="0" err="1">
                <a:effectLst/>
                <a:latin typeface="TimesTen"/>
              </a:rPr>
              <a:t>toán</a:t>
            </a:r>
            <a:r>
              <a:rPr lang="en-US" sz="1800" dirty="0">
                <a:effectLst/>
                <a:latin typeface="TimesTen"/>
              </a:rPr>
              <a:t> </a:t>
            </a:r>
            <a:r>
              <a:rPr lang="en-US" sz="1800" dirty="0" err="1">
                <a:effectLst/>
                <a:latin typeface="TimesTen"/>
              </a:rPr>
              <a:t>mã</a:t>
            </a:r>
            <a:r>
              <a:rPr lang="en-US" sz="1800" dirty="0">
                <a:effectLst/>
                <a:latin typeface="TimesTen"/>
              </a:rPr>
              <a:t> </a:t>
            </a:r>
            <a:r>
              <a:rPr lang="en-US" sz="1800" dirty="0" err="1">
                <a:effectLst/>
                <a:latin typeface="TimesTen"/>
              </a:rPr>
              <a:t>và</a:t>
            </a:r>
            <a:r>
              <a:rPr lang="en-US" sz="1800" dirty="0">
                <a:effectLst/>
                <a:latin typeface="TimesTen"/>
              </a:rPr>
              <a:t> </a:t>
            </a:r>
            <a:r>
              <a:rPr lang="en-US" sz="1800" dirty="0" err="1">
                <a:effectLst/>
                <a:latin typeface="TimesTen"/>
              </a:rPr>
              <a:t>giải</a:t>
            </a:r>
            <a:r>
              <a:rPr lang="en-US" sz="1800" dirty="0">
                <a:effectLst/>
                <a:latin typeface="TimesTen"/>
              </a:rPr>
              <a:t> </a:t>
            </a:r>
            <a:r>
              <a:rPr lang="en-US" sz="1800" dirty="0" err="1">
                <a:effectLst/>
                <a:latin typeface="TimesTen"/>
              </a:rPr>
              <a:t>mã</a:t>
            </a:r>
            <a:endParaRPr lang="en-US" sz="1800" dirty="0">
              <a:effectLst/>
              <a:latin typeface="TimesTen"/>
            </a:endParaRPr>
          </a:p>
          <a:p>
            <a:pPr>
              <a:buFont typeface="+mj-lt"/>
              <a:buAutoNum type="arabicPeriod"/>
            </a:pPr>
            <a:r>
              <a:rPr lang="en-US" sz="1800" dirty="0">
                <a:effectLst/>
                <a:latin typeface="TimesTen"/>
              </a:rPr>
              <a:t> </a:t>
            </a:r>
            <a:r>
              <a:rPr lang="en-US" dirty="0" err="1">
                <a:latin typeface="TimesTen"/>
              </a:rPr>
              <a:t>Chỉ</a:t>
            </a:r>
            <a:r>
              <a:rPr lang="en-US" dirty="0">
                <a:latin typeface="TimesTen"/>
              </a:rPr>
              <a:t> </a:t>
            </a:r>
            <a:r>
              <a:rPr lang="en-US" dirty="0" err="1">
                <a:latin typeface="TimesTen"/>
              </a:rPr>
              <a:t>có</a:t>
            </a:r>
            <a:r>
              <a:rPr lang="en-US" dirty="0">
                <a:latin typeface="TimesTen"/>
              </a:rPr>
              <a:t> 25 </a:t>
            </a:r>
            <a:r>
              <a:rPr lang="en-US" dirty="0" err="1">
                <a:latin typeface="TimesTen"/>
              </a:rPr>
              <a:t>trường</a:t>
            </a:r>
            <a:r>
              <a:rPr lang="en-US" dirty="0">
                <a:latin typeface="TimesTen"/>
              </a:rPr>
              <a:t> </a:t>
            </a:r>
            <a:r>
              <a:rPr lang="en-US" dirty="0" err="1">
                <a:latin typeface="TimesTen"/>
              </a:rPr>
              <a:t>hợp</a:t>
            </a:r>
            <a:r>
              <a:rPr lang="en-US" dirty="0">
                <a:latin typeface="TimesTen"/>
              </a:rPr>
              <a:t> </a:t>
            </a:r>
            <a:r>
              <a:rPr lang="en-US" dirty="0" err="1">
                <a:latin typeface="TimesTen"/>
              </a:rPr>
              <a:t>của</a:t>
            </a:r>
            <a:r>
              <a:rPr lang="en-US" dirty="0">
                <a:latin typeface="TimesTen"/>
              </a:rPr>
              <a:t> </a:t>
            </a:r>
            <a:r>
              <a:rPr lang="en-US" dirty="0" err="1">
                <a:latin typeface="TimesTen"/>
              </a:rPr>
              <a:t>khoá</a:t>
            </a:r>
            <a:r>
              <a:rPr lang="en-US" sz="1800" dirty="0">
                <a:effectLst/>
                <a:latin typeface="TimesTen"/>
              </a:rPr>
              <a:t> </a:t>
            </a:r>
          </a:p>
          <a:p>
            <a:pPr>
              <a:buFont typeface="+mj-lt"/>
              <a:buAutoNum type="arabicPeriod"/>
            </a:pPr>
            <a:r>
              <a:rPr lang="en-US" sz="1800" dirty="0">
                <a:effectLst/>
                <a:latin typeface="TimesTen"/>
              </a:rPr>
              <a:t> </a:t>
            </a:r>
            <a:r>
              <a:rPr lang="en-US" sz="1800" dirty="0" err="1">
                <a:effectLst/>
                <a:latin typeface="TimesTen"/>
              </a:rPr>
              <a:t>Thông</a:t>
            </a:r>
            <a:r>
              <a:rPr lang="en-US" sz="1800" dirty="0">
                <a:effectLst/>
                <a:latin typeface="TimesTen"/>
              </a:rPr>
              <a:t> tin </a:t>
            </a:r>
            <a:r>
              <a:rPr lang="en-US" sz="1800" dirty="0" err="1">
                <a:effectLst/>
                <a:latin typeface="TimesTen"/>
              </a:rPr>
              <a:t>trong</a:t>
            </a:r>
            <a:r>
              <a:rPr lang="en-US" sz="1800" dirty="0">
                <a:effectLst/>
                <a:latin typeface="TimesTen"/>
              </a:rPr>
              <a:t> </a:t>
            </a:r>
            <a:r>
              <a:rPr lang="en-US" sz="1800" dirty="0" err="1">
                <a:effectLst/>
                <a:latin typeface="TimesTen"/>
              </a:rPr>
              <a:t>bản</a:t>
            </a:r>
            <a:r>
              <a:rPr lang="en-US" sz="1800" dirty="0">
                <a:effectLst/>
                <a:latin typeface="TimesTen"/>
              </a:rPr>
              <a:t> </a:t>
            </a:r>
            <a:r>
              <a:rPr lang="en-US" sz="1800" dirty="0" err="1">
                <a:effectLst/>
                <a:latin typeface="TimesTen"/>
              </a:rPr>
              <a:t>rõ</a:t>
            </a:r>
            <a:r>
              <a:rPr lang="en-US" sz="1800" dirty="0">
                <a:effectLst/>
                <a:latin typeface="TimesTen"/>
              </a:rPr>
              <a:t> </a:t>
            </a:r>
            <a:r>
              <a:rPr lang="en-US" sz="1800" dirty="0" err="1">
                <a:effectLst/>
                <a:latin typeface="TimesTen"/>
              </a:rPr>
              <a:t>dễ</a:t>
            </a:r>
            <a:r>
              <a:rPr lang="en-US" sz="1800" dirty="0">
                <a:effectLst/>
                <a:latin typeface="TimesTen"/>
              </a:rPr>
              <a:t> </a:t>
            </a:r>
            <a:r>
              <a:rPr lang="en-US" sz="1800" dirty="0" err="1">
                <a:effectLst/>
                <a:latin typeface="TimesTen"/>
              </a:rPr>
              <a:t>hiểu</a:t>
            </a:r>
            <a:r>
              <a:rPr lang="en-US" dirty="0">
                <a:latin typeface="TimesTen"/>
              </a:rPr>
              <a:t> </a:t>
            </a:r>
            <a:r>
              <a:rPr lang="en-US" dirty="0" err="1">
                <a:latin typeface="TimesTen"/>
              </a:rPr>
              <a:t>và</a:t>
            </a:r>
            <a:r>
              <a:rPr lang="en-US" dirty="0">
                <a:latin typeface="TimesTen"/>
              </a:rPr>
              <a:t> </a:t>
            </a:r>
            <a:r>
              <a:rPr lang="en-US" dirty="0" err="1">
                <a:latin typeface="TimesTen"/>
              </a:rPr>
              <a:t>dễ</a:t>
            </a:r>
            <a:r>
              <a:rPr lang="en-US" dirty="0">
                <a:latin typeface="TimesTen"/>
              </a:rPr>
              <a:t> </a:t>
            </a:r>
            <a:r>
              <a:rPr lang="en-US" dirty="0" err="1">
                <a:latin typeface="TimesTen"/>
              </a:rPr>
              <a:t>nhận</a:t>
            </a:r>
            <a:r>
              <a:rPr lang="en-US" dirty="0">
                <a:latin typeface="TimesTen"/>
              </a:rPr>
              <a:t> </a:t>
            </a:r>
            <a:r>
              <a:rPr lang="en-US" dirty="0" err="1">
                <a:latin typeface="TimesTen"/>
              </a:rPr>
              <a:t>diện</a:t>
            </a:r>
            <a:r>
              <a:rPr lang="en-US" dirty="0">
                <a:latin typeface="TimesTen"/>
              </a:rPr>
              <a:t> </a:t>
            </a:r>
            <a:r>
              <a:rPr lang="en-US" sz="1800" dirty="0">
                <a:effectLst/>
                <a:latin typeface="TimesTen"/>
              </a:rPr>
              <a:t> </a:t>
            </a:r>
          </a:p>
        </p:txBody>
      </p:sp>
    </p:spTree>
    <p:extLst>
      <p:ext uri="{BB962C8B-B14F-4D97-AF65-F5344CB8AC3E}">
        <p14:creationId xmlns:p14="http://schemas.microsoft.com/office/powerpoint/2010/main" val="1097741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741207-306D-B023-241D-C701660A0989}"/>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F1E92D52-84B0-1BD8-4416-F4690C14F474}"/>
              </a:ext>
            </a:extLst>
          </p:cNvPr>
          <p:cNvSpPr>
            <a:spLocks noGrp="1"/>
          </p:cNvSpPr>
          <p:nvPr>
            <p:ph type="title"/>
          </p:nvPr>
        </p:nvSpPr>
        <p:spPr/>
        <p:txBody>
          <a:bodyPr/>
          <a:lstStyle/>
          <a:p>
            <a:r>
              <a:rPr lang="en-US" altLang="en-US" sz="2800" baseline="0" dirty="0"/>
              <a:t>Monoalphabetic Ciphers</a:t>
            </a:r>
            <a:endParaRPr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0056D6-1827-795F-C4A4-CEBE2BAC4AE1}"/>
                  </a:ext>
                </a:extLst>
              </p:cNvPr>
              <p:cNvSpPr>
                <a:spLocks noGrp="1"/>
              </p:cNvSpPr>
              <p:nvPr>
                <p:ph sz="quarter" idx="13"/>
              </p:nvPr>
            </p:nvSpPr>
            <p:spPr/>
            <p:txBody>
              <a:bodyPr/>
              <a:lstStyle/>
              <a:p>
                <a:pPr marL="0" indent="0">
                  <a:buNone/>
                </a:pPr>
                <a:endParaRPr lang="en-VN" dirty="0"/>
              </a:p>
              <a:p>
                <a:r>
                  <a:rPr lang="en-VN" dirty="0"/>
                  <a:t>Với chỉ 25 trường hợp của khoá, mã Caesar không an toàn, tăng không gian khoá sự thay thế tuỳ ý (</a:t>
                </a:r>
                <a:r>
                  <a:rPr lang="en-US" dirty="0"/>
                  <a:t>arbitrary substitution) </a:t>
                </a:r>
                <a:r>
                  <a:rPr lang="en-VN" dirty="0"/>
                  <a:t>-&gt; khái niệm hoán vị (permutation). </a:t>
                </a:r>
              </a:p>
              <a:p>
                <a:r>
                  <a:rPr lang="en-US" dirty="0"/>
                  <a:t>H</a:t>
                </a:r>
                <a:r>
                  <a:rPr lang="en-VN" dirty="0"/>
                  <a:t>oán vị là một tập các phần tử S có trật tự, mỗi phần tử chỉ xuất hiện một lần. Ví dụ:  </a:t>
                </a:r>
                <a14:m>
                  <m:oMath xmlns:m="http://schemas.openxmlformats.org/officeDocument/2006/math">
                    <m:r>
                      <a:rPr lang="en-US" sz="2800" i="1" dirty="0" smtClean="0">
                        <a:effectLst/>
                        <a:latin typeface="Cambria Math" panose="02040503050406030204" pitchFamily="18" charset="0"/>
                      </a:rPr>
                      <m:t>𝑆</m:t>
                    </m:r>
                    <m:r>
                      <a:rPr lang="en-US" sz="2800" i="1" dirty="0" smtClean="0">
                        <a:effectLst/>
                        <a:latin typeface="Cambria Math" panose="02040503050406030204" pitchFamily="18" charset="0"/>
                      </a:rPr>
                      <m:t> = {</m:t>
                    </m:r>
                    <m:r>
                      <a:rPr lang="en-US" sz="2800" i="1" dirty="0" smtClean="0">
                        <a:effectLst/>
                        <a:latin typeface="Cambria Math" panose="02040503050406030204" pitchFamily="18" charset="0"/>
                      </a:rPr>
                      <m:t>𝑎</m:t>
                    </m:r>
                    <m:r>
                      <a:rPr lang="en-US" sz="2800" i="1" dirty="0" smtClean="0">
                        <a:effectLst/>
                        <a:latin typeface="Cambria Math" panose="02040503050406030204" pitchFamily="18" charset="0"/>
                      </a:rPr>
                      <m:t>, </m:t>
                    </m:r>
                    <m:r>
                      <a:rPr lang="en-US" sz="2800" i="1" dirty="0" smtClean="0">
                        <a:effectLst/>
                        <a:latin typeface="Cambria Math" panose="02040503050406030204" pitchFamily="18" charset="0"/>
                      </a:rPr>
                      <m:t>𝑏</m:t>
                    </m:r>
                    <m:r>
                      <a:rPr lang="en-US" sz="2800" i="1" dirty="0" smtClean="0">
                        <a:effectLst/>
                        <a:latin typeface="Cambria Math" panose="02040503050406030204" pitchFamily="18" charset="0"/>
                      </a:rPr>
                      <m:t>, </m:t>
                    </m:r>
                    <m:r>
                      <a:rPr lang="en-US" sz="2800" i="1" dirty="0" smtClean="0">
                        <a:effectLst/>
                        <a:latin typeface="Cambria Math" panose="02040503050406030204" pitchFamily="18" charset="0"/>
                      </a:rPr>
                      <m:t>𝑐</m:t>
                    </m:r>
                    <m:r>
                      <a:rPr lang="en-US" sz="2800" i="1" dirty="0" smtClean="0">
                        <a:effectLst/>
                        <a:latin typeface="Cambria Math" panose="02040503050406030204" pitchFamily="18" charset="0"/>
                      </a:rPr>
                      <m:t>}</m:t>
                    </m:r>
                  </m:oMath>
                </a14:m>
                <a:r>
                  <a:rPr lang="en-VN" dirty="0"/>
                  <a:t>, S có 6 hoán vị </a:t>
                </a:r>
                <a14:m>
                  <m:oMath xmlns:m="http://schemas.openxmlformats.org/officeDocument/2006/math">
                    <m:r>
                      <a:rPr lang="vi-VN" b="0" i="0" dirty="0" smtClean="0">
                        <a:latin typeface="Cambria Math" panose="02040503050406030204" pitchFamily="18" charset="0"/>
                      </a:rPr>
                      <m:t>{</m:t>
                    </m:r>
                    <m:r>
                      <a:rPr lang="en-US" i="1" dirty="0" smtClean="0">
                        <a:latin typeface="Cambria Math" panose="02040503050406030204" pitchFamily="18" charset="0"/>
                      </a:rPr>
                      <m:t>𝑎𝑏𝑐</m:t>
                    </m:r>
                    <m:r>
                      <a:rPr lang="en-US" i="1" dirty="0">
                        <a:latin typeface="Cambria Math" panose="02040503050406030204" pitchFamily="18" charset="0"/>
                      </a:rPr>
                      <m:t>, </m:t>
                    </m:r>
                    <m:r>
                      <a:rPr lang="en-US" i="1" dirty="0" err="1">
                        <a:latin typeface="Cambria Math" panose="02040503050406030204" pitchFamily="18" charset="0"/>
                      </a:rPr>
                      <m:t>𝑎𝑐𝑏</m:t>
                    </m:r>
                    <m:r>
                      <a:rPr lang="en-US" i="1" dirty="0">
                        <a:latin typeface="Cambria Math" panose="02040503050406030204" pitchFamily="18" charset="0"/>
                      </a:rPr>
                      <m:t>, </m:t>
                    </m:r>
                    <m:r>
                      <a:rPr lang="en-US" i="1" dirty="0">
                        <a:latin typeface="Cambria Math" panose="02040503050406030204" pitchFamily="18" charset="0"/>
                      </a:rPr>
                      <m:t>𝑏𝑎𝑐</m:t>
                    </m:r>
                    <m:r>
                      <a:rPr lang="en-US" i="1" dirty="0">
                        <a:latin typeface="Cambria Math" panose="02040503050406030204" pitchFamily="18" charset="0"/>
                      </a:rPr>
                      <m:t>, </m:t>
                    </m:r>
                    <m:r>
                      <a:rPr lang="en-US" i="1" dirty="0" err="1">
                        <a:latin typeface="Cambria Math" panose="02040503050406030204" pitchFamily="18" charset="0"/>
                      </a:rPr>
                      <m:t>𝑏𝑐𝑎</m:t>
                    </m:r>
                    <m:r>
                      <a:rPr lang="en-US" i="1" dirty="0">
                        <a:latin typeface="Cambria Math" panose="02040503050406030204" pitchFamily="18" charset="0"/>
                      </a:rPr>
                      <m:t>, </m:t>
                    </m:r>
                    <m:r>
                      <a:rPr lang="en-US" i="1" dirty="0">
                        <a:latin typeface="Cambria Math" panose="02040503050406030204" pitchFamily="18" charset="0"/>
                      </a:rPr>
                      <m:t>𝑐𝑎𝑏</m:t>
                    </m:r>
                    <m:r>
                      <a:rPr lang="en-US" i="1" dirty="0">
                        <a:latin typeface="Cambria Math" panose="02040503050406030204" pitchFamily="18" charset="0"/>
                      </a:rPr>
                      <m:t>, </m:t>
                    </m:r>
                    <m:r>
                      <a:rPr lang="en-US" i="1" dirty="0">
                        <a:latin typeface="Cambria Math" panose="02040503050406030204" pitchFamily="18" charset="0"/>
                      </a:rPr>
                      <m:t>𝑐𝑏𝑎</m:t>
                    </m:r>
                    <m:r>
                      <a:rPr lang="vi-VN" b="0" i="1" dirty="0" smtClean="0">
                        <a:latin typeface="Cambria Math" panose="02040503050406030204" pitchFamily="18" charset="0"/>
                      </a:rPr>
                      <m:t>}</m:t>
                    </m:r>
                    <m:r>
                      <a:rPr lang="en-US" i="1" dirty="0">
                        <a:latin typeface="Cambria Math" panose="02040503050406030204" pitchFamily="18" charset="0"/>
                      </a:rPr>
                      <m:t> </m:t>
                    </m:r>
                  </m:oMath>
                </a14:m>
                <a:endParaRPr lang="en-US" dirty="0"/>
              </a:p>
              <a:p>
                <a:r>
                  <a:rPr lang="en-US" dirty="0" err="1"/>
                  <a:t>Dòng</a:t>
                </a:r>
                <a:r>
                  <a:rPr lang="en-US" dirty="0"/>
                  <a:t> </a:t>
                </a:r>
                <a:r>
                  <a:rPr lang="en-US" dirty="0" err="1"/>
                  <a:t>mã</a:t>
                </a:r>
                <a:r>
                  <a:rPr lang="en-US" dirty="0"/>
                  <a:t> </a:t>
                </a:r>
                <a:r>
                  <a:rPr lang="en-US" dirty="0" err="1"/>
                  <a:t>hoá</a:t>
                </a:r>
                <a:r>
                  <a:rPr lang="en-US" dirty="0"/>
                  <a:t> </a:t>
                </a:r>
                <a:r>
                  <a:rPr lang="en-US" dirty="0" err="1"/>
                  <a:t>có</a:t>
                </a:r>
                <a:r>
                  <a:rPr lang="en-US" dirty="0"/>
                  <a:t> </a:t>
                </a:r>
                <a:r>
                  <a:rPr lang="en-US" dirty="0" err="1"/>
                  <a:t>thể</a:t>
                </a:r>
                <a:r>
                  <a:rPr lang="en-US" dirty="0"/>
                  <a:t> </a:t>
                </a:r>
                <a:r>
                  <a:rPr lang="en-US" dirty="0" err="1"/>
                  <a:t>là</a:t>
                </a:r>
                <a:r>
                  <a:rPr lang="en-US" dirty="0"/>
                  <a:t> </a:t>
                </a:r>
                <a:r>
                  <a:rPr lang="en-US" dirty="0" err="1"/>
                  <a:t>bất</a:t>
                </a:r>
                <a:r>
                  <a:rPr lang="en-US" dirty="0"/>
                  <a:t> </a:t>
                </a:r>
                <a:r>
                  <a:rPr lang="en-US" dirty="0" err="1"/>
                  <a:t>kỳ</a:t>
                </a:r>
                <a:r>
                  <a:rPr lang="en-US" dirty="0"/>
                  <a:t> </a:t>
                </a:r>
                <a:r>
                  <a:rPr lang="en-US" dirty="0" err="1"/>
                  <a:t>hoán</a:t>
                </a:r>
                <a:r>
                  <a:rPr lang="en-US" dirty="0"/>
                  <a:t> </a:t>
                </a:r>
                <a:r>
                  <a:rPr lang="en-US" dirty="0" err="1"/>
                  <a:t>vị</a:t>
                </a:r>
                <a:r>
                  <a:rPr lang="en-US" dirty="0"/>
                  <a:t> </a:t>
                </a:r>
                <a:r>
                  <a:rPr lang="en-US" dirty="0" err="1"/>
                  <a:t>nào</a:t>
                </a:r>
                <a:r>
                  <a:rPr lang="en-US" dirty="0"/>
                  <a:t> </a:t>
                </a:r>
                <a:r>
                  <a:rPr lang="en-US" dirty="0" err="1"/>
                  <a:t>trong</a:t>
                </a:r>
                <a:r>
                  <a:rPr lang="en-US" dirty="0"/>
                  <a:t> 26 </a:t>
                </a:r>
                <a:r>
                  <a:rPr lang="en-US" dirty="0" err="1"/>
                  <a:t>ký</a:t>
                </a:r>
                <a:r>
                  <a:rPr lang="en-US" dirty="0"/>
                  <a:t> </a:t>
                </a:r>
                <a:r>
                  <a:rPr lang="en-US" dirty="0" err="1"/>
                  <a:t>tự</a:t>
                </a:r>
                <a:r>
                  <a:rPr lang="en-US" dirty="0"/>
                  <a:t> alphabetic </a:t>
                </a:r>
                <a:r>
                  <a:rPr lang="en-US" dirty="0" err="1"/>
                  <a:t>có</a:t>
                </a:r>
                <a:r>
                  <a:rPr lang="en-US" dirty="0"/>
                  <a:t> 26! </a:t>
                </a:r>
                <a:r>
                  <a:rPr lang="en-US" dirty="0" err="1"/>
                  <a:t>tương</a:t>
                </a:r>
                <a:r>
                  <a:rPr lang="en-US" dirty="0"/>
                  <a:t> </a:t>
                </a:r>
                <a:r>
                  <a:rPr lang="en-US" dirty="0" err="1"/>
                  <a:t>đương</a:t>
                </a:r>
                <a:r>
                  <a:rPr lang="en-US" dirty="0"/>
                  <a:t> 4*10^26 </a:t>
                </a:r>
                <a:r>
                  <a:rPr lang="en-US" dirty="0" err="1"/>
                  <a:t>giá</a:t>
                </a:r>
                <a:r>
                  <a:rPr lang="en-US" dirty="0"/>
                  <a:t> </a:t>
                </a:r>
                <a:r>
                  <a:rPr lang="en-US" dirty="0" err="1"/>
                  <a:t>trị</a:t>
                </a:r>
                <a:r>
                  <a:rPr lang="en-US" dirty="0"/>
                  <a:t> </a:t>
                </a:r>
                <a:r>
                  <a:rPr lang="en-US" dirty="0" err="1"/>
                  <a:t>khoá</a:t>
                </a:r>
                <a:r>
                  <a:rPr lang="en-US" dirty="0"/>
                  <a:t> </a:t>
                </a:r>
              </a:p>
            </p:txBody>
          </p:sp>
        </mc:Choice>
        <mc:Fallback xmlns="">
          <p:sp>
            <p:nvSpPr>
              <p:cNvPr id="4" name="Content Placeholder 3">
                <a:extLst>
                  <a:ext uri="{FF2B5EF4-FFF2-40B4-BE49-F238E27FC236}">
                    <a16:creationId xmlns:a16="http://schemas.microsoft.com/office/drawing/2014/main" id="{BB0056D6-1827-795F-C4A4-CEBE2BAC4AE1}"/>
                  </a:ext>
                </a:extLst>
              </p:cNvPr>
              <p:cNvSpPr>
                <a:spLocks noGrp="1" noRot="1" noChangeAspect="1" noMove="1" noResize="1" noEditPoints="1" noAdjustHandles="1" noChangeArrowheads="1" noChangeShapeType="1" noTextEdit="1"/>
              </p:cNvSpPr>
              <p:nvPr>
                <p:ph sz="quarter" idx="13"/>
              </p:nvPr>
            </p:nvSpPr>
            <p:spPr>
              <a:blipFill>
                <a:blip r:embed="rId2"/>
                <a:stretch>
                  <a:fillRect l="-1170" r="-2193"/>
                </a:stretch>
              </a:blipFill>
            </p:spPr>
            <p:txBody>
              <a:bodyPr/>
              <a:lstStyle/>
              <a:p>
                <a:r>
                  <a:rPr>
                    <a:noFill/>
                  </a:rPr>
                  <a:t> </a:t>
                </a:r>
              </a:p>
            </p:txBody>
          </p:sp>
        </mc:Fallback>
      </mc:AlternateContent>
    </p:spTree>
    <p:extLst>
      <p:ext uri="{BB962C8B-B14F-4D97-AF65-F5344CB8AC3E}">
        <p14:creationId xmlns:p14="http://schemas.microsoft.com/office/powerpoint/2010/main" val="421421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BEBED3-5D3C-6C7C-8890-21B6597DCF33}"/>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9C4447E3-24D3-A31A-C179-474D9315EC6D}"/>
              </a:ext>
            </a:extLst>
          </p:cNvPr>
          <p:cNvSpPr>
            <a:spLocks noGrp="1"/>
          </p:cNvSpPr>
          <p:nvPr>
            <p:ph type="title"/>
          </p:nvPr>
        </p:nvSpPr>
        <p:spPr/>
        <p:txBody>
          <a:bodyPr/>
          <a:lstStyle/>
          <a:p>
            <a:r>
              <a:rPr lang="vi-VN" dirty="0"/>
              <a:t>Bài tập </a:t>
            </a:r>
            <a:endParaRPr dirty="0"/>
          </a:p>
        </p:txBody>
      </p:sp>
      <p:sp>
        <p:nvSpPr>
          <p:cNvPr id="4" name="Content Placeholder 3">
            <a:extLst>
              <a:ext uri="{FF2B5EF4-FFF2-40B4-BE49-F238E27FC236}">
                <a16:creationId xmlns:a16="http://schemas.microsoft.com/office/drawing/2014/main" id="{FF9A3826-593D-58A1-CB91-BD156650E0FD}"/>
              </a:ext>
            </a:extLst>
          </p:cNvPr>
          <p:cNvSpPr>
            <a:spLocks noGrp="1"/>
          </p:cNvSpPr>
          <p:nvPr>
            <p:ph sz="quarter" idx="13"/>
          </p:nvPr>
        </p:nvSpPr>
        <p:spPr>
          <a:xfrm>
            <a:off x="235077" y="841247"/>
            <a:ext cx="8674100" cy="1261873"/>
          </a:xfrm>
        </p:spPr>
        <p:txBody>
          <a:bodyPr/>
          <a:lstStyle/>
          <a:p>
            <a:r>
              <a:rPr lang="en-US" dirty="0" err="1"/>
              <a:t>Thông</a:t>
            </a:r>
            <a:r>
              <a:rPr lang="en-US" dirty="0"/>
              <a:t> tin </a:t>
            </a:r>
            <a:r>
              <a:rPr lang="en-US" dirty="0" err="1"/>
              <a:t>gửi</a:t>
            </a:r>
            <a:r>
              <a:rPr lang="en-US" dirty="0"/>
              <a:t> </a:t>
            </a:r>
            <a:r>
              <a:rPr lang="en-US" dirty="0" err="1"/>
              <a:t>đi</a:t>
            </a:r>
            <a:r>
              <a:rPr lang="en-US" dirty="0"/>
              <a:t> </a:t>
            </a:r>
            <a:r>
              <a:rPr lang="en-US" dirty="0" err="1"/>
              <a:t>là</a:t>
            </a:r>
            <a:r>
              <a:rPr lang="en-US" dirty="0"/>
              <a:t> </a:t>
            </a:r>
            <a:r>
              <a:rPr lang="en-US" dirty="0" err="1"/>
              <a:t>gì</a:t>
            </a:r>
            <a:r>
              <a:rPr lang="en-US" dirty="0"/>
              <a:t> : </a:t>
            </a:r>
            <a:r>
              <a:rPr lang="en-US" sz="2800" dirty="0" err="1"/>
              <a:t>Zhofrph</a:t>
            </a:r>
            <a:r>
              <a:rPr lang="en-US" sz="2800" dirty="0"/>
              <a:t> </a:t>
            </a:r>
            <a:r>
              <a:rPr lang="en-US" sz="2800" dirty="0" err="1"/>
              <a:t>wr</a:t>
            </a:r>
            <a:r>
              <a:rPr lang="en-US" sz="2800" dirty="0"/>
              <a:t> </a:t>
            </a:r>
            <a:r>
              <a:rPr lang="en-US" sz="2800" dirty="0" err="1"/>
              <a:t>wkh</a:t>
            </a:r>
            <a:r>
              <a:rPr lang="en-US" sz="2800" dirty="0"/>
              <a:t> </a:t>
            </a:r>
            <a:r>
              <a:rPr lang="en-US" sz="2800" dirty="0" err="1"/>
              <a:t>Fubswrjudskb</a:t>
            </a:r>
            <a:r>
              <a:rPr lang="en-US" sz="2800" dirty="0"/>
              <a:t> </a:t>
            </a:r>
            <a:r>
              <a:rPr lang="en-US" sz="2800" dirty="0" err="1"/>
              <a:t>frxuvh</a:t>
            </a:r>
            <a:r>
              <a:rPr lang="en-US" sz="2800" dirty="0"/>
              <a:t>.</a:t>
            </a:r>
          </a:p>
          <a:p>
            <a:endParaRPr dirty="0"/>
          </a:p>
        </p:txBody>
      </p:sp>
      <p:pic>
        <p:nvPicPr>
          <p:cNvPr id="5" name="Picture 4">
            <a:extLst>
              <a:ext uri="{FF2B5EF4-FFF2-40B4-BE49-F238E27FC236}">
                <a16:creationId xmlns:a16="http://schemas.microsoft.com/office/drawing/2014/main" id="{BAD34A9C-58F0-C7CF-9F36-67403339D390}"/>
              </a:ext>
            </a:extLst>
          </p:cNvPr>
          <p:cNvPicPr>
            <a:picLocks noChangeAspect="1"/>
          </p:cNvPicPr>
          <p:nvPr/>
        </p:nvPicPr>
        <p:blipFill>
          <a:blip r:embed="rId2"/>
          <a:stretch>
            <a:fillRect/>
          </a:stretch>
        </p:blipFill>
        <p:spPr>
          <a:xfrm>
            <a:off x="876158" y="2148077"/>
            <a:ext cx="6143625" cy="1524000"/>
          </a:xfrm>
          <a:prstGeom prst="rect">
            <a:avLst/>
          </a:prstGeom>
        </p:spPr>
      </p:pic>
    </p:spTree>
    <p:extLst>
      <p:ext uri="{BB962C8B-B14F-4D97-AF65-F5344CB8AC3E}">
        <p14:creationId xmlns:p14="http://schemas.microsoft.com/office/powerpoint/2010/main" val="224735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1065BF-0C23-B9F5-BAF7-EF0FB79DE4D0}"/>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8228AB38-043D-255D-83A1-E31DCB111948}"/>
              </a:ext>
            </a:extLst>
          </p:cNvPr>
          <p:cNvSpPr>
            <a:spLocks noGrp="1"/>
          </p:cNvSpPr>
          <p:nvPr>
            <p:ph type="title"/>
          </p:nvPr>
        </p:nvSpPr>
        <p:spPr/>
        <p:txBody>
          <a:bodyPr/>
          <a:lstStyle/>
          <a:p>
            <a:r>
              <a:rPr lang="vi-VN" dirty="0"/>
              <a:t>Bài tập </a:t>
            </a:r>
            <a:endParaRPr dirty="0"/>
          </a:p>
        </p:txBody>
      </p:sp>
      <p:pic>
        <p:nvPicPr>
          <p:cNvPr id="5" name="Picture 4">
            <a:extLst>
              <a:ext uri="{FF2B5EF4-FFF2-40B4-BE49-F238E27FC236}">
                <a16:creationId xmlns:a16="http://schemas.microsoft.com/office/drawing/2014/main" id="{AF05D89A-3D09-68D4-FD57-199E0F8BD9D8}"/>
              </a:ext>
            </a:extLst>
          </p:cNvPr>
          <p:cNvPicPr>
            <a:picLocks noChangeAspect="1"/>
          </p:cNvPicPr>
          <p:nvPr/>
        </p:nvPicPr>
        <p:blipFill>
          <a:blip r:embed="rId2"/>
          <a:stretch>
            <a:fillRect/>
          </a:stretch>
        </p:blipFill>
        <p:spPr>
          <a:xfrm>
            <a:off x="228600" y="971550"/>
            <a:ext cx="8904514" cy="968381"/>
          </a:xfrm>
          <a:prstGeom prst="rect">
            <a:avLst/>
          </a:prstGeom>
        </p:spPr>
      </p:pic>
      <p:pic>
        <p:nvPicPr>
          <p:cNvPr id="6" name="Picture 5">
            <a:extLst>
              <a:ext uri="{FF2B5EF4-FFF2-40B4-BE49-F238E27FC236}">
                <a16:creationId xmlns:a16="http://schemas.microsoft.com/office/drawing/2014/main" id="{3FB47DCA-43D8-2630-8296-047437091CCE}"/>
              </a:ext>
            </a:extLst>
          </p:cNvPr>
          <p:cNvPicPr>
            <a:picLocks noChangeAspect="1"/>
          </p:cNvPicPr>
          <p:nvPr/>
        </p:nvPicPr>
        <p:blipFill>
          <a:blip r:embed="rId3"/>
          <a:stretch>
            <a:fillRect/>
          </a:stretch>
        </p:blipFill>
        <p:spPr>
          <a:xfrm>
            <a:off x="851910" y="2971199"/>
            <a:ext cx="7440180" cy="2569658"/>
          </a:xfrm>
          <a:prstGeom prst="rect">
            <a:avLst/>
          </a:prstGeom>
          <a:ln>
            <a:solidFill>
              <a:schemeClr val="accent1"/>
            </a:solidFill>
          </a:ln>
        </p:spPr>
      </p:pic>
      <p:sp>
        <p:nvSpPr>
          <p:cNvPr id="7" name="TextBox 6">
            <a:extLst>
              <a:ext uri="{FF2B5EF4-FFF2-40B4-BE49-F238E27FC236}">
                <a16:creationId xmlns:a16="http://schemas.microsoft.com/office/drawing/2014/main" id="{B186D30C-6D3A-5D70-8007-6982BCD9215D}"/>
              </a:ext>
            </a:extLst>
          </p:cNvPr>
          <p:cNvSpPr txBox="1"/>
          <p:nvPr/>
        </p:nvSpPr>
        <p:spPr>
          <a:xfrm>
            <a:off x="228600" y="2086233"/>
            <a:ext cx="6057900" cy="369332"/>
          </a:xfrm>
          <a:prstGeom prst="rect">
            <a:avLst/>
          </a:prstGeom>
          <a:noFill/>
        </p:spPr>
        <p:txBody>
          <a:bodyPr wrap="square" rtlCol="0">
            <a:spAutoFit/>
          </a:bodyPr>
          <a:lstStyle/>
          <a:p>
            <a:r>
              <a:rPr lang="en-US" b="1" dirty="0"/>
              <a:t>Hint - &gt; </a:t>
            </a:r>
            <a:r>
              <a:rPr lang="en-US" b="1" dirty="0" err="1"/>
              <a:t>đọc</a:t>
            </a:r>
            <a:r>
              <a:rPr lang="en-US" b="1" dirty="0"/>
              <a:t> The code book (</a:t>
            </a:r>
            <a:r>
              <a:rPr lang="en-US" b="1" dirty="0" err="1"/>
              <a:t>Mật</a:t>
            </a:r>
            <a:r>
              <a:rPr lang="en-US" b="1" dirty="0"/>
              <a:t> </a:t>
            </a:r>
            <a:r>
              <a:rPr lang="en-US" b="1" dirty="0" err="1"/>
              <a:t>mã</a:t>
            </a:r>
            <a:r>
              <a:rPr lang="en-US" b="1" dirty="0"/>
              <a:t> </a:t>
            </a:r>
            <a:r>
              <a:rPr lang="en-US" b="1" dirty="0" err="1"/>
              <a:t>từ</a:t>
            </a:r>
            <a:r>
              <a:rPr lang="en-US" b="1" dirty="0"/>
              <a:t> </a:t>
            </a:r>
            <a:r>
              <a:rPr lang="en-US" b="1" dirty="0" err="1"/>
              <a:t>cổ</a:t>
            </a:r>
            <a:r>
              <a:rPr lang="en-US" b="1" dirty="0"/>
              <a:t> </a:t>
            </a:r>
            <a:r>
              <a:rPr lang="en-US" b="1" dirty="0" err="1"/>
              <a:t>điển</a:t>
            </a:r>
            <a:r>
              <a:rPr lang="en-US" b="1" dirty="0"/>
              <a:t> </a:t>
            </a:r>
            <a:r>
              <a:rPr lang="en-US" b="1" dirty="0" err="1"/>
              <a:t>đến</a:t>
            </a:r>
            <a:r>
              <a:rPr lang="en-US" b="1" dirty="0"/>
              <a:t> </a:t>
            </a:r>
            <a:r>
              <a:rPr lang="en-US" b="1" dirty="0" err="1"/>
              <a:t>lượng</a:t>
            </a:r>
            <a:r>
              <a:rPr lang="en-US" b="1" dirty="0"/>
              <a:t> </a:t>
            </a:r>
            <a:r>
              <a:rPr lang="en-US" b="1" dirty="0" err="1"/>
              <a:t>tử</a:t>
            </a:r>
            <a:r>
              <a:rPr lang="en-US" b="1" dirty="0"/>
              <a:t> )</a:t>
            </a:r>
          </a:p>
        </p:txBody>
      </p:sp>
    </p:spTree>
    <p:extLst>
      <p:ext uri="{BB962C8B-B14F-4D97-AF65-F5344CB8AC3E}">
        <p14:creationId xmlns:p14="http://schemas.microsoft.com/office/powerpoint/2010/main" val="3521932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FAF7D0-4D16-1710-0806-1C1500DD2C05}"/>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46E1A211-F55C-4B8F-0669-0B1064F0E3CA}"/>
              </a:ext>
            </a:extLst>
          </p:cNvPr>
          <p:cNvSpPr>
            <a:spLocks noGrp="1"/>
          </p:cNvSpPr>
          <p:nvPr>
            <p:ph type="title"/>
          </p:nvPr>
        </p:nvSpPr>
        <p:spPr/>
        <p:txBody>
          <a:bodyPr/>
          <a:lstStyle/>
          <a:p>
            <a:r>
              <a:rPr lang="vi-VN" dirty="0"/>
              <a:t>Ví dụ phân tích mã </a:t>
            </a:r>
            <a:r>
              <a:rPr lang="en-US" altLang="en-US" sz="2800" baseline="0" dirty="0"/>
              <a:t>Monoalphabetic Ciphers</a:t>
            </a:r>
            <a:endParaRPr dirty="0"/>
          </a:p>
        </p:txBody>
      </p:sp>
      <p:sp>
        <p:nvSpPr>
          <p:cNvPr id="4" name="Content Placeholder 3">
            <a:extLst>
              <a:ext uri="{FF2B5EF4-FFF2-40B4-BE49-F238E27FC236}">
                <a16:creationId xmlns:a16="http://schemas.microsoft.com/office/drawing/2014/main" id="{007EE1FD-FAAD-14FF-6940-40B38CCE7620}"/>
              </a:ext>
            </a:extLst>
          </p:cNvPr>
          <p:cNvSpPr>
            <a:spLocks noGrp="1"/>
          </p:cNvSpPr>
          <p:nvPr>
            <p:ph sz="quarter" idx="13"/>
          </p:nvPr>
        </p:nvSpPr>
        <p:spPr>
          <a:xfrm>
            <a:off x="235077" y="841247"/>
            <a:ext cx="8674100" cy="861093"/>
          </a:xfrm>
        </p:spPr>
        <p:txBody>
          <a:bodyPr/>
          <a:lstStyle/>
          <a:p>
            <a:r>
              <a:rPr lang="en-US" sz="1800" dirty="0">
                <a:effectLst/>
                <a:latin typeface="Courier" pitchFamily="2" charset="0"/>
              </a:rPr>
              <a:t>UZQSOVUOHXMOPVGPOZPEVSGZWSZOPFPESXUDBMETSXAIZ VUEPHZHMDZSHZOWSFPAPPDTSVPQUZWYMXUZUHSX </a:t>
            </a:r>
            <a:r>
              <a:rPr lang="en-US" sz="1800">
                <a:effectLst/>
                <a:latin typeface="Courier" pitchFamily="2" charset="0"/>
              </a:rPr>
              <a:t>EPYEPOPDZSZUFPOMBZWPFUPZHMDJUDTMOHMQ </a:t>
            </a:r>
          </a:p>
          <a:p>
            <a:endParaRPr lang="en-US" dirty="0"/>
          </a:p>
          <a:p>
            <a:endParaRPr dirty="0"/>
          </a:p>
        </p:txBody>
      </p:sp>
      <p:pic>
        <p:nvPicPr>
          <p:cNvPr id="6" name="Hình ảnh 5">
            <a:extLst>
              <a:ext uri="{FF2B5EF4-FFF2-40B4-BE49-F238E27FC236}">
                <a16:creationId xmlns:a16="http://schemas.microsoft.com/office/drawing/2014/main" id="{C37ED9A0-8988-40FA-AE03-D763DC95952F}"/>
              </a:ext>
            </a:extLst>
          </p:cNvPr>
          <p:cNvPicPr>
            <a:picLocks noChangeAspect="1"/>
          </p:cNvPicPr>
          <p:nvPr/>
        </p:nvPicPr>
        <p:blipFill>
          <a:blip r:embed="rId2"/>
          <a:stretch>
            <a:fillRect/>
          </a:stretch>
        </p:blipFill>
        <p:spPr>
          <a:xfrm>
            <a:off x="524685" y="1859339"/>
            <a:ext cx="4514850" cy="4295775"/>
          </a:xfrm>
          <a:prstGeom prst="rect">
            <a:avLst/>
          </a:prstGeom>
        </p:spPr>
      </p:pic>
      <p:sp>
        <p:nvSpPr>
          <p:cNvPr id="8" name="Hộp Văn bản 7">
            <a:extLst>
              <a:ext uri="{FF2B5EF4-FFF2-40B4-BE49-F238E27FC236}">
                <a16:creationId xmlns:a16="http://schemas.microsoft.com/office/drawing/2014/main" id="{5954AA41-6DE1-4156-9998-ECED6E61BFCA}"/>
              </a:ext>
            </a:extLst>
          </p:cNvPr>
          <p:cNvSpPr txBox="1"/>
          <p:nvPr/>
        </p:nvSpPr>
        <p:spPr>
          <a:xfrm>
            <a:off x="4931924" y="1859339"/>
            <a:ext cx="3992860" cy="4070858"/>
          </a:xfrm>
          <a:prstGeom prst="rect">
            <a:avLst/>
          </a:prstGeom>
          <a:noFill/>
        </p:spPr>
        <p:txBody>
          <a:bodyPr wrap="square">
            <a:spAutoFit/>
          </a:bodyPr>
          <a:lstStyle/>
          <a:p>
            <a:pPr marL="228600" indent="-228600" defTabSz="914400">
              <a:lnSpc>
                <a:spcPct val="90000"/>
              </a:lnSpc>
              <a:spcBef>
                <a:spcPts val="1000"/>
              </a:spcBef>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So sánh giữa hai bảng có thể thấy ký tự mã hóa P và Z có mối liên hệ với ký tự e và t, nhưng cũng chưa thật sự rõ ràng. Ký tự S, U, O, M, and H cũng có tần xuất cao có thể tương ứng với tập các ký tự {a, h, i, n, o, r, s}. Các ký tự có tần xuất xuất hiện thấp (namely, A, B, G, Y, I, J) có thể ánh xạ trong tập {b, j, k, q, v, x, z} </a:t>
            </a:r>
          </a:p>
          <a:p>
            <a:pPr marL="228600" indent="-228600" defTabSz="914400">
              <a:lnSpc>
                <a:spcPct val="90000"/>
              </a:lnSpc>
              <a:spcBef>
                <a:spcPts val="1000"/>
              </a:spcBef>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Thử với các trường hợp có thể xảy ra </a:t>
            </a:r>
            <a:br>
              <a:rPr lang="en-US"/>
            </a:br>
            <a:endParaRPr lang="vi-VN"/>
          </a:p>
        </p:txBody>
      </p:sp>
      <p:sp>
        <p:nvSpPr>
          <p:cNvPr id="9" name="Hình Bầu dục 8">
            <a:extLst>
              <a:ext uri="{FF2B5EF4-FFF2-40B4-BE49-F238E27FC236}">
                <a16:creationId xmlns:a16="http://schemas.microsoft.com/office/drawing/2014/main" id="{39CE66D5-29CD-4C3E-9750-57C80BD469B0}"/>
              </a:ext>
            </a:extLst>
          </p:cNvPr>
          <p:cNvSpPr/>
          <p:nvPr/>
        </p:nvSpPr>
        <p:spPr>
          <a:xfrm>
            <a:off x="992222" y="1935805"/>
            <a:ext cx="505838" cy="369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ình Bầu dục 9">
            <a:extLst>
              <a:ext uri="{FF2B5EF4-FFF2-40B4-BE49-F238E27FC236}">
                <a16:creationId xmlns:a16="http://schemas.microsoft.com/office/drawing/2014/main" id="{D6FB82F1-D917-4138-9995-558EEA9823AE}"/>
              </a:ext>
            </a:extLst>
          </p:cNvPr>
          <p:cNvSpPr/>
          <p:nvPr/>
        </p:nvSpPr>
        <p:spPr>
          <a:xfrm>
            <a:off x="1245141" y="3015574"/>
            <a:ext cx="505838" cy="525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Hình Bầu dục 10">
            <a:extLst>
              <a:ext uri="{FF2B5EF4-FFF2-40B4-BE49-F238E27FC236}">
                <a16:creationId xmlns:a16="http://schemas.microsoft.com/office/drawing/2014/main" id="{F8AECEDF-756A-42CE-9FC1-DACB5A2EAD6E}"/>
              </a:ext>
            </a:extLst>
          </p:cNvPr>
          <p:cNvSpPr/>
          <p:nvPr/>
        </p:nvSpPr>
        <p:spPr>
          <a:xfrm>
            <a:off x="3625175" y="3744579"/>
            <a:ext cx="505838" cy="525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757369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0E09F764-F532-4643-AB4B-1EE34E8EDFBC}"/>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êu đề 2">
            <a:extLst>
              <a:ext uri="{FF2B5EF4-FFF2-40B4-BE49-F238E27FC236}">
                <a16:creationId xmlns:a16="http://schemas.microsoft.com/office/drawing/2014/main" id="{F10B2960-35D6-465F-9893-F5F9A57434A2}"/>
              </a:ext>
            </a:extLst>
          </p:cNvPr>
          <p:cNvSpPr>
            <a:spLocks noGrp="1"/>
          </p:cNvSpPr>
          <p:nvPr>
            <p:ph type="title"/>
          </p:nvPr>
        </p:nvSpPr>
        <p:spPr/>
        <p:txBody>
          <a:bodyPr/>
          <a:lstStyle/>
          <a:p>
            <a:r>
              <a:rPr lang="vi-VN"/>
              <a:t>Ví dụ phân tích mã </a:t>
            </a:r>
            <a:r>
              <a:rPr lang="en-US" altLang="en-US" sz="2800" baseline="0"/>
              <a:t>Monoalphabetic Ciphers</a:t>
            </a:r>
            <a:endParaRPr lang="vi-VN"/>
          </a:p>
        </p:txBody>
      </p:sp>
      <p:sp>
        <p:nvSpPr>
          <p:cNvPr id="4" name="Chỗ dành sẵn cho Nội dung 3">
            <a:extLst>
              <a:ext uri="{FF2B5EF4-FFF2-40B4-BE49-F238E27FC236}">
                <a16:creationId xmlns:a16="http://schemas.microsoft.com/office/drawing/2014/main" id="{2CB8CC60-F448-4A90-84AD-77113019F0C2}"/>
              </a:ext>
            </a:extLst>
          </p:cNvPr>
          <p:cNvSpPr>
            <a:spLocks noGrp="1"/>
          </p:cNvSpPr>
          <p:nvPr>
            <p:ph sz="quarter" idx="13"/>
          </p:nvPr>
        </p:nvSpPr>
        <p:spPr/>
        <p:txBody>
          <a:bodyPr/>
          <a:lstStyle/>
          <a:p>
            <a:r>
              <a:rPr lang="en-US" sz="2000" dirty="0" err="1"/>
              <a:t>Một</a:t>
            </a:r>
            <a:r>
              <a:rPr lang="en-US" sz="2000" dirty="0"/>
              <a:t> </a:t>
            </a:r>
            <a:r>
              <a:rPr lang="en-US" sz="2000" dirty="0" err="1"/>
              <a:t>trong</a:t>
            </a:r>
            <a:r>
              <a:rPr lang="en-US" sz="2000" dirty="0"/>
              <a:t> </a:t>
            </a:r>
            <a:r>
              <a:rPr lang="en-US" sz="2000" dirty="0" err="1"/>
              <a:t>công</a:t>
            </a:r>
            <a:r>
              <a:rPr lang="en-US" sz="2000" dirty="0"/>
              <a:t> </a:t>
            </a:r>
            <a:r>
              <a:rPr lang="en-US" sz="2000" dirty="0" err="1"/>
              <a:t>cụ</a:t>
            </a:r>
            <a:r>
              <a:rPr lang="en-US" sz="2000" dirty="0"/>
              <a:t> </a:t>
            </a:r>
            <a:r>
              <a:rPr lang="en-US" sz="2000" dirty="0" err="1"/>
              <a:t>mạnh</a:t>
            </a:r>
            <a:r>
              <a:rPr lang="en-US" sz="2000" dirty="0"/>
              <a:t> </a:t>
            </a:r>
            <a:r>
              <a:rPr lang="en-US" sz="2000" dirty="0" err="1"/>
              <a:t>có</a:t>
            </a:r>
            <a:r>
              <a:rPr lang="en-US" sz="2000" dirty="0"/>
              <a:t> </a:t>
            </a:r>
            <a:r>
              <a:rPr lang="en-US" sz="2000" dirty="0" err="1"/>
              <a:t>thể</a:t>
            </a:r>
            <a:r>
              <a:rPr lang="en-US" sz="2000" dirty="0"/>
              <a:t> </a:t>
            </a:r>
            <a:r>
              <a:rPr lang="en-US" sz="2000" dirty="0" err="1"/>
              <a:t>phân</a:t>
            </a:r>
            <a:r>
              <a:rPr lang="en-US" sz="2000" dirty="0"/>
              <a:t> </a:t>
            </a:r>
            <a:r>
              <a:rPr lang="en-US" sz="2000" dirty="0" err="1"/>
              <a:t>tích</a:t>
            </a:r>
            <a:r>
              <a:rPr lang="en-US" sz="2000" dirty="0"/>
              <a:t> </a:t>
            </a:r>
            <a:r>
              <a:rPr lang="en-US" sz="2000" dirty="0" err="1"/>
              <a:t>từ</a:t>
            </a:r>
            <a:r>
              <a:rPr lang="en-US" sz="2000" dirty="0"/>
              <a:t> </a:t>
            </a:r>
            <a:r>
              <a:rPr lang="en-US" sz="2000" dirty="0" err="1"/>
              <a:t>sự</a:t>
            </a:r>
            <a:r>
              <a:rPr lang="en-US" sz="2000" dirty="0"/>
              <a:t> </a:t>
            </a:r>
            <a:r>
              <a:rPr lang="en-US" sz="2000" dirty="0" err="1"/>
              <a:t>kết</a:t>
            </a:r>
            <a:r>
              <a:rPr lang="en-US" sz="2000" dirty="0"/>
              <a:t> </a:t>
            </a:r>
            <a:r>
              <a:rPr lang="en-US" sz="2000" dirty="0" err="1"/>
              <a:t>nối</a:t>
            </a:r>
            <a:r>
              <a:rPr lang="en-US" sz="2000" dirty="0"/>
              <a:t> </a:t>
            </a:r>
            <a:r>
              <a:rPr lang="en-US" sz="2000" dirty="0" err="1"/>
              <a:t>của</a:t>
            </a:r>
            <a:r>
              <a:rPr lang="en-US" sz="2000" dirty="0"/>
              <a:t> </a:t>
            </a:r>
            <a:r>
              <a:rPr lang="en-US" sz="2000" dirty="0" err="1"/>
              <a:t>hai</a:t>
            </a:r>
            <a:r>
              <a:rPr lang="en-US" sz="2000" dirty="0"/>
              <a:t> </a:t>
            </a:r>
            <a:r>
              <a:rPr lang="en-US" sz="2000" dirty="0" err="1"/>
              <a:t>hoặc</a:t>
            </a:r>
            <a:r>
              <a:rPr lang="en-US" sz="2000" dirty="0"/>
              <a:t> </a:t>
            </a:r>
            <a:r>
              <a:rPr lang="en-US" sz="2000" dirty="0" err="1"/>
              <a:t>nhiều</a:t>
            </a:r>
            <a:r>
              <a:rPr lang="en-US" sz="2000" dirty="0"/>
              <a:t> </a:t>
            </a:r>
            <a:r>
              <a:rPr lang="en-US" sz="2000" dirty="0" err="1"/>
              <a:t>ký</a:t>
            </a:r>
            <a:r>
              <a:rPr lang="en-US" sz="2000" dirty="0"/>
              <a:t> </a:t>
            </a:r>
            <a:r>
              <a:rPr lang="en-US" sz="2000" dirty="0" err="1"/>
              <a:t>tự</a:t>
            </a:r>
            <a:r>
              <a:rPr lang="en-US" sz="2000" dirty="0"/>
              <a:t> </a:t>
            </a:r>
            <a:r>
              <a:rPr lang="en-US" sz="2000" dirty="0" err="1"/>
              <a:t>gọi</a:t>
            </a:r>
            <a:r>
              <a:rPr lang="en-US" sz="2000" dirty="0"/>
              <a:t> </a:t>
            </a:r>
            <a:r>
              <a:rPr lang="en-US" sz="2000" dirty="0" err="1"/>
              <a:t>là</a:t>
            </a:r>
            <a:r>
              <a:rPr lang="en-US" sz="2000" dirty="0"/>
              <a:t> </a:t>
            </a:r>
            <a:r>
              <a:rPr lang="en-US" sz="2000" dirty="0" err="1"/>
              <a:t>Digram</a:t>
            </a:r>
            <a:r>
              <a:rPr lang="en-US" sz="2000" dirty="0"/>
              <a:t> </a:t>
            </a:r>
            <a:r>
              <a:rPr lang="en-US" sz="2000" dirty="0" err="1"/>
              <a:t>hoặc</a:t>
            </a:r>
            <a:r>
              <a:rPr lang="en-US" sz="2000" dirty="0"/>
              <a:t> Trigram  </a:t>
            </a:r>
          </a:p>
          <a:p>
            <a:r>
              <a:rPr lang="en-US" sz="2000" dirty="0" err="1"/>
              <a:t>Một</a:t>
            </a:r>
            <a:r>
              <a:rPr lang="en-US" sz="2000" dirty="0"/>
              <a:t> </a:t>
            </a:r>
            <a:r>
              <a:rPr lang="en-US" sz="2000" dirty="0" err="1"/>
              <a:t>Digram</a:t>
            </a:r>
            <a:r>
              <a:rPr lang="en-US" sz="2000" dirty="0"/>
              <a:t> </a:t>
            </a:r>
            <a:r>
              <a:rPr lang="en-US" sz="2000" dirty="0" err="1"/>
              <a:t>thông</a:t>
            </a:r>
            <a:r>
              <a:rPr lang="en-US" sz="2000" dirty="0"/>
              <a:t> </a:t>
            </a:r>
            <a:r>
              <a:rPr lang="en-US" sz="2000" dirty="0" err="1"/>
              <a:t>dụng</a:t>
            </a:r>
            <a:r>
              <a:rPr lang="en-US" sz="2000" dirty="0"/>
              <a:t> </a:t>
            </a:r>
            <a:r>
              <a:rPr lang="en-US" sz="2000" dirty="0" err="1"/>
              <a:t>nhất</a:t>
            </a:r>
            <a:r>
              <a:rPr lang="en-US" sz="2000" dirty="0"/>
              <a:t> </a:t>
            </a:r>
            <a:r>
              <a:rPr lang="en-US" sz="2000" dirty="0" err="1"/>
              <a:t>là</a:t>
            </a:r>
            <a:r>
              <a:rPr lang="en-US" sz="2000" dirty="0"/>
              <a:t> “</a:t>
            </a:r>
            <a:r>
              <a:rPr lang="en-US" sz="2000" dirty="0" err="1"/>
              <a:t>th</a:t>
            </a:r>
            <a:r>
              <a:rPr lang="en-US" sz="2000" dirty="0"/>
              <a:t>”. </a:t>
            </a:r>
            <a:r>
              <a:rPr lang="en-US" sz="2000" dirty="0" err="1"/>
              <a:t>Trong</a:t>
            </a:r>
            <a:r>
              <a:rPr lang="en-US" sz="2000" dirty="0"/>
              <a:t> </a:t>
            </a:r>
            <a:r>
              <a:rPr lang="en-US" sz="2000" dirty="0" err="1"/>
              <a:t>chuỗi</a:t>
            </a:r>
            <a:r>
              <a:rPr lang="en-US" sz="2000" dirty="0"/>
              <a:t> </a:t>
            </a:r>
            <a:r>
              <a:rPr lang="en-US" sz="2000" dirty="0" err="1"/>
              <a:t>mã</a:t>
            </a:r>
            <a:r>
              <a:rPr lang="en-US" sz="2000" dirty="0"/>
              <a:t> </a:t>
            </a:r>
            <a:r>
              <a:rPr lang="en-US" sz="2000" dirty="0" err="1"/>
              <a:t>nhận</a:t>
            </a:r>
            <a:r>
              <a:rPr lang="en-US" sz="2000" dirty="0"/>
              <a:t> </a:t>
            </a:r>
            <a:r>
              <a:rPr lang="en-US" sz="2000" dirty="0" err="1"/>
              <a:t>được</a:t>
            </a:r>
            <a:r>
              <a:rPr lang="en-US" sz="2000" dirty="0"/>
              <a:t> </a:t>
            </a:r>
            <a:r>
              <a:rPr lang="en-US" sz="2000" dirty="0" err="1"/>
              <a:t>có</a:t>
            </a:r>
            <a:r>
              <a:rPr lang="en-US" sz="2000" dirty="0"/>
              <a:t> </a:t>
            </a:r>
            <a:r>
              <a:rPr lang="en-US" sz="2000" dirty="0" err="1"/>
              <a:t>digram</a:t>
            </a:r>
            <a:r>
              <a:rPr lang="en-US" sz="2000" dirty="0"/>
              <a:t> ZW </a:t>
            </a:r>
            <a:r>
              <a:rPr lang="en-US" sz="2000" dirty="0" err="1"/>
              <a:t>là</a:t>
            </a:r>
            <a:r>
              <a:rPr lang="en-US" sz="2000" dirty="0"/>
              <a:t> </a:t>
            </a:r>
            <a:r>
              <a:rPr lang="en-US" sz="2000" dirty="0" err="1"/>
              <a:t>có</a:t>
            </a:r>
            <a:r>
              <a:rPr lang="en-US" sz="2000" dirty="0"/>
              <a:t> </a:t>
            </a:r>
            <a:r>
              <a:rPr lang="en-US" sz="2000" dirty="0" err="1"/>
              <a:t>tần</a:t>
            </a:r>
            <a:r>
              <a:rPr lang="en-US" sz="2000" dirty="0"/>
              <a:t> </a:t>
            </a:r>
            <a:r>
              <a:rPr lang="en-US" sz="2000" dirty="0" err="1"/>
              <a:t>xuất</a:t>
            </a:r>
            <a:r>
              <a:rPr lang="en-US" sz="2000" dirty="0"/>
              <a:t> </a:t>
            </a:r>
            <a:r>
              <a:rPr lang="en-US" sz="2000" dirty="0" err="1"/>
              <a:t>nhiều</a:t>
            </a:r>
            <a:r>
              <a:rPr lang="en-US" sz="2000" dirty="0"/>
              <a:t> </a:t>
            </a:r>
            <a:r>
              <a:rPr lang="en-US" sz="2000" dirty="0" err="1"/>
              <a:t>nhất</a:t>
            </a:r>
            <a:r>
              <a:rPr lang="en-US" sz="2000" dirty="0"/>
              <a:t> </a:t>
            </a:r>
            <a:r>
              <a:rPr lang="en-US" sz="2000" dirty="0" err="1"/>
              <a:t>xuất</a:t>
            </a:r>
            <a:r>
              <a:rPr lang="en-US" sz="2000" dirty="0"/>
              <a:t> </a:t>
            </a:r>
            <a:r>
              <a:rPr lang="en-US" sz="2000" dirty="0" err="1"/>
              <a:t>hiện</a:t>
            </a:r>
            <a:r>
              <a:rPr lang="en-US" sz="2000" dirty="0"/>
              <a:t> 3 </a:t>
            </a:r>
            <a:r>
              <a:rPr lang="en-US" sz="2000" dirty="0" err="1"/>
              <a:t>lần</a:t>
            </a:r>
            <a:r>
              <a:rPr lang="en-US" sz="2000" dirty="0"/>
              <a:t> , </a:t>
            </a:r>
            <a:r>
              <a:rPr lang="en-US" sz="2000" dirty="0" err="1"/>
              <a:t>có</a:t>
            </a:r>
            <a:r>
              <a:rPr lang="en-US" sz="2000" dirty="0"/>
              <a:t> </a:t>
            </a:r>
            <a:r>
              <a:rPr lang="en-US" sz="2000" dirty="0" err="1"/>
              <a:t>thể</a:t>
            </a:r>
            <a:r>
              <a:rPr lang="en-US" sz="2000" dirty="0"/>
              <a:t> </a:t>
            </a:r>
            <a:r>
              <a:rPr lang="en-US" sz="2000" dirty="0" err="1"/>
              <a:t>ánh</a:t>
            </a:r>
            <a:r>
              <a:rPr lang="en-US" sz="2000" dirty="0"/>
              <a:t> </a:t>
            </a:r>
            <a:r>
              <a:rPr lang="en-US" sz="2000" dirty="0" err="1"/>
              <a:t>xạ</a:t>
            </a:r>
            <a:r>
              <a:rPr lang="en-US" sz="2000" dirty="0"/>
              <a:t> Z </a:t>
            </a:r>
            <a:r>
              <a:rPr lang="en-US" sz="2000" dirty="0" err="1"/>
              <a:t>tương</a:t>
            </a:r>
            <a:r>
              <a:rPr lang="en-US" sz="2000" dirty="0"/>
              <a:t> </a:t>
            </a:r>
            <a:r>
              <a:rPr lang="en-US" sz="2000" dirty="0" err="1"/>
              <a:t>ứng</a:t>
            </a:r>
            <a:r>
              <a:rPr lang="en-US" sz="2000" dirty="0"/>
              <a:t> </a:t>
            </a:r>
            <a:r>
              <a:rPr lang="en-US" sz="2000" dirty="0" err="1"/>
              <a:t>với</a:t>
            </a:r>
            <a:r>
              <a:rPr lang="en-US" sz="2000" dirty="0"/>
              <a:t> “t” </a:t>
            </a:r>
            <a:r>
              <a:rPr lang="en-US" sz="2000" dirty="0" err="1"/>
              <a:t>và</a:t>
            </a:r>
            <a:r>
              <a:rPr lang="en-US" sz="2000" dirty="0"/>
              <a:t> W </a:t>
            </a:r>
            <a:r>
              <a:rPr lang="en-US" sz="2000" dirty="0" err="1"/>
              <a:t>tương</a:t>
            </a:r>
            <a:r>
              <a:rPr lang="en-US" sz="2000" dirty="0"/>
              <a:t> </a:t>
            </a:r>
            <a:r>
              <a:rPr lang="en-US" sz="2000" dirty="0" err="1"/>
              <a:t>ứng</a:t>
            </a:r>
            <a:r>
              <a:rPr lang="en-US" sz="2000" dirty="0"/>
              <a:t> </a:t>
            </a:r>
            <a:r>
              <a:rPr lang="en-US" sz="2000" dirty="0" err="1"/>
              <a:t>với</a:t>
            </a:r>
            <a:r>
              <a:rPr lang="en-US" sz="2000" dirty="0"/>
              <a:t> “h”. </a:t>
            </a:r>
            <a:r>
              <a:rPr lang="en-US" sz="2000" dirty="0" err="1"/>
              <a:t>Và</a:t>
            </a:r>
            <a:r>
              <a:rPr lang="en-US" sz="2000" dirty="0"/>
              <a:t> </a:t>
            </a:r>
            <a:r>
              <a:rPr lang="en-US" sz="2000" dirty="0" err="1"/>
              <a:t>giả</a:t>
            </a:r>
            <a:r>
              <a:rPr lang="en-US" sz="2000" dirty="0"/>
              <a:t> </a:t>
            </a:r>
            <a:r>
              <a:rPr lang="en-US" sz="2000" dirty="0" err="1"/>
              <a:t>thiết</a:t>
            </a:r>
            <a:r>
              <a:rPr lang="en-US" sz="2000" dirty="0"/>
              <a:t> </a:t>
            </a:r>
            <a:r>
              <a:rPr lang="en-US" sz="2000" dirty="0" err="1"/>
              <a:t>trước</a:t>
            </a:r>
            <a:r>
              <a:rPr lang="en-US" sz="2000" dirty="0"/>
              <a:t> </a:t>
            </a:r>
            <a:r>
              <a:rPr lang="en-US" sz="2000" dirty="0" err="1"/>
              <a:t>đó</a:t>
            </a:r>
            <a:r>
              <a:rPr lang="en-US" sz="2000" dirty="0"/>
              <a:t> P </a:t>
            </a:r>
            <a:r>
              <a:rPr lang="en-US" sz="2000" dirty="0" err="1"/>
              <a:t>tương</a:t>
            </a:r>
            <a:r>
              <a:rPr lang="en-US" sz="2000" dirty="0"/>
              <a:t> </a:t>
            </a:r>
            <a:r>
              <a:rPr lang="en-US" sz="2000" dirty="0" err="1"/>
              <a:t>ứng</a:t>
            </a:r>
            <a:r>
              <a:rPr lang="en-US" sz="2000" dirty="0"/>
              <a:t> </a:t>
            </a:r>
            <a:r>
              <a:rPr lang="en-US" sz="2000" dirty="0" err="1"/>
              <a:t>với</a:t>
            </a:r>
            <a:r>
              <a:rPr lang="en-US" sz="2000" dirty="0"/>
              <a:t> e, do </a:t>
            </a:r>
            <a:r>
              <a:rPr lang="en-US" sz="2000" dirty="0" err="1"/>
              <a:t>đó</a:t>
            </a:r>
            <a:r>
              <a:rPr lang="en-US" sz="2000" dirty="0"/>
              <a:t> ZWP = the. </a:t>
            </a:r>
          </a:p>
          <a:p>
            <a:r>
              <a:rPr lang="en-US" sz="2000" dirty="0" err="1"/>
              <a:t>Xem</a:t>
            </a:r>
            <a:r>
              <a:rPr lang="en-US" sz="2000" dirty="0"/>
              <a:t> </a:t>
            </a:r>
            <a:r>
              <a:rPr lang="en-US" sz="2000" dirty="0" err="1"/>
              <a:t>xét</a:t>
            </a:r>
            <a:r>
              <a:rPr lang="en-US" sz="2000" dirty="0"/>
              <a:t> </a:t>
            </a:r>
            <a:r>
              <a:rPr lang="en-US" sz="2000" dirty="0" err="1"/>
              <a:t>tới</a:t>
            </a:r>
            <a:r>
              <a:rPr lang="en-US" sz="2000" dirty="0"/>
              <a:t> </a:t>
            </a:r>
            <a:r>
              <a:rPr lang="en-US" sz="2000" dirty="0" err="1"/>
              <a:t>chuỗi</a:t>
            </a:r>
            <a:r>
              <a:rPr lang="en-US" sz="2000" dirty="0"/>
              <a:t> ZWSZ = </a:t>
            </a:r>
            <a:r>
              <a:rPr lang="en-US" sz="2000" dirty="0" err="1"/>
              <a:t>th_t</a:t>
            </a:r>
            <a:r>
              <a:rPr lang="en-US" sz="2000" dirty="0"/>
              <a:t>, do </a:t>
            </a:r>
            <a:r>
              <a:rPr lang="en-US" sz="2000" dirty="0" err="1"/>
              <a:t>đó</a:t>
            </a:r>
            <a:r>
              <a:rPr lang="en-US" sz="2000" dirty="0"/>
              <a:t> S </a:t>
            </a:r>
            <a:r>
              <a:rPr lang="en-US" sz="2000" dirty="0" err="1"/>
              <a:t>tương</a:t>
            </a:r>
            <a:r>
              <a:rPr lang="en-US" sz="2000" dirty="0"/>
              <a:t> </a:t>
            </a:r>
            <a:r>
              <a:rPr lang="en-US" sz="2000" dirty="0" err="1"/>
              <a:t>ứng</a:t>
            </a:r>
            <a:r>
              <a:rPr lang="en-US" sz="2000" dirty="0"/>
              <a:t> </a:t>
            </a:r>
            <a:r>
              <a:rPr lang="en-US" sz="2000" dirty="0" err="1"/>
              <a:t>với</a:t>
            </a:r>
            <a:r>
              <a:rPr lang="en-US" sz="2000" dirty="0"/>
              <a:t> “a” </a:t>
            </a:r>
          </a:p>
          <a:p>
            <a:pPr marL="0" indent="0">
              <a:buNone/>
            </a:pPr>
            <a:br>
              <a:rPr lang="en-US" dirty="0"/>
            </a:br>
            <a:endParaRPr lang="vi-VN" dirty="0"/>
          </a:p>
        </p:txBody>
      </p:sp>
      <p:pic>
        <p:nvPicPr>
          <p:cNvPr id="6" name="Picture 5">
            <a:extLst>
              <a:ext uri="{FF2B5EF4-FFF2-40B4-BE49-F238E27FC236}">
                <a16:creationId xmlns:a16="http://schemas.microsoft.com/office/drawing/2014/main" id="{1D517787-FD1E-FB6E-DEEF-FE72DB9A07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620" y="3213008"/>
            <a:ext cx="7703660" cy="2257425"/>
          </a:xfrm>
          <a:prstGeom prst="rect">
            <a:avLst/>
          </a:prstGeom>
        </p:spPr>
      </p:pic>
      <p:sp>
        <p:nvSpPr>
          <p:cNvPr id="8" name="TextBox 7">
            <a:extLst>
              <a:ext uri="{FF2B5EF4-FFF2-40B4-BE49-F238E27FC236}">
                <a16:creationId xmlns:a16="http://schemas.microsoft.com/office/drawing/2014/main" id="{0D61DFCA-32B4-5607-CE50-26FAD6CC0CCC}"/>
              </a:ext>
            </a:extLst>
          </p:cNvPr>
          <p:cNvSpPr txBox="1"/>
          <p:nvPr/>
        </p:nvSpPr>
        <p:spPr>
          <a:xfrm>
            <a:off x="4751429" y="5103674"/>
            <a:ext cx="4231908" cy="1754326"/>
          </a:xfrm>
          <a:prstGeom prst="rect">
            <a:avLst/>
          </a:prstGeom>
          <a:noFill/>
        </p:spPr>
        <p:txBody>
          <a:bodyPr wrap="square">
            <a:spAutoFit/>
          </a:bodyPr>
          <a:lstStyle/>
          <a:p>
            <a:r>
              <a:rPr lang="en-US" sz="1800" dirty="0">
                <a:effectLst/>
                <a:latin typeface="Courier" pitchFamily="2" charset="0"/>
              </a:rPr>
              <a:t>it was disclosed yesterday that several informal but direct contacts have been made with political representatives of the </a:t>
            </a:r>
            <a:r>
              <a:rPr lang="en-US" sz="1800" dirty="0" err="1">
                <a:effectLst/>
                <a:latin typeface="Courier" pitchFamily="2" charset="0"/>
              </a:rPr>
              <a:t>viet</a:t>
            </a:r>
            <a:r>
              <a:rPr lang="en-US" sz="1800" dirty="0">
                <a:effectLst/>
                <a:latin typeface="Courier" pitchFamily="2" charset="0"/>
              </a:rPr>
              <a:t> </a:t>
            </a:r>
            <a:r>
              <a:rPr lang="en-US" sz="1800" dirty="0" err="1">
                <a:effectLst/>
                <a:latin typeface="Courier" pitchFamily="2" charset="0"/>
              </a:rPr>
              <a:t>cong</a:t>
            </a:r>
            <a:r>
              <a:rPr lang="en-US" sz="1800" dirty="0">
                <a:effectLst/>
                <a:latin typeface="Courier" pitchFamily="2" charset="0"/>
              </a:rPr>
              <a:t> in </a:t>
            </a:r>
            <a:r>
              <a:rPr lang="en-US" sz="1800" dirty="0" err="1">
                <a:effectLst/>
                <a:latin typeface="Courier" pitchFamily="2" charset="0"/>
              </a:rPr>
              <a:t>moscow</a:t>
            </a:r>
            <a:r>
              <a:rPr lang="en-US" sz="1800" dirty="0">
                <a:effectLst/>
                <a:latin typeface="Courier" pitchFamily="2" charset="0"/>
              </a:rPr>
              <a:t> </a:t>
            </a:r>
            <a:endParaRPr lang="en-US" dirty="0"/>
          </a:p>
        </p:txBody>
      </p:sp>
    </p:spTree>
    <p:extLst>
      <p:ext uri="{BB962C8B-B14F-4D97-AF65-F5344CB8AC3E}">
        <p14:creationId xmlns:p14="http://schemas.microsoft.com/office/powerpoint/2010/main" val="3057768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E12DE59A-57BB-4200-AE04-90EF82113BE7}"/>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êu đề 2">
            <a:extLst>
              <a:ext uri="{FF2B5EF4-FFF2-40B4-BE49-F238E27FC236}">
                <a16:creationId xmlns:a16="http://schemas.microsoft.com/office/drawing/2014/main" id="{45D31F5E-ADA7-4AE2-A697-2707659AE77C}"/>
              </a:ext>
            </a:extLst>
          </p:cNvPr>
          <p:cNvSpPr>
            <a:spLocks noGrp="1"/>
          </p:cNvSpPr>
          <p:nvPr>
            <p:ph type="title"/>
          </p:nvPr>
        </p:nvSpPr>
        <p:spPr/>
        <p:txBody>
          <a:bodyPr/>
          <a:lstStyle/>
          <a:p>
            <a:r>
              <a:rPr lang="vi-VN" dirty="0"/>
              <a:t>Bài tập phân tích mã </a:t>
            </a:r>
            <a:r>
              <a:rPr lang="en-US" altLang="en-US" sz="2800" baseline="0" dirty="0"/>
              <a:t>Monoalphabetic Ciphers</a:t>
            </a:r>
            <a:endParaRPr lang="vi-VN" dirty="0"/>
          </a:p>
        </p:txBody>
      </p:sp>
      <p:sp>
        <p:nvSpPr>
          <p:cNvPr id="4" name="Chỗ dành sẵn cho Nội dung 3">
            <a:extLst>
              <a:ext uri="{FF2B5EF4-FFF2-40B4-BE49-F238E27FC236}">
                <a16:creationId xmlns:a16="http://schemas.microsoft.com/office/drawing/2014/main" id="{29DFC9CC-38FE-422A-8A75-18B111E48897}"/>
              </a:ext>
            </a:extLst>
          </p:cNvPr>
          <p:cNvSpPr>
            <a:spLocks noGrp="1"/>
          </p:cNvSpPr>
          <p:nvPr>
            <p:ph sz="quarter" idx="13"/>
          </p:nvPr>
        </p:nvSpPr>
        <p:spPr>
          <a:xfrm>
            <a:off x="235077" y="841247"/>
            <a:ext cx="8674100" cy="2206753"/>
          </a:xfrm>
        </p:spPr>
        <p:txBody>
          <a:bodyPr/>
          <a:lstStyle/>
          <a:p>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UKB </a:t>
            </a:r>
            <a:r>
              <a:rPr lang="en-US" sz="1800" dirty="0">
                <a:solidFill>
                  <a:srgbClr val="ED7D31"/>
                </a:solidFill>
                <a:effectLst/>
                <a:latin typeface="Calibri" panose="020F0502020204030204" pitchFamily="34" charset="0"/>
                <a:ea typeface="Calibri" panose="020F0502020204030204" pitchFamily="34" charset="0"/>
                <a:cs typeface="Times New Roman" panose="02020603050405020304" pitchFamily="18" charset="0"/>
              </a:rPr>
              <a:t>YBIPOUZBCU </a:t>
            </a:r>
            <a:r>
              <a:rPr lang="en-US" sz="1800">
                <a:effectLst/>
                <a:latin typeface="Calibri" panose="020F0502020204030204" pitchFamily="34" charset="0"/>
                <a:ea typeface="Calibri" panose="020F0502020204030204" pitchFamily="34" charset="0"/>
                <a:cs typeface="Times New Roman" panose="02020603050405020304" pitchFamily="18" charset="0"/>
              </a:rPr>
              <a:t>FEEBOR</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UKB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p>
            <a:r>
              <a:rPr lang="en-US" sz="1800">
                <a:solidFill>
                  <a:srgbClr val="ED7D31"/>
                </a:solidFill>
                <a:effectLst/>
                <a:latin typeface="Calibri" panose="020F0502020204030204" pitchFamily="34" charset="0"/>
                <a:ea typeface="Calibri" panose="020F0502020204030204" pitchFamily="34" charset="0"/>
                <a:cs typeface="Times New Roman" panose="02020603050405020304" pitchFamily="18" charset="0"/>
              </a:rPr>
              <a:t>YBIPOUZBCU</a:t>
            </a:r>
            <a:r>
              <a:rPr lang="en-US"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a:t>
            </a:r>
            <a:r>
              <a:rPr lang="en-US" sz="1800">
                <a:effectLst/>
                <a:latin typeface="Calibri" panose="020F0502020204030204" pitchFamily="34" charset="0"/>
                <a:ea typeface="Calibri" panose="020F0502020204030204" pitchFamily="34" charset="0"/>
                <a:cs typeface="Times New Roman" panose="02020603050405020304" pitchFamily="18" charset="0"/>
              </a:rPr>
              <a:t>POUNVNIPUBRNCHOPYXPUBNCUBOYN</a:t>
            </a:r>
            <a:r>
              <a:rPr lang="en-US" sz="180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RVNIWNCPOJIOFHOPZR</a:t>
            </a:r>
            <a:r>
              <a:rPr lang="en-US" sz="1800">
                <a:effectLst/>
                <a:latin typeface="Calibri" panose="020F0502020204030204" pitchFamily="34" charset="0"/>
                <a:ea typeface="Calibri" panose="020F0502020204030204" pitchFamily="34" charset="0"/>
                <a:cs typeface="Times New Roman" panose="02020603050405020304" pitchFamily="18" charset="0"/>
              </a:rPr>
              <a:t>NC</a:t>
            </a:r>
            <a:r>
              <a:rPr lang="en-US" sz="1800">
                <a:solidFill>
                  <a:srgbClr val="7030A0"/>
                </a:solidFill>
                <a:effectLst/>
                <a:latin typeface="Calibri" panose="020F0502020204030204" pitchFamily="34" charset="0"/>
                <a:ea typeface="Calibri" panose="020F0502020204030204" pitchFamily="34" charset="0"/>
                <a:cs typeface="Times New Roman" panose="02020603050405020304" pitchFamily="18" charset="0"/>
              </a:rPr>
              <a:t>RVNBC</a:t>
            </a:r>
            <a:r>
              <a:rPr lang="en-US" sz="1800">
                <a:effectLst/>
                <a:latin typeface="Calibri" panose="020F0502020204030204" pitchFamily="34" charset="0"/>
                <a:ea typeface="Calibri" panose="020F0502020204030204" pitchFamily="34" charset="0"/>
                <a:cs typeface="Times New Roman" panose="02020603050405020304" pitchFamily="18" charset="0"/>
              </a:rPr>
              <a:t>UNENVVFZIXUNCHPCYVFZIXUPUNFCPW</a:t>
            </a:r>
            <a:r>
              <a:rPr lang="en-US" sz="1800">
                <a:solidFill>
                  <a:srgbClr val="70AD47"/>
                </a:solidFill>
                <a:effectLst/>
                <a:latin typeface="Calibri" panose="020F0502020204030204" pitchFamily="34" charset="0"/>
                <a:ea typeface="Calibri" panose="020F0502020204030204" pitchFamily="34" charset="0"/>
                <a:cs typeface="Times New Roman" panose="02020603050405020304" pitchFamily="18" charset="0"/>
              </a:rPr>
              <a:t>ZP</a:t>
            </a:r>
            <a:r>
              <a:rPr lang="en-US" sz="180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UKB</a:t>
            </a:r>
            <a:r>
              <a:rPr lang="en-US" sz="1800">
                <a:solidFill>
                  <a:srgbClr val="ED7D31"/>
                </a:solidFill>
                <a:effectLst/>
                <a:latin typeface="Calibri" panose="020F0502020204030204" pitchFamily="34" charset="0"/>
                <a:ea typeface="Calibri" panose="020F0502020204030204" pitchFamily="34" charset="0"/>
                <a:cs typeface="Times New Roman" panose="02020603050405020304" pitchFamily="18" charset="0"/>
              </a:rPr>
              <a:t>ZPUNV</a:t>
            </a:r>
            <a:r>
              <a:rPr lang="en-US" sz="1800">
                <a:effectLst/>
                <a:latin typeface="Calibri" panose="020F0502020204030204" pitchFamily="34" charset="0"/>
                <a:ea typeface="Calibri" panose="020F0502020204030204" pitchFamily="34" charset="0"/>
                <a:cs typeface="Times New Roman" panose="02020603050405020304" pitchFamily="18" charset="0"/>
              </a:rPr>
              <a:t>R</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https://www.simonsingh.net/The_Black_Chamber/substitutioncrackingtool.html</a:t>
            </a:r>
            <a:r>
              <a:rPr lang="en-VN" dirty="0">
                <a:effectLst/>
              </a:rPr>
              <a:t> </a:t>
            </a:r>
          </a:p>
          <a:p>
            <a:r>
              <a:rPr lang="en-VN"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https://www.dcode.fr/monoalphabetic-substitution</a:t>
            </a:r>
            <a:endParaRPr lang="en-V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vi-VN" dirty="0"/>
          </a:p>
        </p:txBody>
      </p:sp>
    </p:spTree>
    <p:extLst>
      <p:ext uri="{BB962C8B-B14F-4D97-AF65-F5344CB8AC3E}">
        <p14:creationId xmlns:p14="http://schemas.microsoft.com/office/powerpoint/2010/main" val="4153716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4B1D049D-34E6-4258-A8FA-EB8C61541A62}"/>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êu đề 2">
            <a:extLst>
              <a:ext uri="{FF2B5EF4-FFF2-40B4-BE49-F238E27FC236}">
                <a16:creationId xmlns:a16="http://schemas.microsoft.com/office/drawing/2014/main" id="{A09E8AB9-19BB-46C5-A7AE-CF70FE165662}"/>
              </a:ext>
            </a:extLst>
          </p:cNvPr>
          <p:cNvSpPr>
            <a:spLocks noGrp="1"/>
          </p:cNvSpPr>
          <p:nvPr>
            <p:ph type="title"/>
          </p:nvPr>
        </p:nvSpPr>
        <p:spPr/>
        <p:txBody>
          <a:bodyPr/>
          <a:lstStyle/>
          <a:p>
            <a:r>
              <a:rPr lang="en-US" dirty="0" err="1"/>
              <a:t>Mã</a:t>
            </a:r>
            <a:r>
              <a:rPr lang="en-US" dirty="0"/>
              <a:t> Playfair </a:t>
            </a:r>
            <a:endParaRPr lang="vi-VN" dirty="0"/>
          </a:p>
        </p:txBody>
      </p:sp>
      <p:sp>
        <p:nvSpPr>
          <p:cNvPr id="4" name="Chỗ dành sẵn cho Nội dung 3">
            <a:extLst>
              <a:ext uri="{FF2B5EF4-FFF2-40B4-BE49-F238E27FC236}">
                <a16:creationId xmlns:a16="http://schemas.microsoft.com/office/drawing/2014/main" id="{46F47ADE-2E9C-48A5-AA5E-3338F079F506}"/>
              </a:ext>
            </a:extLst>
          </p:cNvPr>
          <p:cNvSpPr>
            <a:spLocks noGrp="1"/>
          </p:cNvSpPr>
          <p:nvPr>
            <p:ph sz="quarter" idx="13"/>
          </p:nvPr>
        </p:nvSpPr>
        <p:spPr/>
        <p:txBody>
          <a:bodyPr/>
          <a:lstStyle/>
          <a:p>
            <a:r>
              <a:rPr lang="en-US" sz="2000" dirty="0" err="1"/>
              <a:t>Thuật</a:t>
            </a:r>
            <a:r>
              <a:rPr lang="en-US" sz="2000" dirty="0"/>
              <a:t> </a:t>
            </a:r>
            <a:r>
              <a:rPr lang="en-US" sz="2000" dirty="0" err="1"/>
              <a:t>toán</a:t>
            </a:r>
            <a:r>
              <a:rPr lang="en-US" sz="2000" dirty="0"/>
              <a:t> Playfair </a:t>
            </a:r>
            <a:r>
              <a:rPr lang="en-US" sz="2000" dirty="0" err="1"/>
              <a:t>dựa</a:t>
            </a:r>
            <a:r>
              <a:rPr lang="en-US" sz="2000" dirty="0"/>
              <a:t> </a:t>
            </a:r>
            <a:r>
              <a:rPr lang="en-US" sz="2000" dirty="0" err="1"/>
              <a:t>trên</a:t>
            </a:r>
            <a:r>
              <a:rPr lang="en-US" sz="2000" dirty="0"/>
              <a:t> ma </a:t>
            </a:r>
            <a:r>
              <a:rPr lang="en-US" sz="2000" dirty="0" err="1"/>
              <a:t>trận</a:t>
            </a:r>
            <a:r>
              <a:rPr lang="en-US" sz="2000" dirty="0"/>
              <a:t> </a:t>
            </a:r>
            <a:r>
              <a:rPr lang="en-US" sz="2000" dirty="0" err="1"/>
              <a:t>ký</a:t>
            </a:r>
            <a:r>
              <a:rPr lang="en-US" sz="2000" dirty="0"/>
              <a:t> </a:t>
            </a:r>
            <a:r>
              <a:rPr lang="en-US" sz="2000" dirty="0" err="1"/>
              <a:t>tự</a:t>
            </a:r>
            <a:r>
              <a:rPr lang="en-US" sz="2000" dirty="0"/>
              <a:t> 5 × 5 </a:t>
            </a:r>
            <a:r>
              <a:rPr lang="en-US" sz="2000" dirty="0" err="1"/>
              <a:t>cấu</a:t>
            </a:r>
            <a:r>
              <a:rPr lang="en-US" sz="2000" dirty="0"/>
              <a:t> </a:t>
            </a:r>
            <a:r>
              <a:rPr lang="en-US" sz="2000" dirty="0" err="1"/>
              <a:t>trúc</a:t>
            </a:r>
            <a:r>
              <a:rPr lang="en-US" sz="2000" dirty="0"/>
              <a:t> </a:t>
            </a:r>
            <a:r>
              <a:rPr lang="en-US" sz="2000" dirty="0" err="1"/>
              <a:t>như</a:t>
            </a:r>
            <a:r>
              <a:rPr lang="en-US" sz="2000" dirty="0"/>
              <a:t> </a:t>
            </a:r>
            <a:r>
              <a:rPr lang="en-US" sz="2000" dirty="0" err="1"/>
              <a:t>là</a:t>
            </a:r>
            <a:r>
              <a:rPr lang="en-US" sz="2000" dirty="0"/>
              <a:t> </a:t>
            </a:r>
            <a:r>
              <a:rPr lang="en-US" sz="2000" dirty="0" err="1"/>
              <a:t>một</a:t>
            </a:r>
            <a:r>
              <a:rPr lang="en-US" sz="2000" dirty="0"/>
              <a:t> </a:t>
            </a:r>
            <a:r>
              <a:rPr lang="en-US" sz="2000" dirty="0" err="1"/>
              <a:t>từ</a:t>
            </a:r>
            <a:r>
              <a:rPr lang="en-US" sz="2000" dirty="0"/>
              <a:t> </a:t>
            </a:r>
            <a:r>
              <a:rPr lang="en-US" sz="2000" dirty="0" err="1"/>
              <a:t>khoá</a:t>
            </a:r>
            <a:r>
              <a:rPr lang="en-US" sz="2000" dirty="0"/>
              <a:t>. </a:t>
            </a:r>
            <a:r>
              <a:rPr lang="en-US" sz="2000" dirty="0" err="1"/>
              <a:t>Ví</a:t>
            </a:r>
            <a:r>
              <a:rPr lang="en-US" sz="2000" dirty="0"/>
              <a:t> </a:t>
            </a:r>
            <a:r>
              <a:rPr lang="en-US" sz="2000" dirty="0" err="1"/>
              <a:t>dụ</a:t>
            </a:r>
            <a:r>
              <a:rPr lang="en-US" sz="2000" dirty="0"/>
              <a:t> (solved by Lord Peter Wimsey in Dorothy Sayers’s Have His </a:t>
            </a:r>
            <a:r>
              <a:rPr lang="en-US" sz="2000" dirty="0" err="1"/>
              <a:t>Carcase</a:t>
            </a:r>
            <a:r>
              <a:rPr lang="en-US" sz="2000" dirty="0"/>
              <a:t> ). </a:t>
            </a:r>
            <a:r>
              <a:rPr lang="en-US" sz="2000" dirty="0" err="1"/>
              <a:t>Từ</a:t>
            </a:r>
            <a:r>
              <a:rPr lang="en-US" sz="2000" dirty="0"/>
              <a:t> </a:t>
            </a:r>
            <a:r>
              <a:rPr lang="en-US" sz="2000" dirty="0" err="1"/>
              <a:t>khoá</a:t>
            </a:r>
            <a:r>
              <a:rPr lang="en-US" sz="2000" dirty="0"/>
              <a:t> </a:t>
            </a:r>
            <a:r>
              <a:rPr lang="en-US" sz="2000" dirty="0" err="1"/>
              <a:t>là</a:t>
            </a:r>
            <a:r>
              <a:rPr lang="en-US" sz="2000" dirty="0"/>
              <a:t> MONARCHY</a:t>
            </a:r>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Ma </a:t>
            </a:r>
            <a:r>
              <a:rPr lang="en-US" sz="2000" dirty="0" err="1"/>
              <a:t>trận</a:t>
            </a:r>
            <a:r>
              <a:rPr lang="en-US" sz="2000" dirty="0"/>
              <a:t> </a:t>
            </a:r>
            <a:r>
              <a:rPr lang="en-US" sz="2000" dirty="0" err="1"/>
              <a:t>được</a:t>
            </a:r>
            <a:r>
              <a:rPr lang="en-US" sz="2000" dirty="0"/>
              <a:t> </a:t>
            </a:r>
            <a:r>
              <a:rPr lang="en-US" sz="2000" dirty="0" err="1"/>
              <a:t>thiết</a:t>
            </a:r>
            <a:r>
              <a:rPr lang="en-US" sz="2000" dirty="0"/>
              <a:t> </a:t>
            </a:r>
            <a:r>
              <a:rPr lang="en-US" sz="2000" dirty="0" err="1"/>
              <a:t>lập</a:t>
            </a:r>
            <a:r>
              <a:rPr lang="en-US" sz="2000" dirty="0"/>
              <a:t> </a:t>
            </a:r>
            <a:r>
              <a:rPr lang="en-US" sz="2000" dirty="0" err="1"/>
              <a:t>bằng</a:t>
            </a:r>
            <a:r>
              <a:rPr lang="en-US" sz="2000" dirty="0"/>
              <a:t> </a:t>
            </a:r>
            <a:r>
              <a:rPr lang="en-US" sz="2000" dirty="0" err="1"/>
              <a:t>cách</a:t>
            </a:r>
            <a:r>
              <a:rPr lang="en-US" sz="2000" dirty="0"/>
              <a:t> </a:t>
            </a:r>
            <a:r>
              <a:rPr lang="en-US" sz="2000" dirty="0" err="1"/>
              <a:t>điền</a:t>
            </a:r>
            <a:r>
              <a:rPr lang="en-US" sz="2000" dirty="0"/>
              <a:t> </a:t>
            </a:r>
            <a:r>
              <a:rPr lang="en-US" sz="2000" dirty="0" err="1"/>
              <a:t>các</a:t>
            </a:r>
            <a:r>
              <a:rPr lang="en-US" sz="2000" dirty="0"/>
              <a:t> </a:t>
            </a:r>
            <a:r>
              <a:rPr lang="en-US" sz="2000" dirty="0" err="1"/>
              <a:t>ký</a:t>
            </a:r>
            <a:r>
              <a:rPr lang="en-US" sz="2000" dirty="0"/>
              <a:t> </a:t>
            </a:r>
            <a:r>
              <a:rPr lang="en-US" sz="2000" dirty="0" err="1"/>
              <a:t>tự</a:t>
            </a:r>
            <a:r>
              <a:rPr lang="en-US" sz="2000" dirty="0"/>
              <a:t> </a:t>
            </a:r>
            <a:r>
              <a:rPr lang="en-US" sz="2000" dirty="0" err="1"/>
              <a:t>của</a:t>
            </a:r>
            <a:r>
              <a:rPr lang="en-US" sz="2000" dirty="0"/>
              <a:t> </a:t>
            </a:r>
            <a:r>
              <a:rPr lang="en-US" sz="2000" dirty="0" err="1"/>
              <a:t>từ</a:t>
            </a:r>
            <a:r>
              <a:rPr lang="en-US" sz="2000" dirty="0"/>
              <a:t> </a:t>
            </a:r>
            <a:r>
              <a:rPr lang="en-US" sz="2000" dirty="0" err="1"/>
              <a:t>khoá</a:t>
            </a:r>
            <a:r>
              <a:rPr lang="en-US" sz="2000" dirty="0"/>
              <a:t> (</a:t>
            </a:r>
            <a:r>
              <a:rPr lang="en-US" sz="2000" dirty="0" err="1"/>
              <a:t>trừ</a:t>
            </a:r>
            <a:r>
              <a:rPr lang="en-US" sz="2000" dirty="0"/>
              <a:t> </a:t>
            </a:r>
            <a:r>
              <a:rPr lang="en-US" sz="2000" dirty="0" err="1"/>
              <a:t>những</a:t>
            </a:r>
            <a:r>
              <a:rPr lang="en-US" sz="2000" dirty="0"/>
              <a:t> </a:t>
            </a:r>
            <a:r>
              <a:rPr lang="en-US" sz="2000" dirty="0" err="1"/>
              <a:t>chữ</a:t>
            </a:r>
            <a:r>
              <a:rPr lang="en-US" sz="2000" dirty="0"/>
              <a:t> </a:t>
            </a:r>
            <a:r>
              <a:rPr lang="en-US" sz="2000" dirty="0" err="1"/>
              <a:t>cái</a:t>
            </a:r>
            <a:r>
              <a:rPr lang="en-US" sz="2000" dirty="0"/>
              <a:t> </a:t>
            </a:r>
            <a:r>
              <a:rPr lang="en-US" sz="2000" dirty="0" err="1"/>
              <a:t>trùng</a:t>
            </a:r>
            <a:r>
              <a:rPr lang="en-US" sz="2000" dirty="0"/>
              <a:t> </a:t>
            </a:r>
            <a:r>
              <a:rPr lang="en-US" sz="2000" dirty="0" err="1"/>
              <a:t>lặp</a:t>
            </a:r>
            <a:r>
              <a:rPr lang="en-US" sz="2000" dirty="0"/>
              <a:t>) </a:t>
            </a:r>
            <a:r>
              <a:rPr lang="en-US" sz="2000" dirty="0" err="1"/>
              <a:t>từ</a:t>
            </a:r>
            <a:r>
              <a:rPr lang="en-US" sz="2000" dirty="0"/>
              <a:t> </a:t>
            </a:r>
            <a:r>
              <a:rPr lang="en-US" sz="2000" dirty="0" err="1"/>
              <a:t>trái</a:t>
            </a:r>
            <a:r>
              <a:rPr lang="en-US" sz="2000" dirty="0"/>
              <a:t> sang </a:t>
            </a:r>
            <a:r>
              <a:rPr lang="en-US" sz="2000" dirty="0" err="1"/>
              <a:t>phải</a:t>
            </a:r>
            <a:r>
              <a:rPr lang="en-US" sz="2000" dirty="0"/>
              <a:t> </a:t>
            </a:r>
            <a:r>
              <a:rPr lang="en-US" sz="2000" dirty="0" err="1"/>
              <a:t>từ</a:t>
            </a:r>
            <a:r>
              <a:rPr lang="en-US" sz="2000" dirty="0"/>
              <a:t> </a:t>
            </a:r>
            <a:r>
              <a:rPr lang="en-US" sz="2000" dirty="0" err="1"/>
              <a:t>trên</a:t>
            </a:r>
            <a:r>
              <a:rPr lang="en-US" sz="2000" dirty="0"/>
              <a:t> </a:t>
            </a:r>
            <a:r>
              <a:rPr lang="en-US" sz="2000" dirty="0" err="1"/>
              <a:t>xuống</a:t>
            </a:r>
            <a:r>
              <a:rPr lang="en-US" sz="2000" dirty="0"/>
              <a:t> </a:t>
            </a:r>
            <a:r>
              <a:rPr lang="en-US" sz="2000" dirty="0" err="1"/>
              <a:t>dưới</a:t>
            </a:r>
            <a:r>
              <a:rPr lang="en-US" sz="2000" dirty="0"/>
              <a:t>, </a:t>
            </a:r>
            <a:r>
              <a:rPr lang="en-US" sz="2000" dirty="0" err="1"/>
              <a:t>sau</a:t>
            </a:r>
            <a:r>
              <a:rPr lang="en-US" sz="2000" dirty="0"/>
              <a:t> </a:t>
            </a:r>
            <a:r>
              <a:rPr lang="en-US" sz="2000" dirty="0" err="1"/>
              <a:t>đó</a:t>
            </a:r>
            <a:r>
              <a:rPr lang="en-US" sz="2000" dirty="0"/>
              <a:t> </a:t>
            </a:r>
            <a:r>
              <a:rPr lang="en-US" sz="2000" dirty="0" err="1"/>
              <a:t>điền</a:t>
            </a:r>
            <a:r>
              <a:rPr lang="en-US" sz="2000" dirty="0"/>
              <a:t> </a:t>
            </a:r>
            <a:r>
              <a:rPr lang="vi-VN" sz="2000" dirty="0"/>
              <a:t>vào phần còn lại của ma trận với các chữ cái còn lại theo thứ tự bảng chữ cái. Các chữ cái I và J được tính là một chữ cái. Bản rõ được mã hóa hai chữ cái cùng một lúc, theo các quy tắc sau:</a:t>
            </a:r>
            <a:endParaRPr lang="en-US" sz="2000" dirty="0"/>
          </a:p>
          <a:p>
            <a:endParaRPr lang="vi-VN" sz="2000" dirty="0"/>
          </a:p>
        </p:txBody>
      </p:sp>
      <p:graphicFrame>
        <p:nvGraphicFramePr>
          <p:cNvPr id="5" name="Table 4">
            <a:extLst>
              <a:ext uri="{FF2B5EF4-FFF2-40B4-BE49-F238E27FC236}">
                <a16:creationId xmlns:a16="http://schemas.microsoft.com/office/drawing/2014/main" id="{073B18D7-1B0D-A43B-AD03-AF88B915B6EF}"/>
              </a:ext>
            </a:extLst>
          </p:cNvPr>
          <p:cNvGraphicFramePr>
            <a:graphicFrameLocks noGrp="1"/>
          </p:cNvGraphicFramePr>
          <p:nvPr>
            <p:extLst>
              <p:ext uri="{D42A27DB-BD31-4B8C-83A1-F6EECF244321}">
                <p14:modId xmlns:p14="http://schemas.microsoft.com/office/powerpoint/2010/main" val="1581532940"/>
              </p:ext>
            </p:extLst>
          </p:nvPr>
        </p:nvGraphicFramePr>
        <p:xfrm>
          <a:off x="870190" y="2118578"/>
          <a:ext cx="2490979" cy="1981200"/>
        </p:xfrm>
        <a:graphic>
          <a:graphicData uri="http://schemas.openxmlformats.org/drawingml/2006/table">
            <a:tbl>
              <a:tblPr>
                <a:tableStyleId>{5940675A-B579-460E-94D1-54222C63F5DA}</a:tableStyleId>
              </a:tblPr>
              <a:tblGrid>
                <a:gridCol w="514668">
                  <a:extLst>
                    <a:ext uri="{9D8B030D-6E8A-4147-A177-3AD203B41FA5}">
                      <a16:colId xmlns:a16="http://schemas.microsoft.com/office/drawing/2014/main" val="870119047"/>
                    </a:ext>
                  </a:extLst>
                </a:gridCol>
                <a:gridCol w="465455">
                  <a:extLst>
                    <a:ext uri="{9D8B030D-6E8A-4147-A177-3AD203B41FA5}">
                      <a16:colId xmlns:a16="http://schemas.microsoft.com/office/drawing/2014/main" val="1814997630"/>
                    </a:ext>
                  </a:extLst>
                </a:gridCol>
                <a:gridCol w="522605">
                  <a:extLst>
                    <a:ext uri="{9D8B030D-6E8A-4147-A177-3AD203B41FA5}">
                      <a16:colId xmlns:a16="http://schemas.microsoft.com/office/drawing/2014/main" val="2916091133"/>
                    </a:ext>
                  </a:extLst>
                </a:gridCol>
                <a:gridCol w="535496">
                  <a:extLst>
                    <a:ext uri="{9D8B030D-6E8A-4147-A177-3AD203B41FA5}">
                      <a16:colId xmlns:a16="http://schemas.microsoft.com/office/drawing/2014/main" val="626446546"/>
                    </a:ext>
                  </a:extLst>
                </a:gridCol>
                <a:gridCol w="452755">
                  <a:extLst>
                    <a:ext uri="{9D8B030D-6E8A-4147-A177-3AD203B41FA5}">
                      <a16:colId xmlns:a16="http://schemas.microsoft.com/office/drawing/2014/main" val="2246002901"/>
                    </a:ext>
                  </a:extLst>
                </a:gridCol>
              </a:tblGrid>
              <a:tr h="0">
                <a:tc>
                  <a:txBody>
                    <a:bodyPr/>
                    <a:lstStyle/>
                    <a:p>
                      <a:r>
                        <a:rPr lang="en-US" sz="2000">
                          <a:effectLst/>
                        </a:rPr>
                        <a:t>M </a:t>
                      </a:r>
                    </a:p>
                  </a:txBody>
                  <a:tcPr anchor="ctr">
                    <a:solidFill>
                      <a:schemeClr val="accent2"/>
                    </a:solidFill>
                  </a:tcPr>
                </a:tc>
                <a:tc>
                  <a:txBody>
                    <a:bodyPr/>
                    <a:lstStyle/>
                    <a:p>
                      <a:r>
                        <a:rPr lang="en-US" sz="2000">
                          <a:effectLst/>
                        </a:rPr>
                        <a:t>O </a:t>
                      </a:r>
                    </a:p>
                  </a:txBody>
                  <a:tcPr anchor="ctr">
                    <a:solidFill>
                      <a:schemeClr val="accent2"/>
                    </a:solidFill>
                  </a:tcPr>
                </a:tc>
                <a:tc>
                  <a:txBody>
                    <a:bodyPr/>
                    <a:lstStyle/>
                    <a:p>
                      <a:r>
                        <a:rPr lang="en-US" sz="2000">
                          <a:effectLst/>
                        </a:rPr>
                        <a:t>N </a:t>
                      </a:r>
                    </a:p>
                  </a:txBody>
                  <a:tcPr anchor="ctr">
                    <a:solidFill>
                      <a:schemeClr val="accent2"/>
                    </a:solidFill>
                  </a:tcPr>
                </a:tc>
                <a:tc>
                  <a:txBody>
                    <a:bodyPr/>
                    <a:lstStyle/>
                    <a:p>
                      <a:r>
                        <a:rPr lang="en-US" sz="2000">
                          <a:effectLst/>
                        </a:rPr>
                        <a:t>A </a:t>
                      </a:r>
                    </a:p>
                  </a:txBody>
                  <a:tcPr anchor="ctr">
                    <a:solidFill>
                      <a:schemeClr val="accent2"/>
                    </a:solidFill>
                  </a:tcPr>
                </a:tc>
                <a:tc>
                  <a:txBody>
                    <a:bodyPr/>
                    <a:lstStyle/>
                    <a:p>
                      <a:r>
                        <a:rPr lang="en-US" sz="2000" dirty="0">
                          <a:effectLst/>
                        </a:rPr>
                        <a:t>R </a:t>
                      </a:r>
                    </a:p>
                  </a:txBody>
                  <a:tcPr anchor="ctr">
                    <a:solidFill>
                      <a:schemeClr val="accent2"/>
                    </a:solidFill>
                  </a:tcPr>
                </a:tc>
                <a:extLst>
                  <a:ext uri="{0D108BD9-81ED-4DB2-BD59-A6C34878D82A}">
                    <a16:rowId xmlns:a16="http://schemas.microsoft.com/office/drawing/2014/main" val="3071542437"/>
                  </a:ext>
                </a:extLst>
              </a:tr>
              <a:tr h="0">
                <a:tc>
                  <a:txBody>
                    <a:bodyPr/>
                    <a:lstStyle/>
                    <a:p>
                      <a:r>
                        <a:rPr lang="en-US" sz="2000">
                          <a:effectLst/>
                        </a:rPr>
                        <a:t>C </a:t>
                      </a:r>
                    </a:p>
                  </a:txBody>
                  <a:tcPr anchor="ctr">
                    <a:solidFill>
                      <a:schemeClr val="accent2"/>
                    </a:solidFill>
                  </a:tcPr>
                </a:tc>
                <a:tc>
                  <a:txBody>
                    <a:bodyPr/>
                    <a:lstStyle/>
                    <a:p>
                      <a:r>
                        <a:rPr lang="en-US" sz="2000">
                          <a:effectLst/>
                        </a:rPr>
                        <a:t>H </a:t>
                      </a:r>
                    </a:p>
                  </a:txBody>
                  <a:tcPr anchor="ctr">
                    <a:solidFill>
                      <a:schemeClr val="accent2"/>
                    </a:solidFill>
                  </a:tcPr>
                </a:tc>
                <a:tc>
                  <a:txBody>
                    <a:bodyPr/>
                    <a:lstStyle/>
                    <a:p>
                      <a:r>
                        <a:rPr lang="en-US" sz="2000" dirty="0">
                          <a:effectLst/>
                        </a:rPr>
                        <a:t>Y </a:t>
                      </a:r>
                    </a:p>
                  </a:txBody>
                  <a:tcPr anchor="ctr">
                    <a:solidFill>
                      <a:schemeClr val="accent2"/>
                    </a:solidFill>
                  </a:tcPr>
                </a:tc>
                <a:tc>
                  <a:txBody>
                    <a:bodyPr/>
                    <a:lstStyle/>
                    <a:p>
                      <a:r>
                        <a:rPr lang="en-US" sz="2000">
                          <a:effectLst/>
                        </a:rPr>
                        <a:t>B </a:t>
                      </a:r>
                    </a:p>
                  </a:txBody>
                  <a:tcPr anchor="ctr"/>
                </a:tc>
                <a:tc>
                  <a:txBody>
                    <a:bodyPr/>
                    <a:lstStyle/>
                    <a:p>
                      <a:r>
                        <a:rPr lang="en-US" sz="2000">
                          <a:effectLst/>
                        </a:rPr>
                        <a:t>D </a:t>
                      </a:r>
                    </a:p>
                  </a:txBody>
                  <a:tcPr anchor="ctr"/>
                </a:tc>
                <a:extLst>
                  <a:ext uri="{0D108BD9-81ED-4DB2-BD59-A6C34878D82A}">
                    <a16:rowId xmlns:a16="http://schemas.microsoft.com/office/drawing/2014/main" val="2377190902"/>
                  </a:ext>
                </a:extLst>
              </a:tr>
              <a:tr h="0">
                <a:tc>
                  <a:txBody>
                    <a:bodyPr/>
                    <a:lstStyle/>
                    <a:p>
                      <a:r>
                        <a:rPr lang="en-US" sz="2000">
                          <a:effectLst/>
                        </a:rPr>
                        <a:t>E </a:t>
                      </a:r>
                    </a:p>
                  </a:txBody>
                  <a:tcPr anchor="ctr"/>
                </a:tc>
                <a:tc>
                  <a:txBody>
                    <a:bodyPr/>
                    <a:lstStyle/>
                    <a:p>
                      <a:r>
                        <a:rPr lang="en-US" sz="2000" dirty="0">
                          <a:effectLst/>
                        </a:rPr>
                        <a:t>F </a:t>
                      </a:r>
                    </a:p>
                  </a:txBody>
                  <a:tcPr anchor="ctr"/>
                </a:tc>
                <a:tc>
                  <a:txBody>
                    <a:bodyPr/>
                    <a:lstStyle/>
                    <a:p>
                      <a:r>
                        <a:rPr lang="en-US" sz="2000">
                          <a:effectLst/>
                        </a:rPr>
                        <a:t>G </a:t>
                      </a:r>
                    </a:p>
                  </a:txBody>
                  <a:tcPr anchor="ctr"/>
                </a:tc>
                <a:tc>
                  <a:txBody>
                    <a:bodyPr/>
                    <a:lstStyle/>
                    <a:p>
                      <a:r>
                        <a:rPr lang="en-US" sz="2000">
                          <a:effectLst/>
                        </a:rPr>
                        <a:t>I/J </a:t>
                      </a:r>
                    </a:p>
                  </a:txBody>
                  <a:tcPr anchor="ctr"/>
                </a:tc>
                <a:tc>
                  <a:txBody>
                    <a:bodyPr/>
                    <a:lstStyle/>
                    <a:p>
                      <a:r>
                        <a:rPr lang="en-US" sz="2000">
                          <a:effectLst/>
                        </a:rPr>
                        <a:t>K </a:t>
                      </a:r>
                    </a:p>
                  </a:txBody>
                  <a:tcPr anchor="ctr"/>
                </a:tc>
                <a:extLst>
                  <a:ext uri="{0D108BD9-81ED-4DB2-BD59-A6C34878D82A}">
                    <a16:rowId xmlns:a16="http://schemas.microsoft.com/office/drawing/2014/main" val="484952875"/>
                  </a:ext>
                </a:extLst>
              </a:tr>
              <a:tr h="0">
                <a:tc>
                  <a:txBody>
                    <a:bodyPr/>
                    <a:lstStyle/>
                    <a:p>
                      <a:r>
                        <a:rPr lang="en-US" sz="2000">
                          <a:effectLst/>
                        </a:rPr>
                        <a:t>L </a:t>
                      </a:r>
                    </a:p>
                  </a:txBody>
                  <a:tcPr anchor="ctr"/>
                </a:tc>
                <a:tc>
                  <a:txBody>
                    <a:bodyPr/>
                    <a:lstStyle/>
                    <a:p>
                      <a:r>
                        <a:rPr lang="en-US" sz="2000">
                          <a:effectLst/>
                        </a:rPr>
                        <a:t>P </a:t>
                      </a:r>
                    </a:p>
                  </a:txBody>
                  <a:tcPr anchor="ctr"/>
                </a:tc>
                <a:tc>
                  <a:txBody>
                    <a:bodyPr/>
                    <a:lstStyle/>
                    <a:p>
                      <a:r>
                        <a:rPr lang="en-US" sz="2000">
                          <a:effectLst/>
                        </a:rPr>
                        <a:t>Q </a:t>
                      </a:r>
                    </a:p>
                  </a:txBody>
                  <a:tcPr anchor="ctr"/>
                </a:tc>
                <a:tc>
                  <a:txBody>
                    <a:bodyPr/>
                    <a:lstStyle/>
                    <a:p>
                      <a:r>
                        <a:rPr lang="en-US" sz="2000">
                          <a:effectLst/>
                        </a:rPr>
                        <a:t>S </a:t>
                      </a:r>
                    </a:p>
                  </a:txBody>
                  <a:tcPr anchor="ctr"/>
                </a:tc>
                <a:tc>
                  <a:txBody>
                    <a:bodyPr/>
                    <a:lstStyle/>
                    <a:p>
                      <a:r>
                        <a:rPr lang="en-US" sz="2000">
                          <a:effectLst/>
                        </a:rPr>
                        <a:t>T </a:t>
                      </a:r>
                    </a:p>
                  </a:txBody>
                  <a:tcPr anchor="ctr"/>
                </a:tc>
                <a:extLst>
                  <a:ext uri="{0D108BD9-81ED-4DB2-BD59-A6C34878D82A}">
                    <a16:rowId xmlns:a16="http://schemas.microsoft.com/office/drawing/2014/main" val="2715678272"/>
                  </a:ext>
                </a:extLst>
              </a:tr>
              <a:tr h="0">
                <a:tc>
                  <a:txBody>
                    <a:bodyPr/>
                    <a:lstStyle/>
                    <a:p>
                      <a:r>
                        <a:rPr lang="en-US" sz="2000">
                          <a:effectLst/>
                        </a:rPr>
                        <a:t>U </a:t>
                      </a:r>
                    </a:p>
                  </a:txBody>
                  <a:tcPr anchor="ctr"/>
                </a:tc>
                <a:tc>
                  <a:txBody>
                    <a:bodyPr/>
                    <a:lstStyle/>
                    <a:p>
                      <a:r>
                        <a:rPr lang="en-US" sz="2000">
                          <a:effectLst/>
                        </a:rPr>
                        <a:t>V </a:t>
                      </a:r>
                    </a:p>
                  </a:txBody>
                  <a:tcPr anchor="ctr"/>
                </a:tc>
                <a:tc>
                  <a:txBody>
                    <a:bodyPr/>
                    <a:lstStyle/>
                    <a:p>
                      <a:r>
                        <a:rPr lang="en-US" sz="2000">
                          <a:effectLst/>
                        </a:rPr>
                        <a:t>W </a:t>
                      </a:r>
                    </a:p>
                  </a:txBody>
                  <a:tcPr anchor="ctr"/>
                </a:tc>
                <a:tc>
                  <a:txBody>
                    <a:bodyPr/>
                    <a:lstStyle/>
                    <a:p>
                      <a:r>
                        <a:rPr lang="en-US" sz="2000">
                          <a:effectLst/>
                        </a:rPr>
                        <a:t>X </a:t>
                      </a:r>
                    </a:p>
                  </a:txBody>
                  <a:tcPr anchor="ctr"/>
                </a:tc>
                <a:tc>
                  <a:txBody>
                    <a:bodyPr/>
                    <a:lstStyle/>
                    <a:p>
                      <a:r>
                        <a:rPr lang="en-US" sz="2000" dirty="0">
                          <a:effectLst/>
                        </a:rPr>
                        <a:t>Z </a:t>
                      </a:r>
                    </a:p>
                  </a:txBody>
                  <a:tcPr anchor="ctr"/>
                </a:tc>
                <a:extLst>
                  <a:ext uri="{0D108BD9-81ED-4DB2-BD59-A6C34878D82A}">
                    <a16:rowId xmlns:a16="http://schemas.microsoft.com/office/drawing/2014/main" val="539015256"/>
                  </a:ext>
                </a:extLst>
              </a:tr>
            </a:tbl>
          </a:graphicData>
        </a:graphic>
      </p:graphicFrame>
    </p:spTree>
    <p:extLst>
      <p:ext uri="{BB962C8B-B14F-4D97-AF65-F5344CB8AC3E}">
        <p14:creationId xmlns:p14="http://schemas.microsoft.com/office/powerpoint/2010/main" val="3928681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1BA6E9-EAAD-64E3-1544-B514E6E97C6D}"/>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AD668069-4DEB-292B-52C6-5B3040798B13}"/>
              </a:ext>
            </a:extLst>
          </p:cNvPr>
          <p:cNvSpPr>
            <a:spLocks noGrp="1"/>
          </p:cNvSpPr>
          <p:nvPr>
            <p:ph type="title"/>
          </p:nvPr>
        </p:nvSpPr>
        <p:spPr/>
        <p:txBody>
          <a:bodyPr/>
          <a:lstStyle/>
          <a:p>
            <a:r>
              <a:rPr lang="en-US" dirty="0" err="1"/>
              <a:t>Mã</a:t>
            </a:r>
            <a:r>
              <a:rPr lang="en-US" dirty="0"/>
              <a:t> Playfair </a:t>
            </a:r>
            <a:endParaRPr dirty="0"/>
          </a:p>
        </p:txBody>
      </p:sp>
      <p:sp>
        <p:nvSpPr>
          <p:cNvPr id="4" name="Content Placeholder 3">
            <a:extLst>
              <a:ext uri="{FF2B5EF4-FFF2-40B4-BE49-F238E27FC236}">
                <a16:creationId xmlns:a16="http://schemas.microsoft.com/office/drawing/2014/main" id="{41C8EFEA-19D4-3964-20B6-0D514E16C49D}"/>
              </a:ext>
            </a:extLst>
          </p:cNvPr>
          <p:cNvSpPr>
            <a:spLocks noGrp="1"/>
          </p:cNvSpPr>
          <p:nvPr>
            <p:ph sz="quarter" idx="13"/>
          </p:nvPr>
        </p:nvSpPr>
        <p:spPr/>
        <p:txBody>
          <a:bodyPr/>
          <a:lstStyle/>
          <a:p>
            <a:r>
              <a:rPr lang="vi-VN" dirty="0"/>
              <a:t>Mã hóa 2 chữ cái một lúc</a:t>
            </a:r>
          </a:p>
          <a:p>
            <a:pPr marL="0" indent="0">
              <a:buNone/>
            </a:pPr>
            <a:r>
              <a:rPr lang="vi-VN" dirty="0"/>
              <a:t>– Nếu 2 chữ giống nhau, tách ra bởi 1 chữ điền thêm thường là X hoặc Q. Ví dụ: EE sẽ dược thay bởi EX </a:t>
            </a:r>
          </a:p>
          <a:p>
            <a:pPr marL="0" indent="0">
              <a:buNone/>
            </a:pPr>
            <a:r>
              <a:rPr lang="vi-VN" dirty="0"/>
              <a:t>– Nếu 2 chữ nằm cùng hàng, thay bởi các chữ bên phải. Ví dụ: EF sẽ thay bằng FG </a:t>
            </a:r>
          </a:p>
          <a:p>
            <a:pPr marL="0" indent="0">
              <a:buNone/>
            </a:pPr>
            <a:r>
              <a:rPr lang="vi-VN" dirty="0"/>
              <a:t>– Nếu 2 chữ nằm cùng cột, thay bởi các chữ bên dưới. Ví dụ: OF thay bằng HP </a:t>
            </a:r>
          </a:p>
          <a:p>
            <a:pPr marL="0" indent="0">
              <a:buNone/>
            </a:pPr>
            <a:r>
              <a:rPr lang="vi-VN" dirty="0"/>
              <a:t>– Các trường hợp khác, mỗi chữ cái được thay bởi chữ cái khác cùng hàng, trên cột chữ cái cùng cặp. Ví dụ: ET sẽ thay bằng KL</a:t>
            </a:r>
            <a:endParaRPr dirty="0"/>
          </a:p>
        </p:txBody>
      </p:sp>
    </p:spTree>
    <p:extLst>
      <p:ext uri="{BB962C8B-B14F-4D97-AF65-F5344CB8AC3E}">
        <p14:creationId xmlns:p14="http://schemas.microsoft.com/office/powerpoint/2010/main" val="3527298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8E4D28-4AE2-A0B3-98EA-9C305CF3019D}"/>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95AB2476-5D44-BE8F-9712-C557EA7DDBAB}"/>
              </a:ext>
            </a:extLst>
          </p:cNvPr>
          <p:cNvSpPr>
            <a:spLocks noGrp="1"/>
          </p:cNvSpPr>
          <p:nvPr>
            <p:ph type="title"/>
          </p:nvPr>
        </p:nvSpPr>
        <p:spPr/>
        <p:txBody>
          <a:bodyPr/>
          <a:lstStyle/>
          <a:p>
            <a:r>
              <a:rPr lang="en-US" dirty="0" err="1"/>
              <a:t>Mã</a:t>
            </a:r>
            <a:r>
              <a:rPr lang="en-US" dirty="0"/>
              <a:t> Playfair </a:t>
            </a:r>
            <a:endParaRPr dirty="0"/>
          </a:p>
        </p:txBody>
      </p:sp>
      <p:sp>
        <p:nvSpPr>
          <p:cNvPr id="4" name="Content Placeholder 3">
            <a:extLst>
              <a:ext uri="{FF2B5EF4-FFF2-40B4-BE49-F238E27FC236}">
                <a16:creationId xmlns:a16="http://schemas.microsoft.com/office/drawing/2014/main" id="{EE21C708-191C-C9E0-7823-AC4BFEAE9F9B}"/>
              </a:ext>
            </a:extLst>
          </p:cNvPr>
          <p:cNvSpPr>
            <a:spLocks noGrp="1"/>
          </p:cNvSpPr>
          <p:nvPr>
            <p:ph sz="quarter" idx="13"/>
          </p:nvPr>
        </p:nvSpPr>
        <p:spPr>
          <a:xfrm>
            <a:off x="235077" y="841247"/>
            <a:ext cx="8674100" cy="5249837"/>
          </a:xfrm>
        </p:spPr>
        <p:txBody>
          <a:bodyPr/>
          <a:lstStyle/>
          <a:p>
            <a:r>
              <a:rPr lang="vi-VN" sz="2400" dirty="0"/>
              <a:t>Các chữ cái trong bản rõ lặp lại trong cùng một cặp được phân tách bằng điền một chữ cái khác, như là x cho balloon sẽ là ba lx lo on.</a:t>
            </a:r>
          </a:p>
          <a:p>
            <a:r>
              <a:rPr lang="vi-VN" sz="2400" dirty="0"/>
              <a:t>Hai ký tự bản rõ nằm trong cùng một hàng của ma trận được thay thế bằng chữ cái ở bên phải, với phần tử đầu tiên của hàng được khoanh sau phần tử cuối cùng. Ví dụ, ar được mã hóa là RM.</a:t>
            </a:r>
          </a:p>
          <a:p>
            <a:r>
              <a:rPr lang="vi-VN" sz="2400" dirty="0"/>
              <a:t>Hai ký tự bản rõ nằm trong cùng một cột được thay thế bằng chữ cái bên dưới, với phần tử trên cùng của cột khoanh theo sau phần tử cuối cùng. Ví dụ: mu được mã hóa là CM.</a:t>
            </a:r>
          </a:p>
          <a:p>
            <a:r>
              <a:rPr lang="vi-VN" sz="2400" dirty="0"/>
              <a:t>Mỗi cặp bản rõ được thay thế bởi ký tự nằm trên hàng và cột của một ký tự khác, ví dụ </a:t>
            </a:r>
            <a:r>
              <a:rPr lang="en-US" sz="2400" dirty="0" err="1"/>
              <a:t>hs</a:t>
            </a:r>
            <a:r>
              <a:rPr lang="en-US" sz="2400" dirty="0"/>
              <a:t> </a:t>
            </a:r>
            <a:r>
              <a:rPr lang="en-US" sz="2400" dirty="0" err="1"/>
              <a:t>thành</a:t>
            </a:r>
            <a:r>
              <a:rPr lang="en-US" sz="2400" dirty="0"/>
              <a:t> BP </a:t>
            </a:r>
            <a:r>
              <a:rPr lang="en-US" sz="2400" dirty="0" err="1"/>
              <a:t>và</a:t>
            </a:r>
            <a:r>
              <a:rPr lang="en-US" sz="2400" dirty="0"/>
              <a:t> </a:t>
            </a:r>
            <a:r>
              <a:rPr lang="en-US" sz="2400" dirty="0" err="1"/>
              <a:t>ea</a:t>
            </a:r>
            <a:r>
              <a:rPr lang="en-US" sz="2400" dirty="0"/>
              <a:t> </a:t>
            </a:r>
            <a:r>
              <a:rPr lang="en-US" sz="2400" dirty="0" err="1"/>
              <a:t>thành</a:t>
            </a:r>
            <a:r>
              <a:rPr lang="en-US" sz="2400" dirty="0"/>
              <a:t> IM (or JM, as the </a:t>
            </a:r>
            <a:r>
              <a:rPr lang="en-US" sz="2400" dirty="0" err="1"/>
              <a:t>encipherer</a:t>
            </a:r>
            <a:r>
              <a:rPr lang="en-US" sz="2400" dirty="0"/>
              <a:t> wishes) </a:t>
            </a:r>
          </a:p>
        </p:txBody>
      </p:sp>
    </p:spTree>
    <p:extLst>
      <p:ext uri="{BB962C8B-B14F-4D97-AF65-F5344CB8AC3E}">
        <p14:creationId xmlns:p14="http://schemas.microsoft.com/office/powerpoint/2010/main" val="1106128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742750-DD1E-C9FC-7DD1-3D471D3E52B4}"/>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2">
            <a:extLst>
              <a:ext uri="{FF2B5EF4-FFF2-40B4-BE49-F238E27FC236}">
                <a16:creationId xmlns:a16="http://schemas.microsoft.com/office/drawing/2014/main" id="{C08A4F1F-E774-59F7-DBFA-9D1DCBA2CE23}"/>
              </a:ext>
            </a:extLst>
          </p:cNvPr>
          <p:cNvSpPr>
            <a:spLocks noGrp="1"/>
          </p:cNvSpPr>
          <p:nvPr>
            <p:ph type="title"/>
          </p:nvPr>
        </p:nvSpPr>
        <p:spPr/>
        <p:txBody>
          <a:bodyPr/>
          <a:lstStyle/>
          <a:p>
            <a:r>
              <a:rPr lang="vi-VN" dirty="0"/>
              <a:t>Mã Playfair </a:t>
            </a:r>
            <a:endParaRPr dirty="0"/>
          </a:p>
        </p:txBody>
      </p:sp>
      <p:sp>
        <p:nvSpPr>
          <p:cNvPr id="4" name="Content Placeholder 3">
            <a:extLst>
              <a:ext uri="{FF2B5EF4-FFF2-40B4-BE49-F238E27FC236}">
                <a16:creationId xmlns:a16="http://schemas.microsoft.com/office/drawing/2014/main" id="{609B6055-880D-7212-B9FC-CF95D4514609}"/>
              </a:ext>
            </a:extLst>
          </p:cNvPr>
          <p:cNvSpPr>
            <a:spLocks noGrp="1"/>
          </p:cNvSpPr>
          <p:nvPr>
            <p:ph sz="quarter" idx="13"/>
          </p:nvPr>
        </p:nvSpPr>
        <p:spPr/>
        <p:txBody>
          <a:bodyPr/>
          <a:lstStyle/>
          <a:p>
            <a:r>
              <a:rPr lang="vi-VN" dirty="0"/>
              <a:t>Ví dụ: Tìm bản mã Playfair và ma trận khoá biết thông tin bản rõ là </a:t>
            </a:r>
          </a:p>
          <a:p>
            <a:endParaRPr lang="vi-VN" dirty="0"/>
          </a:p>
          <a:p>
            <a:pPr marL="0" indent="0">
              <a:buNone/>
            </a:pPr>
            <a:r>
              <a:rPr lang="en-US" dirty="0"/>
              <a:t>Mon </a:t>
            </a:r>
            <a:r>
              <a:rPr lang="en-US" dirty="0" err="1"/>
              <a:t>ly</a:t>
            </a:r>
            <a:r>
              <a:rPr lang="en-US" dirty="0"/>
              <a:t> </a:t>
            </a:r>
            <a:r>
              <a:rPr lang="en-US" dirty="0" err="1"/>
              <a:t>thuyet</a:t>
            </a:r>
            <a:r>
              <a:rPr lang="en-US" dirty="0"/>
              <a:t> mat ma </a:t>
            </a:r>
            <a:r>
              <a:rPr lang="en-US" dirty="0" err="1"/>
              <a:t>ky</a:t>
            </a:r>
            <a:r>
              <a:rPr lang="en-US" dirty="0"/>
              <a:t> </a:t>
            </a:r>
            <a:r>
              <a:rPr lang="en-US" dirty="0" err="1"/>
              <a:t>mua</a:t>
            </a:r>
            <a:r>
              <a:rPr lang="en-US" dirty="0"/>
              <a:t> </a:t>
            </a:r>
            <a:r>
              <a:rPr lang="en-US" dirty="0" err="1"/>
              <a:t>thu</a:t>
            </a:r>
            <a:r>
              <a:rPr lang="en-US" dirty="0"/>
              <a:t> </a:t>
            </a:r>
          </a:p>
          <a:p>
            <a:pPr marL="0" indent="0">
              <a:buNone/>
            </a:pPr>
            <a:r>
              <a:rPr lang="vi-VN" dirty="0"/>
              <a:t>Keyword : dtvtdhbkhn</a:t>
            </a:r>
            <a:endParaRPr dirty="0"/>
          </a:p>
        </p:txBody>
      </p:sp>
      <p:graphicFrame>
        <p:nvGraphicFramePr>
          <p:cNvPr id="6" name="Bảng 5">
            <a:extLst>
              <a:ext uri="{FF2B5EF4-FFF2-40B4-BE49-F238E27FC236}">
                <a16:creationId xmlns:a16="http://schemas.microsoft.com/office/drawing/2014/main" id="{AD3C9FD9-32C0-4F81-24BB-6BE45FA0B762}"/>
              </a:ext>
            </a:extLst>
          </p:cNvPr>
          <p:cNvGraphicFramePr>
            <a:graphicFrameLocks noGrp="1"/>
          </p:cNvGraphicFramePr>
          <p:nvPr>
            <p:extLst>
              <p:ext uri="{D42A27DB-BD31-4B8C-83A1-F6EECF244321}">
                <p14:modId xmlns:p14="http://schemas.microsoft.com/office/powerpoint/2010/main" val="1681643082"/>
              </p:ext>
            </p:extLst>
          </p:nvPr>
        </p:nvGraphicFramePr>
        <p:xfrm>
          <a:off x="518481" y="4015233"/>
          <a:ext cx="3046012" cy="1713540"/>
        </p:xfrm>
        <a:graphic>
          <a:graphicData uri="http://schemas.openxmlformats.org/drawingml/2006/table">
            <a:tbl>
              <a:tblPr>
                <a:tableStyleId>{5940675A-B579-460E-94D1-54222C63F5DA}</a:tableStyleId>
              </a:tblPr>
              <a:tblGrid>
                <a:gridCol w="663078">
                  <a:extLst>
                    <a:ext uri="{9D8B030D-6E8A-4147-A177-3AD203B41FA5}">
                      <a16:colId xmlns:a16="http://schemas.microsoft.com/office/drawing/2014/main" val="3265740318"/>
                    </a:ext>
                  </a:extLst>
                </a:gridCol>
                <a:gridCol w="663078">
                  <a:extLst>
                    <a:ext uri="{9D8B030D-6E8A-4147-A177-3AD203B41FA5}">
                      <a16:colId xmlns:a16="http://schemas.microsoft.com/office/drawing/2014/main" val="219559974"/>
                    </a:ext>
                  </a:extLst>
                </a:gridCol>
                <a:gridCol w="393700">
                  <a:extLst>
                    <a:ext uri="{9D8B030D-6E8A-4147-A177-3AD203B41FA5}">
                      <a16:colId xmlns:a16="http://schemas.microsoft.com/office/drawing/2014/main" val="955344667"/>
                    </a:ext>
                  </a:extLst>
                </a:gridCol>
                <a:gridCol w="663078">
                  <a:extLst>
                    <a:ext uri="{9D8B030D-6E8A-4147-A177-3AD203B41FA5}">
                      <a16:colId xmlns:a16="http://schemas.microsoft.com/office/drawing/2014/main" val="4222421773"/>
                    </a:ext>
                  </a:extLst>
                </a:gridCol>
                <a:gridCol w="663078">
                  <a:extLst>
                    <a:ext uri="{9D8B030D-6E8A-4147-A177-3AD203B41FA5}">
                      <a16:colId xmlns:a16="http://schemas.microsoft.com/office/drawing/2014/main" val="3759595110"/>
                    </a:ext>
                  </a:extLst>
                </a:gridCol>
              </a:tblGrid>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1183898003"/>
                  </a:ext>
                </a:extLst>
              </a:tr>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2004248907"/>
                  </a:ext>
                </a:extLst>
              </a:tr>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4149796754"/>
                  </a:ext>
                </a:extLst>
              </a:tr>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3740785709"/>
                  </a:ext>
                </a:extLst>
              </a:tr>
              <a:tr h="342708">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tc>
                  <a:txBody>
                    <a:bodyPr/>
                    <a:lstStyle/>
                    <a:p>
                      <a:pPr algn="ctr"/>
                      <a:endParaRPr lang="vi-VN" dirty="0">
                        <a:effectLst/>
                      </a:endParaRPr>
                    </a:p>
                  </a:txBody>
                  <a:tcPr marL="76200" marR="76200" marT="19050" marB="19050" anchor="ctr"/>
                </a:tc>
                <a:extLst>
                  <a:ext uri="{0D108BD9-81ED-4DB2-BD59-A6C34878D82A}">
                    <a16:rowId xmlns:a16="http://schemas.microsoft.com/office/drawing/2014/main" val="951239706"/>
                  </a:ext>
                </a:extLst>
              </a:tr>
            </a:tbl>
          </a:graphicData>
        </a:graphic>
      </p:graphicFrame>
    </p:spTree>
    <p:extLst>
      <p:ext uri="{BB962C8B-B14F-4D97-AF65-F5344CB8AC3E}">
        <p14:creationId xmlns:p14="http://schemas.microsoft.com/office/powerpoint/2010/main" val="329295108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1DE7DD-3E18-CC80-35F5-289D8C653422}"/>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itle 2">
            <a:extLst>
              <a:ext uri="{FF2B5EF4-FFF2-40B4-BE49-F238E27FC236}">
                <a16:creationId xmlns:a16="http://schemas.microsoft.com/office/drawing/2014/main" id="{17F2FCF6-54D4-2B65-FCC4-8B29692CB1CF}"/>
              </a:ext>
            </a:extLst>
          </p:cNvPr>
          <p:cNvSpPr>
            <a:spLocks noGrp="1"/>
          </p:cNvSpPr>
          <p:nvPr>
            <p:ph type="title"/>
          </p:nvPr>
        </p:nvSpPr>
        <p:spPr/>
        <p:txBody>
          <a:bodyPr/>
          <a:lstStyle/>
          <a:p>
            <a:r>
              <a:rPr lang="vi-VN" dirty="0"/>
              <a:t>Mã Playfair </a:t>
            </a:r>
            <a:endParaRPr dirty="0"/>
          </a:p>
        </p:txBody>
      </p:sp>
      <p:sp>
        <p:nvSpPr>
          <p:cNvPr id="7" name="TextBox 6">
            <a:extLst>
              <a:ext uri="{FF2B5EF4-FFF2-40B4-BE49-F238E27FC236}">
                <a16:creationId xmlns:a16="http://schemas.microsoft.com/office/drawing/2014/main" id="{64DD6A18-1A3E-0547-E3C4-E362D1A83B60}"/>
              </a:ext>
            </a:extLst>
          </p:cNvPr>
          <p:cNvSpPr txBox="1"/>
          <p:nvPr/>
        </p:nvSpPr>
        <p:spPr>
          <a:xfrm>
            <a:off x="1280992" y="3698046"/>
            <a:ext cx="6339007" cy="1569660"/>
          </a:xfrm>
          <a:prstGeom prst="rect">
            <a:avLst/>
          </a:prstGeom>
          <a:noFill/>
        </p:spPr>
        <p:txBody>
          <a:bodyPr wrap="square">
            <a:spAutoFit/>
          </a:bodyPr>
          <a:lstStyle/>
          <a:p>
            <a:r>
              <a:rPr lang="vi-VN" sz="2400" b="0" i="0" dirty="0">
                <a:solidFill>
                  <a:srgbClr val="000000"/>
                </a:solidFill>
                <a:effectLst/>
                <a:latin typeface="Roboto" panose="02000000000000000000" pitchFamily="2" charset="0"/>
              </a:rPr>
              <a:t>XCAEAVCDTDUCFPWRDTBYCMGWATGQQL</a:t>
            </a:r>
          </a:p>
          <a:p>
            <a:endParaRPr lang="vi-VN" sz="2400" dirty="0">
              <a:solidFill>
                <a:srgbClr val="000000"/>
              </a:solidFill>
              <a:latin typeface="Roboto" panose="02000000000000000000" pitchFamily="2" charset="0"/>
            </a:endParaRPr>
          </a:p>
          <a:p>
            <a:endParaRPr lang="vi-VN" sz="2400" b="1" dirty="0">
              <a:solidFill>
                <a:srgbClr val="000000"/>
              </a:solidFill>
              <a:latin typeface="Roboto" panose="02000000000000000000" pitchFamily="2" charset="0"/>
            </a:endParaRPr>
          </a:p>
          <a:p>
            <a:r>
              <a:rPr lang="en-US" sz="2400" b="1" i="0" u="none" strike="noStrike" dirty="0">
                <a:solidFill>
                  <a:srgbClr val="000000"/>
                </a:solidFill>
                <a:effectLst/>
                <a:latin typeface="Roboto" panose="02000000000000000000" pitchFamily="2" charset="0"/>
              </a:rPr>
              <a:t>DTHKUNPTNTEWPTNDHIBPNHUNTD</a:t>
            </a:r>
            <a:endParaRPr sz="2400" b="1" dirty="0"/>
          </a:p>
        </p:txBody>
      </p:sp>
      <p:sp>
        <p:nvSpPr>
          <p:cNvPr id="6" name="Content Placeholder 5">
            <a:extLst>
              <a:ext uri="{FF2B5EF4-FFF2-40B4-BE49-F238E27FC236}">
                <a16:creationId xmlns:a16="http://schemas.microsoft.com/office/drawing/2014/main" id="{DFD4AE0C-CAB7-5A8E-FA1A-0967DA431B5C}"/>
              </a:ext>
            </a:extLst>
          </p:cNvPr>
          <p:cNvSpPr>
            <a:spLocks noGrp="1"/>
          </p:cNvSpPr>
          <p:nvPr>
            <p:ph sz="quarter" idx="13"/>
          </p:nvPr>
        </p:nvSpPr>
        <p:spPr>
          <a:xfrm>
            <a:off x="235077" y="841247"/>
            <a:ext cx="8674100" cy="1306867"/>
          </a:xfrm>
        </p:spPr>
        <p:txBody>
          <a:bodyPr/>
          <a:lstStyle/>
          <a:p>
            <a:r>
              <a:rPr lang="vi-VN"/>
              <a:t>Keyword : NHUNGIOTDHBKHN</a:t>
            </a:r>
          </a:p>
          <a:p>
            <a:endParaRPr dirty="0"/>
          </a:p>
        </p:txBody>
      </p:sp>
    </p:spTree>
    <p:extLst>
      <p:ext uri="{BB962C8B-B14F-4D97-AF65-F5344CB8AC3E}">
        <p14:creationId xmlns:p14="http://schemas.microsoft.com/office/powerpoint/2010/main" val="4052059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5F4CADEE-6770-CB79-C6C0-E94101DE8668}"/>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iêu đề 2">
            <a:extLst>
              <a:ext uri="{FF2B5EF4-FFF2-40B4-BE49-F238E27FC236}">
                <a16:creationId xmlns:a16="http://schemas.microsoft.com/office/drawing/2014/main" id="{0B20F74D-8F88-5067-ECB7-6C95323539EC}"/>
              </a:ext>
            </a:extLst>
          </p:cNvPr>
          <p:cNvSpPr>
            <a:spLocks noGrp="1"/>
          </p:cNvSpPr>
          <p:nvPr>
            <p:ph type="title"/>
          </p:nvPr>
        </p:nvSpPr>
        <p:spPr/>
        <p:txBody>
          <a:bodyPr/>
          <a:lstStyle/>
          <a:p>
            <a:r>
              <a:rPr lang="en-US"/>
              <a:t>Mã Affine </a:t>
            </a:r>
            <a:endParaRPr lang="vi-VN"/>
          </a:p>
        </p:txBody>
      </p:sp>
      <mc:AlternateContent xmlns:mc="http://schemas.openxmlformats.org/markup-compatibility/2006" xmlns:a14="http://schemas.microsoft.com/office/drawing/2010/main">
        <mc:Choice Requires="a14">
          <p:sp>
            <p:nvSpPr>
              <p:cNvPr id="4" name="Chỗ dành sẵn cho Nội dung 3">
                <a:extLst>
                  <a:ext uri="{FF2B5EF4-FFF2-40B4-BE49-F238E27FC236}">
                    <a16:creationId xmlns:a16="http://schemas.microsoft.com/office/drawing/2014/main" id="{F7F2C352-546B-74DA-E4D4-33DFF80EAD00}"/>
                  </a:ext>
                </a:extLst>
              </p:cNvPr>
              <p:cNvSpPr>
                <a:spLocks noGrp="1"/>
              </p:cNvSpPr>
              <p:nvPr>
                <p:ph sz="quarter" idx="13"/>
              </p:nvPr>
            </p:nvSpPr>
            <p:spPr>
              <a:xfrm>
                <a:off x="234823" y="777303"/>
                <a:ext cx="8674100" cy="5303393"/>
              </a:xfrm>
            </p:spPr>
            <p:txBody>
              <a:bodyPr/>
              <a:lstStyle/>
              <a:p>
                <a:r>
                  <a:rPr lang="en-US" sz="2600" dirty="0"/>
                  <a:t>Sơ </a:t>
                </a:r>
                <a:r>
                  <a:rPr lang="en-US" sz="2600" dirty="0" err="1"/>
                  <a:t>đồ</a:t>
                </a:r>
                <a:r>
                  <a:rPr lang="en-US" sz="2600" dirty="0"/>
                  <a:t> </a:t>
                </a:r>
                <a:r>
                  <a:rPr lang="en-US" sz="2600" dirty="0" err="1"/>
                  <a:t>hệ</a:t>
                </a:r>
                <a:r>
                  <a:rPr lang="en-US" sz="2600" dirty="0"/>
                  <a:t> </a:t>
                </a:r>
                <a:r>
                  <a:rPr lang="en-US" sz="2600" dirty="0" err="1"/>
                  <a:t>mã</a:t>
                </a:r>
                <a:r>
                  <a:rPr lang="en-US" sz="2600" dirty="0"/>
                  <a:t> affine </a:t>
                </a:r>
                <a:r>
                  <a:rPr lang="en-US" sz="2600" dirty="0" err="1"/>
                  <a:t>được</a:t>
                </a:r>
                <a:r>
                  <a:rPr lang="en-US" sz="2600" dirty="0"/>
                  <a:t> </a:t>
                </a:r>
                <a:r>
                  <a:rPr lang="en-US" sz="2600" dirty="0" err="1"/>
                  <a:t>định</a:t>
                </a:r>
                <a:r>
                  <a:rPr lang="en-US" sz="2600" dirty="0"/>
                  <a:t> </a:t>
                </a:r>
                <a:r>
                  <a:rPr lang="en-US" sz="2600" dirty="0" err="1"/>
                  <a:t>nghĩa</a:t>
                </a:r>
                <a:r>
                  <a:rPr lang="en-US" sz="2600" dirty="0"/>
                  <a:t> </a:t>
                </a:r>
                <a:r>
                  <a:rPr lang="en-US" sz="2600" dirty="0" err="1"/>
                  <a:t>như</a:t>
                </a:r>
                <a:r>
                  <a:rPr lang="en-US" sz="2600" dirty="0"/>
                  <a:t> </a:t>
                </a:r>
                <a:r>
                  <a:rPr lang="en-US" sz="2600" dirty="0" err="1"/>
                  <a:t>sau</a:t>
                </a:r>
                <a:r>
                  <a:rPr lang="en-US" sz="2600" dirty="0"/>
                  <a:t> </a:t>
                </a:r>
              </a:p>
              <a:p>
                <a:pPr marL="0" indent="0">
                  <a:buNone/>
                </a:pPr>
                <a14:m>
                  <m:oMathPara xmlns:m="http://schemas.openxmlformats.org/officeDocument/2006/math">
                    <m:oMathParaPr>
                      <m:jc m:val="centerGroup"/>
                    </m:oMathParaPr>
                    <m:oMath xmlns:m="http://schemas.openxmlformats.org/officeDocument/2006/math">
                      <m:r>
                        <a:rPr lang="vi-VN" sz="2600" i="1" smtClean="0">
                          <a:latin typeface="Cambria Math" panose="02040503050406030204" pitchFamily="18" charset="0"/>
                          <a:ea typeface="Cambria Math" panose="02040503050406030204" pitchFamily="18" charset="0"/>
                        </a:rPr>
                        <m:t>𝒮</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𝒫</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𝒞</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𝒦</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ℰ</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𝒟</m:t>
                      </m:r>
                      <m:r>
                        <a:rPr lang="en-US" sz="2600" b="0" i="1" smtClean="0">
                          <a:latin typeface="Cambria Math" panose="02040503050406030204" pitchFamily="18" charset="0"/>
                          <a:ea typeface="Cambria Math" panose="02040503050406030204" pitchFamily="18" charset="0"/>
                        </a:rPr>
                        <m:t>)</m:t>
                      </m:r>
                    </m:oMath>
                  </m:oMathPara>
                </a14:m>
                <a:endParaRPr lang="en-US" sz="2600" dirty="0"/>
              </a:p>
              <a:p>
                <a:r>
                  <a:rPr lang="en-US" sz="2600" dirty="0" err="1"/>
                  <a:t>Trong</a:t>
                </a:r>
                <a:r>
                  <a:rPr lang="en-US" sz="2600" dirty="0"/>
                  <a:t> </a:t>
                </a:r>
                <a:r>
                  <a:rPr lang="en-US" sz="2600" dirty="0" err="1"/>
                  <a:t>đó</a:t>
                </a:r>
                <a:r>
                  <a:rPr lang="en-US" sz="2600" dirty="0"/>
                  <a:t>: </a:t>
                </a:r>
                <a14:m>
                  <m:oMath xmlns:m="http://schemas.openxmlformats.org/officeDocument/2006/math">
                    <m:r>
                      <a:rPr lang="en-US" sz="2600" b="0" i="1" smtClean="0">
                        <a:latin typeface="Cambria Math" panose="02040503050406030204" pitchFamily="18" charset="0"/>
                        <a:ea typeface="Cambria Math" panose="02040503050406030204" pitchFamily="18" charset="0"/>
                      </a:rPr>
                      <m:t>𝒫</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𝒞</m:t>
                    </m:r>
                    <m:r>
                      <a:rPr lang="en-US" sz="2600" b="0" i="1" smtClean="0">
                        <a:latin typeface="Cambria Math" panose="02040503050406030204" pitchFamily="18" charset="0"/>
                        <a:ea typeface="Cambria Math" panose="02040503050406030204" pitchFamily="18" charset="0"/>
                      </a:rPr>
                      <m:t> ∈</m:t>
                    </m:r>
                    <m:sSub>
                      <m:sSubPr>
                        <m:ctrlPr>
                          <a:rPr lang="en-US" sz="2600" b="0" i="1" smtClean="0">
                            <a:latin typeface="Cambria Math" panose="02040503050406030204" pitchFamily="18" charset="0"/>
                            <a:ea typeface="Cambria Math" panose="02040503050406030204" pitchFamily="18" charset="0"/>
                          </a:rPr>
                        </m:ctrlPr>
                      </m:sSubPr>
                      <m:e>
                        <m:r>
                          <a:rPr lang="en-US" sz="2600" b="0" i="1" smtClean="0">
                            <a:latin typeface="Cambria Math" panose="02040503050406030204" pitchFamily="18" charset="0"/>
                            <a:ea typeface="Cambria Math" panose="02040503050406030204" pitchFamily="18" charset="0"/>
                          </a:rPr>
                          <m:t>𝑍</m:t>
                        </m:r>
                      </m:e>
                      <m:sub>
                        <m:r>
                          <a:rPr lang="en-US" sz="2600" b="0" i="1" smtClean="0">
                            <a:latin typeface="Cambria Math" panose="02040503050406030204" pitchFamily="18" charset="0"/>
                            <a:ea typeface="Cambria Math" panose="02040503050406030204" pitchFamily="18" charset="0"/>
                          </a:rPr>
                          <m:t>26</m:t>
                        </m:r>
                      </m:sub>
                    </m:sSub>
                  </m:oMath>
                </a14:m>
                <a:r>
                  <a:rPr lang="en-US" sz="2600" dirty="0"/>
                  <a:t>, </a:t>
                </a:r>
                <a14:m>
                  <m:oMath xmlns:m="http://schemas.openxmlformats.org/officeDocument/2006/math">
                    <m:r>
                      <a:rPr lang="en-US" sz="2600" i="1">
                        <a:latin typeface="Cambria Math" panose="02040503050406030204" pitchFamily="18" charset="0"/>
                        <a:ea typeface="Cambria Math" panose="02040503050406030204" pitchFamily="18" charset="0"/>
                      </a:rPr>
                      <m:t>𝒦</m:t>
                    </m:r>
                    <m:r>
                      <a:rPr lang="en-US" sz="2600" b="0" i="0" smtClean="0">
                        <a:latin typeface="Cambria Math" panose="02040503050406030204" pitchFamily="18" charset="0"/>
                        <a:ea typeface="Cambria Math" panose="02040503050406030204" pitchFamily="18" charset="0"/>
                      </a:rPr>
                      <m:t>=</m:t>
                    </m:r>
                    <m:d>
                      <m:dPr>
                        <m:begChr m:val="{"/>
                        <m:endChr m:val="|"/>
                        <m:ctrlPr>
                          <a:rPr lang="en-US" sz="2600" b="0" i="1" smtClean="0">
                            <a:latin typeface="Cambria Math" panose="02040503050406030204" pitchFamily="18" charset="0"/>
                            <a:ea typeface="Cambria Math" panose="02040503050406030204" pitchFamily="18" charset="0"/>
                          </a:rPr>
                        </m:ctrlPr>
                      </m:dPr>
                      <m:e>
                        <m:d>
                          <m:dPr>
                            <m:ctrlPr>
                              <a:rPr lang="en-US" sz="2600" b="0" i="1" smtClean="0">
                                <a:latin typeface="Cambria Math" panose="02040503050406030204" pitchFamily="18" charset="0"/>
                                <a:ea typeface="Cambria Math" panose="02040503050406030204" pitchFamily="18" charset="0"/>
                              </a:rPr>
                            </m:ctrlPr>
                          </m:dPr>
                          <m:e>
                            <m:r>
                              <m:rPr>
                                <m:sty m:val="p"/>
                              </m:rPr>
                              <a:rPr lang="en-US" sz="2600" b="0" i="0" smtClean="0">
                                <a:latin typeface="Cambria Math" panose="02040503050406030204" pitchFamily="18" charset="0"/>
                                <a:ea typeface="Cambria Math" panose="02040503050406030204" pitchFamily="18" charset="0"/>
                              </a:rPr>
                              <m:t>a</m:t>
                            </m:r>
                            <m:r>
                              <a:rPr lang="en-US" sz="2600" b="0" i="0" smtClean="0">
                                <a:latin typeface="Cambria Math" panose="02040503050406030204" pitchFamily="18" charset="0"/>
                                <a:ea typeface="Cambria Math" panose="02040503050406030204" pitchFamily="18" charset="0"/>
                              </a:rPr>
                              <m:t>,</m:t>
                            </m:r>
                            <m:r>
                              <m:rPr>
                                <m:sty m:val="p"/>
                              </m:rPr>
                              <a:rPr lang="en-US" sz="2600" b="0" i="0" smtClean="0">
                                <a:latin typeface="Cambria Math" panose="02040503050406030204" pitchFamily="18" charset="0"/>
                                <a:ea typeface="Cambria Math" panose="02040503050406030204" pitchFamily="18" charset="0"/>
                              </a:rPr>
                              <m:t>b</m:t>
                            </m:r>
                          </m:e>
                        </m:d>
                        <m:r>
                          <a:rPr lang="en-US" sz="2600" i="1" smtClean="0">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𝑍</m:t>
                            </m:r>
                          </m:e>
                          <m:sub>
                            <m:r>
                              <a:rPr lang="en-US" sz="2600" i="1">
                                <a:latin typeface="Cambria Math" panose="02040503050406030204" pitchFamily="18" charset="0"/>
                                <a:ea typeface="Cambria Math" panose="02040503050406030204" pitchFamily="18" charset="0"/>
                              </a:rPr>
                              <m:t>26</m:t>
                            </m:r>
                          </m:sub>
                        </m:sSub>
                        <m:sSub>
                          <m:sSubPr>
                            <m:ctrlPr>
                              <a:rPr lang="en-US" sz="2600" i="1" smtClean="0">
                                <a:latin typeface="Cambria Math" panose="02040503050406030204" pitchFamily="18" charset="0"/>
                                <a:ea typeface="Cambria Math" panose="02040503050406030204" pitchFamily="18" charset="0"/>
                              </a:rPr>
                            </m:ctrlPr>
                          </m:sSubPr>
                          <m:e>
                            <m:r>
                              <a:rPr lang="en-US" sz="2600" i="1" smtClean="0">
                                <a:latin typeface="Cambria Math" panose="02040503050406030204" pitchFamily="18" charset="0"/>
                                <a:ea typeface="Cambria Math" panose="02040503050406030204" pitchFamily="18" charset="0"/>
                              </a:rPr>
                              <m:t>×</m:t>
                            </m:r>
                            <m:r>
                              <a:rPr lang="en-US" sz="2600" i="1">
                                <a:latin typeface="Cambria Math" panose="02040503050406030204" pitchFamily="18" charset="0"/>
                                <a:ea typeface="Cambria Math" panose="02040503050406030204" pitchFamily="18" charset="0"/>
                              </a:rPr>
                              <m:t>𝑍</m:t>
                            </m:r>
                          </m:e>
                          <m:sub>
                            <m:r>
                              <a:rPr lang="en-US" sz="2600" i="1">
                                <a:latin typeface="Cambria Math" panose="02040503050406030204" pitchFamily="18" charset="0"/>
                                <a:ea typeface="Cambria Math" panose="02040503050406030204" pitchFamily="18" charset="0"/>
                              </a:rPr>
                              <m:t>26</m:t>
                            </m:r>
                          </m:sub>
                        </m:sSub>
                        <m:r>
                          <a:rPr lang="en-US" sz="2600" b="0" i="0" smtClean="0">
                            <a:latin typeface="Cambria Math" panose="02040503050406030204" pitchFamily="18" charset="0"/>
                            <a:ea typeface="Cambria Math" panose="02040503050406030204" pitchFamily="18" charset="0"/>
                          </a:rPr>
                          <m:t> </m:t>
                        </m:r>
                      </m:e>
                    </m:d>
                    <m:r>
                      <m:rPr>
                        <m:sty m:val="p"/>
                      </m:rPr>
                      <a:rPr lang="en-US" sz="2600" b="0" i="0" smtClean="0">
                        <a:latin typeface="Cambria Math" panose="02040503050406030204" pitchFamily="18" charset="0"/>
                        <a:ea typeface="Cambria Math" panose="02040503050406030204" pitchFamily="18" charset="0"/>
                      </a:rPr>
                      <m:t>gcd</m:t>
                    </m:r>
                    <m:r>
                      <a:rPr lang="en-US" sz="2600" b="0" i="0" smtClean="0">
                        <a:latin typeface="Cambria Math" panose="02040503050406030204" pitchFamily="18" charset="0"/>
                        <a:ea typeface="Cambria Math" panose="02040503050406030204" pitchFamily="18" charset="0"/>
                      </a:rPr>
                      <m:t> </m:t>
                    </m:r>
                    <m:d>
                      <m:dPr>
                        <m:ctrlPr>
                          <a:rPr lang="en-US" sz="2600" b="0" i="1" smtClean="0">
                            <a:latin typeface="Cambria Math" panose="02040503050406030204" pitchFamily="18" charset="0"/>
                            <a:ea typeface="Cambria Math" panose="02040503050406030204" pitchFamily="18" charset="0"/>
                          </a:rPr>
                        </m:ctrlPr>
                      </m:dPr>
                      <m:e>
                        <m:r>
                          <m:rPr>
                            <m:sty m:val="p"/>
                          </m:rPr>
                          <a:rPr lang="en-US" sz="2600" b="0" i="0" smtClean="0">
                            <a:latin typeface="Cambria Math" panose="02040503050406030204" pitchFamily="18" charset="0"/>
                            <a:ea typeface="Cambria Math" panose="02040503050406030204" pitchFamily="18" charset="0"/>
                          </a:rPr>
                          <m:t>a</m:t>
                        </m:r>
                        <m:r>
                          <a:rPr lang="en-US" sz="2600" b="0" i="0" smtClean="0">
                            <a:latin typeface="Cambria Math" panose="02040503050406030204" pitchFamily="18" charset="0"/>
                            <a:ea typeface="Cambria Math" panose="02040503050406030204" pitchFamily="18" charset="0"/>
                          </a:rPr>
                          <m:t>,26</m:t>
                        </m:r>
                      </m:e>
                    </m:d>
                    <m:r>
                      <a:rPr lang="en-US" sz="2600" b="0" i="0" smtClean="0">
                        <a:latin typeface="Cambria Math" panose="02040503050406030204" pitchFamily="18" charset="0"/>
                        <a:ea typeface="Cambria Math" panose="02040503050406030204" pitchFamily="18" charset="0"/>
                      </a:rPr>
                      <m:t>=1}</m:t>
                    </m:r>
                  </m:oMath>
                </a14:m>
                <a:endParaRPr lang="en-US" sz="2600" dirty="0"/>
              </a:p>
              <a:p>
                <a:r>
                  <a:rPr lang="en-US" sz="2600" dirty="0" err="1"/>
                  <a:t>Các</a:t>
                </a:r>
                <a:r>
                  <a:rPr lang="en-US" sz="2600" dirty="0"/>
                  <a:t> </a:t>
                </a:r>
                <a:r>
                  <a:rPr lang="en-US" sz="2600" dirty="0" err="1"/>
                  <a:t>ánh</a:t>
                </a:r>
                <a:r>
                  <a:rPr lang="en-US" sz="2600" dirty="0"/>
                  <a:t> </a:t>
                </a:r>
                <a:r>
                  <a:rPr lang="en-US" sz="2600" dirty="0" err="1"/>
                  <a:t>xạ</a:t>
                </a:r>
                <a:r>
                  <a:rPr lang="en-US" sz="2600" dirty="0"/>
                  <a:t> </a:t>
                </a:r>
                <a14:m>
                  <m:oMath xmlns:m="http://schemas.openxmlformats.org/officeDocument/2006/math">
                    <m:r>
                      <a:rPr lang="en-US" sz="2600" b="0" i="1" smtClean="0">
                        <a:latin typeface="Cambria Math" panose="02040503050406030204" pitchFamily="18" charset="0"/>
                        <a:ea typeface="Cambria Math" panose="02040503050406030204" pitchFamily="18" charset="0"/>
                      </a:rPr>
                      <m:t>ℰ</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𝒟</m:t>
                    </m:r>
                  </m:oMath>
                </a14:m>
                <a:r>
                  <a:rPr lang="en-US" sz="2600" dirty="0"/>
                  <a:t> </a:t>
                </a:r>
                <a:r>
                  <a:rPr lang="en-US" sz="2600" dirty="0" err="1"/>
                  <a:t>được</a:t>
                </a:r>
                <a:r>
                  <a:rPr lang="en-US" sz="2600" dirty="0"/>
                  <a:t> </a:t>
                </a:r>
                <a:r>
                  <a:rPr lang="en-US" sz="2600" dirty="0" err="1"/>
                  <a:t>cho</a:t>
                </a:r>
                <a:r>
                  <a:rPr lang="en-US" sz="2600" dirty="0"/>
                  <a:t> </a:t>
                </a:r>
                <a:r>
                  <a:rPr lang="en-US" sz="2600" dirty="0" err="1"/>
                  <a:t>bởi</a:t>
                </a:r>
                <a:r>
                  <a:rPr lang="en-US" sz="2600" dirty="0"/>
                  <a:t> : </a:t>
                </a:r>
              </a:p>
              <a:p>
                <a:pPr marL="0" indent="0">
                  <a:buNone/>
                </a:pPr>
                <a14:m>
                  <m:oMathPara xmlns:m="http://schemas.openxmlformats.org/officeDocument/2006/math">
                    <m:oMathParaPr>
                      <m:jc m:val="centerGroup"/>
                    </m:oMathParaPr>
                    <m:oMath xmlns:m="http://schemas.openxmlformats.org/officeDocument/2006/math">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ℰ</m:t>
                          </m:r>
                        </m:e>
                        <m:sub>
                          <m:r>
                            <a:rPr lang="en-US" sz="2600" b="0" i="1" smtClean="0">
                              <a:latin typeface="Cambria Math" panose="02040503050406030204" pitchFamily="18" charset="0"/>
                              <a:ea typeface="Cambria Math" panose="02040503050406030204" pitchFamily="18" charset="0"/>
                            </a:rPr>
                            <m:t>𝑘</m:t>
                          </m:r>
                        </m:sub>
                      </m:sSub>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𝑥</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𝑎𝑥</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𝑏</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𝑚𝑜𝑑</m:t>
                      </m:r>
                      <m:r>
                        <a:rPr lang="en-US" sz="2600" b="0" i="1" smtClean="0">
                          <a:latin typeface="Cambria Math" panose="02040503050406030204" pitchFamily="18" charset="0"/>
                          <a:ea typeface="Cambria Math" panose="02040503050406030204" pitchFamily="18" charset="0"/>
                        </a:rPr>
                        <m:t> 26</m:t>
                      </m:r>
                    </m:oMath>
                  </m:oMathPara>
                </a14:m>
                <a:endParaRPr lang="en-US" sz="26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600" i="1" smtClean="0">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𝒟</m:t>
                          </m:r>
                        </m:e>
                        <m:sub>
                          <m:r>
                            <a:rPr lang="en-US" sz="2600" b="0" i="1" smtClean="0">
                              <a:latin typeface="Cambria Math" panose="02040503050406030204" pitchFamily="18" charset="0"/>
                              <a:ea typeface="Cambria Math" panose="02040503050406030204" pitchFamily="18" charset="0"/>
                            </a:rPr>
                            <m:t>𝑘</m:t>
                          </m:r>
                        </m:sub>
                      </m:sSub>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𝑦</m:t>
                          </m:r>
                        </m:e>
                      </m:d>
                      <m:r>
                        <a:rPr lang="en-US" sz="2600" b="0" i="1" smtClean="0">
                          <a:latin typeface="Cambria Math" panose="02040503050406030204" pitchFamily="18" charset="0"/>
                          <a:ea typeface="Cambria Math" panose="02040503050406030204" pitchFamily="18" charset="0"/>
                        </a:rPr>
                        <m:t>=</m:t>
                      </m:r>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𝑎</m:t>
                          </m:r>
                        </m:e>
                        <m:sup>
                          <m:r>
                            <a:rPr lang="en-US" sz="2600" b="0" i="1" smtClean="0">
                              <a:latin typeface="Cambria Math" panose="02040503050406030204" pitchFamily="18" charset="0"/>
                              <a:ea typeface="Cambria Math" panose="02040503050406030204" pitchFamily="18" charset="0"/>
                            </a:rPr>
                            <m:t>−1</m:t>
                          </m:r>
                        </m:sup>
                      </m:sSup>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𝑦</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𝑏</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𝑚𝑜𝑑</m:t>
                      </m:r>
                      <m:r>
                        <a:rPr lang="en-US" sz="2600" b="0" i="1" smtClean="0">
                          <a:latin typeface="Cambria Math" panose="02040503050406030204" pitchFamily="18" charset="0"/>
                          <a:ea typeface="Cambria Math" panose="02040503050406030204" pitchFamily="18" charset="0"/>
                        </a:rPr>
                        <m:t> 26</m:t>
                      </m:r>
                    </m:oMath>
                  </m:oMathPara>
                </a14:m>
                <a:endParaRPr lang="en-US" sz="2600" b="0" dirty="0">
                  <a:ea typeface="Cambria Math" panose="02040503050406030204" pitchFamily="18" charset="0"/>
                </a:endParaRPr>
              </a:p>
              <a:p>
                <a:r>
                  <a:rPr lang="en-US" sz="2600" b="0" dirty="0" err="1">
                    <a:ea typeface="Cambria Math" panose="02040503050406030204" pitchFamily="18" charset="0"/>
                  </a:rPr>
                  <a:t>Điều</a:t>
                </a:r>
                <a:r>
                  <a:rPr lang="en-US" sz="2600" b="0" dirty="0">
                    <a:ea typeface="Cambria Math" panose="02040503050406030204" pitchFamily="18" charset="0"/>
                  </a:rPr>
                  <a:t> </a:t>
                </a:r>
                <a:r>
                  <a:rPr lang="en-US" sz="2600" b="0" dirty="0" err="1">
                    <a:ea typeface="Cambria Math" panose="02040503050406030204" pitchFamily="18" charset="0"/>
                  </a:rPr>
                  <a:t>kiện</a:t>
                </a:r>
                <a:r>
                  <a:rPr lang="en-US" sz="2600" b="0" dirty="0">
                    <a:ea typeface="Cambria Math" panose="02040503050406030204" pitchFamily="18" charset="0"/>
                  </a:rPr>
                  <a:t> </a:t>
                </a:r>
                <a14:m>
                  <m:oMath xmlns:m="http://schemas.openxmlformats.org/officeDocument/2006/math">
                    <m:r>
                      <m:rPr>
                        <m:sty m:val="p"/>
                      </m:rPr>
                      <a:rPr lang="en-US" sz="2600" b="0" i="0" smtClean="0">
                        <a:latin typeface="Cambria Math" panose="02040503050406030204" pitchFamily="18" charset="0"/>
                        <a:ea typeface="Cambria Math" panose="02040503050406030204" pitchFamily="18" charset="0"/>
                      </a:rPr>
                      <m:t>gcd</m:t>
                    </m:r>
                    <m:r>
                      <a:rPr lang="en-US" sz="2600" b="0" i="0" smtClean="0">
                        <a:latin typeface="Cambria Math" panose="02040503050406030204" pitchFamily="18" charset="0"/>
                        <a:ea typeface="Cambria Math" panose="02040503050406030204" pitchFamily="18" charset="0"/>
                      </a:rPr>
                      <m:t> </m:t>
                    </m:r>
                    <m:d>
                      <m:dPr>
                        <m:ctrlPr>
                          <a:rPr lang="en-US" sz="2600" b="0" i="1" smtClean="0">
                            <a:latin typeface="Cambria Math" panose="02040503050406030204" pitchFamily="18" charset="0"/>
                            <a:ea typeface="Cambria Math" panose="02040503050406030204" pitchFamily="18" charset="0"/>
                          </a:rPr>
                        </m:ctrlPr>
                      </m:dPr>
                      <m:e>
                        <m:r>
                          <m:rPr>
                            <m:sty m:val="p"/>
                          </m:rPr>
                          <a:rPr lang="en-US" sz="2600" b="0" i="0" smtClean="0">
                            <a:latin typeface="Cambria Math" panose="02040503050406030204" pitchFamily="18" charset="0"/>
                            <a:ea typeface="Cambria Math" panose="02040503050406030204" pitchFamily="18" charset="0"/>
                          </a:rPr>
                          <m:t>a</m:t>
                        </m:r>
                        <m:r>
                          <a:rPr lang="en-US" sz="2600" b="0" i="0" smtClean="0">
                            <a:latin typeface="Cambria Math" panose="02040503050406030204" pitchFamily="18" charset="0"/>
                            <a:ea typeface="Cambria Math" panose="02040503050406030204" pitchFamily="18" charset="0"/>
                          </a:rPr>
                          <m:t>,26</m:t>
                        </m:r>
                      </m:e>
                    </m:d>
                    <m:r>
                      <a:rPr lang="en-US" sz="2600" b="0" i="0" smtClean="0">
                        <a:latin typeface="Cambria Math" panose="02040503050406030204" pitchFamily="18" charset="0"/>
                        <a:ea typeface="Cambria Math" panose="02040503050406030204" pitchFamily="18" charset="0"/>
                      </a:rPr>
                      <m:t>=1</m:t>
                    </m:r>
                  </m:oMath>
                </a14:m>
                <a:r>
                  <a:rPr lang="en-US" sz="2600" b="0" dirty="0">
                    <a:ea typeface="Cambria Math" panose="02040503050406030204" pitchFamily="18" charset="0"/>
                  </a:rPr>
                  <a:t> </a:t>
                </a:r>
                <a:r>
                  <a:rPr lang="en-US" sz="2600" b="0" dirty="0" err="1">
                    <a:ea typeface="Cambria Math" panose="02040503050406030204" pitchFamily="18" charset="0"/>
                  </a:rPr>
                  <a:t>đảm</a:t>
                </a:r>
                <a:r>
                  <a:rPr lang="en-US" sz="2600" b="0" dirty="0">
                    <a:ea typeface="Cambria Math" panose="02040503050406030204" pitchFamily="18" charset="0"/>
                  </a:rPr>
                  <a:t> </a:t>
                </a:r>
                <a:r>
                  <a:rPr lang="en-US" sz="2600" b="0" dirty="0" err="1">
                    <a:ea typeface="Cambria Math" panose="02040503050406030204" pitchFamily="18" charset="0"/>
                  </a:rPr>
                  <a:t>bảo</a:t>
                </a:r>
                <a:r>
                  <a:rPr lang="en-US" sz="2600" b="0" dirty="0">
                    <a:ea typeface="Cambria Math" panose="02040503050406030204" pitchFamily="18" charset="0"/>
                  </a:rPr>
                  <a:t> </a:t>
                </a:r>
                <a:r>
                  <a:rPr lang="en-US" sz="2600" b="0" dirty="0" err="1">
                    <a:ea typeface="Cambria Math" panose="02040503050406030204" pitchFamily="18" charset="0"/>
                  </a:rPr>
                  <a:t>luôn</a:t>
                </a:r>
                <a:r>
                  <a:rPr lang="en-US" sz="2600" b="0" dirty="0">
                    <a:ea typeface="Cambria Math" panose="02040503050406030204" pitchFamily="18" charset="0"/>
                  </a:rPr>
                  <a:t> </a:t>
                </a:r>
                <a:r>
                  <a:rPr lang="en-US" sz="2600" b="0" dirty="0" err="1">
                    <a:ea typeface="Cambria Math" panose="02040503050406030204" pitchFamily="18" charset="0"/>
                  </a:rPr>
                  <a:t>có</a:t>
                </a:r>
                <a:r>
                  <a:rPr lang="en-US" sz="2600" b="0" dirty="0">
                    <a:ea typeface="Cambria Math" panose="02040503050406030204" pitchFamily="18" charset="0"/>
                  </a:rPr>
                  <a:t> </a:t>
                </a:r>
                <a:r>
                  <a:rPr lang="en-US" sz="2600" b="0" dirty="0" err="1">
                    <a:ea typeface="Cambria Math" panose="02040503050406030204" pitchFamily="18" charset="0"/>
                  </a:rPr>
                  <a:t>phần</a:t>
                </a:r>
                <a:r>
                  <a:rPr lang="en-US" sz="2600" b="0" dirty="0">
                    <a:ea typeface="Cambria Math" panose="02040503050406030204" pitchFamily="18" charset="0"/>
                  </a:rPr>
                  <a:t> </a:t>
                </a:r>
                <a:r>
                  <a:rPr lang="en-US" sz="2600" b="0" dirty="0" err="1">
                    <a:ea typeface="Cambria Math" panose="02040503050406030204" pitchFamily="18" charset="0"/>
                  </a:rPr>
                  <a:t>tử</a:t>
                </a:r>
                <a:r>
                  <a:rPr lang="en-US" sz="2600" b="0" dirty="0">
                    <a:ea typeface="Cambria Math" panose="02040503050406030204" pitchFamily="18" charset="0"/>
                  </a:rPr>
                  <a:t> </a:t>
                </a:r>
                <a:r>
                  <a:rPr lang="en-US" sz="2600" b="0" dirty="0" err="1">
                    <a:ea typeface="Cambria Math" panose="02040503050406030204" pitchFamily="18" charset="0"/>
                  </a:rPr>
                  <a:t>nghịch</a:t>
                </a:r>
                <a:r>
                  <a:rPr lang="en-US" sz="2600" b="0" dirty="0">
                    <a:ea typeface="Cambria Math" panose="02040503050406030204" pitchFamily="18" charset="0"/>
                  </a:rPr>
                  <a:t> </a:t>
                </a:r>
                <a:r>
                  <a:rPr lang="en-US" sz="2600" b="0" dirty="0" err="1">
                    <a:ea typeface="Cambria Math" panose="02040503050406030204" pitchFamily="18" charset="0"/>
                  </a:rPr>
                  <a:t>đảo</a:t>
                </a:r>
                <a:r>
                  <a:rPr lang="en-US" sz="2600" b="0" dirty="0">
                    <a:ea typeface="Cambria Math" panose="02040503050406030204" pitchFamily="18" charset="0"/>
                  </a:rPr>
                  <a:t> </a:t>
                </a:r>
                <a:r>
                  <a:rPr lang="en-US" sz="2600" b="0" dirty="0" err="1">
                    <a:ea typeface="Cambria Math" panose="02040503050406030204" pitchFamily="18" charset="0"/>
                  </a:rPr>
                  <a:t>của</a:t>
                </a:r>
                <a:r>
                  <a:rPr lang="en-US" sz="2600" b="0" dirty="0">
                    <a:ea typeface="Cambria Math" panose="02040503050406030204" pitchFamily="18" charset="0"/>
                  </a:rPr>
                  <a:t> </a:t>
                </a:r>
                <a14:m>
                  <m:oMath xmlns:m="http://schemas.openxmlformats.org/officeDocument/2006/math">
                    <m:r>
                      <m:rPr>
                        <m:sty m:val="p"/>
                      </m:rPr>
                      <a:rPr lang="en-US" sz="2600">
                        <a:latin typeface="Cambria Math" panose="02040503050406030204" pitchFamily="18" charset="0"/>
                        <a:ea typeface="Cambria Math" panose="02040503050406030204" pitchFamily="18" charset="0"/>
                      </a:rPr>
                      <m:t>a</m:t>
                    </m:r>
                  </m:oMath>
                </a14:m>
                <a:r>
                  <a:rPr lang="en-US" sz="2600" b="0" dirty="0">
                    <a:ea typeface="Cambria Math" panose="02040503050406030204" pitchFamily="18" charset="0"/>
                  </a:rPr>
                  <a:t> </a:t>
                </a:r>
                <a:r>
                  <a:rPr lang="en-US" sz="2600" b="0" dirty="0" err="1">
                    <a:ea typeface="Cambria Math" panose="02040503050406030204" pitchFamily="18" charset="0"/>
                  </a:rPr>
                  <a:t>là</a:t>
                </a:r>
                <a:r>
                  <a:rPr lang="en-US" sz="2600" b="0" dirty="0">
                    <a:ea typeface="Cambria Math" panose="02040503050406030204" pitchFamily="18" charset="0"/>
                  </a:rPr>
                  <a:t> </a:t>
                </a:r>
                <a14:m>
                  <m:oMath xmlns:m="http://schemas.openxmlformats.org/officeDocument/2006/math">
                    <m:sSup>
                      <m:sSupPr>
                        <m:ctrlPr>
                          <a:rPr lang="en-US" sz="2600" i="1">
                            <a:latin typeface="Cambria Math" panose="02040503050406030204" pitchFamily="18" charset="0"/>
                            <a:ea typeface="Cambria Math" panose="02040503050406030204" pitchFamily="18" charset="0"/>
                          </a:rPr>
                        </m:ctrlPr>
                      </m:sSupPr>
                      <m:e>
                        <m:r>
                          <a:rPr lang="en-US" sz="2600" i="1">
                            <a:latin typeface="Cambria Math" panose="02040503050406030204" pitchFamily="18" charset="0"/>
                            <a:ea typeface="Cambria Math" panose="02040503050406030204" pitchFamily="18" charset="0"/>
                          </a:rPr>
                          <m:t>𝑎</m:t>
                        </m:r>
                      </m:e>
                      <m:sup>
                        <m:r>
                          <a:rPr lang="en-US" sz="2600" i="1">
                            <a:latin typeface="Cambria Math" panose="02040503050406030204" pitchFamily="18" charset="0"/>
                            <a:ea typeface="Cambria Math" panose="02040503050406030204" pitchFamily="18" charset="0"/>
                          </a:rPr>
                          <m:t>−1</m:t>
                        </m:r>
                      </m:sup>
                    </m:sSup>
                  </m:oMath>
                </a14:m>
                <a:r>
                  <a:rPr lang="en-US" sz="2600" dirty="0"/>
                  <a:t> </a:t>
                </a:r>
                <a:r>
                  <a:rPr lang="en-US" sz="2600" dirty="0" err="1"/>
                  <a:t>trong</a:t>
                </a:r>
                <a:r>
                  <a:rPr lang="en-US" sz="2600" dirty="0"/>
                  <a:t> </a:t>
                </a:r>
                <a:r>
                  <a:rPr lang="en-US" sz="2600" dirty="0" err="1"/>
                  <a:t>tập</a:t>
                </a:r>
                <a:r>
                  <a:rPr lang="en-US" sz="2600" dirty="0"/>
                  <a:t> </a:t>
                </a:r>
                <a14:m>
                  <m:oMath xmlns:m="http://schemas.openxmlformats.org/officeDocument/2006/math">
                    <m:sSub>
                      <m:sSubPr>
                        <m:ctrlPr>
                          <a:rPr lang="en-US" sz="2600" i="1">
                            <a:latin typeface="Cambria Math" panose="02040503050406030204" pitchFamily="18" charset="0"/>
                            <a:ea typeface="Cambria Math" panose="02040503050406030204" pitchFamily="18" charset="0"/>
                          </a:rPr>
                        </m:ctrlPr>
                      </m:sSubPr>
                      <m:e>
                        <m:r>
                          <a:rPr lang="en-US" sz="2600" i="1">
                            <a:latin typeface="Cambria Math" panose="02040503050406030204" pitchFamily="18" charset="0"/>
                            <a:ea typeface="Cambria Math" panose="02040503050406030204" pitchFamily="18" charset="0"/>
                          </a:rPr>
                          <m:t>𝑍</m:t>
                        </m:r>
                      </m:e>
                      <m:sub>
                        <m:r>
                          <a:rPr lang="en-US" sz="2600" i="1">
                            <a:latin typeface="Cambria Math" panose="02040503050406030204" pitchFamily="18" charset="0"/>
                            <a:ea typeface="Cambria Math" panose="02040503050406030204" pitchFamily="18" charset="0"/>
                          </a:rPr>
                          <m:t>26</m:t>
                        </m:r>
                      </m:sub>
                    </m:sSub>
                  </m:oMath>
                </a14:m>
                <a:r>
                  <a:rPr lang="en-US" sz="2600" dirty="0"/>
                  <a:t>. </a:t>
                </a:r>
              </a:p>
              <a:p>
                <a14:m>
                  <m:oMath xmlns:m="http://schemas.openxmlformats.org/officeDocument/2006/math">
                    <m:r>
                      <a:rPr lang="vi-VN" sz="2600" i="1" smtClean="0">
                        <a:latin typeface="Cambria Math" panose="02040503050406030204" pitchFamily="18" charset="0"/>
                        <a:ea typeface="Cambria Math" panose="02040503050406030204" pitchFamily="18" charset="0"/>
                      </a:rPr>
                      <m:t>∅</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26</m:t>
                        </m:r>
                      </m:e>
                    </m:d>
                  </m:oMath>
                </a14:m>
                <a:r>
                  <a:rPr lang="en-US" sz="2600" dirty="0"/>
                  <a:t> </a:t>
                </a:r>
                <a:r>
                  <a:rPr lang="en-US" sz="2600" dirty="0" err="1"/>
                  <a:t>là</a:t>
                </a:r>
                <a:r>
                  <a:rPr lang="en-US" sz="2600" dirty="0"/>
                  <a:t> </a:t>
                </a:r>
                <a:r>
                  <a:rPr lang="en-US" sz="2600" dirty="0" err="1"/>
                  <a:t>tập</a:t>
                </a:r>
                <a:r>
                  <a:rPr lang="en-US" sz="2600" dirty="0"/>
                  <a:t> </a:t>
                </a:r>
                <a:r>
                  <a:rPr lang="en-US" sz="2600" dirty="0" err="1"/>
                  <a:t>các</a:t>
                </a:r>
                <a:r>
                  <a:rPr lang="en-US" sz="2600" dirty="0"/>
                  <a:t> </a:t>
                </a:r>
                <a:r>
                  <a:rPr lang="en-US" sz="2600" dirty="0" err="1"/>
                  <a:t>số</a:t>
                </a:r>
                <a:r>
                  <a:rPr lang="en-US" sz="2600" dirty="0"/>
                  <a:t> </a:t>
                </a:r>
                <a:r>
                  <a:rPr lang="en-US" sz="2600" dirty="0" err="1"/>
                  <a:t>nguyên</a:t>
                </a:r>
                <a:r>
                  <a:rPr lang="en-US" sz="2600" dirty="0"/>
                  <a:t> </a:t>
                </a:r>
                <a:r>
                  <a:rPr lang="en-US" sz="2600" dirty="0" err="1"/>
                  <a:t>tố</a:t>
                </a:r>
                <a:r>
                  <a:rPr lang="en-US" sz="2600" dirty="0"/>
                  <a:t> </a:t>
                </a:r>
                <a:r>
                  <a:rPr lang="en-US" sz="2600" dirty="0" err="1"/>
                  <a:t>cùng</a:t>
                </a:r>
                <a:r>
                  <a:rPr lang="en-US" sz="2600" dirty="0"/>
                  <a:t> </a:t>
                </a:r>
                <a:r>
                  <a:rPr lang="en-US" sz="2600" dirty="0" err="1"/>
                  <a:t>nhau</a:t>
                </a:r>
                <a:r>
                  <a:rPr lang="en-US" sz="2600" dirty="0"/>
                  <a:t> </a:t>
                </a:r>
                <a:r>
                  <a:rPr lang="en-US" sz="2600" dirty="0" err="1"/>
                  <a:t>với</a:t>
                </a:r>
                <a:r>
                  <a:rPr lang="en-US" sz="2600" dirty="0"/>
                  <a:t> 26 </a:t>
                </a:r>
              </a:p>
              <a:p>
                <a14:m>
                  <m:oMath xmlns:m="http://schemas.openxmlformats.org/officeDocument/2006/math">
                    <m:r>
                      <a:rPr lang="vi-VN" sz="2600" i="1" smtClean="0">
                        <a:latin typeface="Cambria Math" panose="02040503050406030204" pitchFamily="18" charset="0"/>
                        <a:ea typeface="Cambria Math" panose="02040503050406030204" pitchFamily="18" charset="0"/>
                      </a:rPr>
                      <m:t>∅</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26</m:t>
                        </m:r>
                      </m:e>
                    </m:d>
                    <m:r>
                      <a:rPr lang="vi-VN" sz="2600" b="0" i="0" smtClean="0">
                        <a:latin typeface="Cambria Math" panose="02040503050406030204" pitchFamily="18" charset="0"/>
                        <a:ea typeface="Cambria Math" panose="02040503050406030204" pitchFamily="18" charset="0"/>
                      </a:rPr>
                      <m:t>=(1,3,5,7,9,11,15,17,19,21,23,25)</m:t>
                    </m:r>
                  </m:oMath>
                </a14:m>
                <a:endParaRPr lang="vi-VN" sz="2600" dirty="0"/>
              </a:p>
              <a:p>
                <a14:m>
                  <m:oMath xmlns:m="http://schemas.openxmlformats.org/officeDocument/2006/math">
                    <m:sSup>
                      <m:sSupPr>
                        <m:ctrlPr>
                          <a:rPr lang="en-US" sz="2600" b="0" i="1" smtClean="0">
                            <a:latin typeface="Cambria Math" panose="02040503050406030204" pitchFamily="18" charset="0"/>
                            <a:ea typeface="Cambria Math" panose="02040503050406030204" pitchFamily="18" charset="0"/>
                          </a:rPr>
                        </m:ctrlPr>
                      </m:sSupPr>
                      <m:e>
                        <m:r>
                          <a:rPr lang="vi-VN" sz="2600" i="1">
                            <a:latin typeface="Cambria Math" panose="02040503050406030204" pitchFamily="18" charset="0"/>
                            <a:ea typeface="Cambria Math" panose="02040503050406030204" pitchFamily="18" charset="0"/>
                          </a:rPr>
                          <m:t>∅</m:t>
                        </m:r>
                      </m:e>
                      <m:sup>
                        <m:r>
                          <a:rPr lang="en-US" sz="2600" b="0" i="1" smtClean="0">
                            <a:latin typeface="Cambria Math" panose="02040503050406030204" pitchFamily="18" charset="0"/>
                            <a:ea typeface="Cambria Math" panose="02040503050406030204" pitchFamily="18" charset="0"/>
                          </a:rPr>
                          <m:t>−1</m:t>
                        </m:r>
                      </m:sup>
                    </m:sSup>
                    <m:d>
                      <m:dPr>
                        <m:ctrlPr>
                          <a:rPr lang="en-US" sz="2600" b="0" i="1" smtClean="0">
                            <a:latin typeface="Cambria Math" panose="02040503050406030204" pitchFamily="18" charset="0"/>
                            <a:ea typeface="Cambria Math" panose="02040503050406030204" pitchFamily="18" charset="0"/>
                          </a:rPr>
                        </m:ctrlPr>
                      </m:dPr>
                      <m:e>
                        <m:r>
                          <a:rPr lang="en-US" sz="2600" b="0" i="0" smtClean="0">
                            <a:latin typeface="Cambria Math" panose="02040503050406030204" pitchFamily="18" charset="0"/>
                            <a:ea typeface="Cambria Math" panose="02040503050406030204" pitchFamily="18" charset="0"/>
                          </a:rPr>
                          <m:t>26</m:t>
                        </m:r>
                      </m:e>
                    </m:d>
                    <m:r>
                      <a:rPr lang="en-US" sz="2600" b="0" i="0" smtClean="0">
                        <a:latin typeface="Cambria Math" panose="02040503050406030204" pitchFamily="18" charset="0"/>
                        <a:ea typeface="Cambria Math" panose="02040503050406030204" pitchFamily="18" charset="0"/>
                      </a:rPr>
                      <m:t>=(1,9,21,15,3,19,7,23,11,5,17,25)</m:t>
                    </m:r>
                  </m:oMath>
                </a14:m>
                <a:endParaRPr lang="vi-VN" sz="2600" dirty="0"/>
              </a:p>
            </p:txBody>
          </p:sp>
        </mc:Choice>
        <mc:Fallback xmlns="">
          <p:sp>
            <p:nvSpPr>
              <p:cNvPr id="4" name="Chỗ dành sẵn cho Nội dung 3">
                <a:extLst>
                  <a:ext uri="{FF2B5EF4-FFF2-40B4-BE49-F238E27FC236}">
                    <a16:creationId xmlns:a16="http://schemas.microsoft.com/office/drawing/2014/main" id="{F7F2C352-546B-74DA-E4D4-33DFF80EAD00}"/>
                  </a:ext>
                </a:extLst>
              </p:cNvPr>
              <p:cNvSpPr>
                <a:spLocks noGrp="1" noRot="1" noChangeAspect="1" noMove="1" noResize="1" noEditPoints="1" noAdjustHandles="1" noChangeArrowheads="1" noChangeShapeType="1" noTextEdit="1"/>
              </p:cNvSpPr>
              <p:nvPr>
                <p:ph sz="quarter" idx="13"/>
              </p:nvPr>
            </p:nvSpPr>
            <p:spPr>
              <a:xfrm>
                <a:off x="234823" y="777303"/>
                <a:ext cx="8674100" cy="5303393"/>
              </a:xfrm>
              <a:blipFill>
                <a:blip r:embed="rId2"/>
                <a:stretch>
                  <a:fillRect l="-1023" t="-1914"/>
                </a:stretch>
              </a:blipFill>
            </p:spPr>
            <p:txBody>
              <a:bodyPr/>
              <a:lstStyle/>
              <a:p>
                <a:r>
                  <a:rPr>
                    <a:noFill/>
                  </a:rPr>
                  <a:t> </a:t>
                </a:r>
              </a:p>
            </p:txBody>
          </p:sp>
        </mc:Fallback>
      </mc:AlternateContent>
    </p:spTree>
    <p:extLst>
      <p:ext uri="{BB962C8B-B14F-4D97-AF65-F5344CB8AC3E}">
        <p14:creationId xmlns:p14="http://schemas.microsoft.com/office/powerpoint/2010/main" val="1783621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DF7C4B31-3D11-AB17-5B85-7D946AF3B96E}"/>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
        <p:nvSpPr>
          <p:cNvPr id="3" name="Tiêu đề 2">
            <a:extLst>
              <a:ext uri="{FF2B5EF4-FFF2-40B4-BE49-F238E27FC236}">
                <a16:creationId xmlns:a16="http://schemas.microsoft.com/office/drawing/2014/main" id="{DDF1D804-983F-EC9D-F273-9E1CD5C26A39}"/>
              </a:ext>
            </a:extLst>
          </p:cNvPr>
          <p:cNvSpPr>
            <a:spLocks noGrp="1"/>
          </p:cNvSpPr>
          <p:nvPr>
            <p:ph type="title"/>
          </p:nvPr>
        </p:nvSpPr>
        <p:spPr/>
        <p:txBody>
          <a:bodyPr/>
          <a:lstStyle/>
          <a:p>
            <a:r>
              <a:rPr lang="vi-VN" dirty="0"/>
              <a:t>Ví dụ 1 </a:t>
            </a:r>
          </a:p>
        </p:txBody>
      </p:sp>
      <mc:AlternateContent xmlns:mc="http://schemas.openxmlformats.org/markup-compatibility/2006" xmlns:a14="http://schemas.microsoft.com/office/drawing/2010/main">
        <mc:Choice Requires="a14">
          <p:sp>
            <p:nvSpPr>
              <p:cNvPr id="4" name="Chỗ dành sẵn cho Nội dung 3">
                <a:extLst>
                  <a:ext uri="{FF2B5EF4-FFF2-40B4-BE49-F238E27FC236}">
                    <a16:creationId xmlns:a16="http://schemas.microsoft.com/office/drawing/2014/main" id="{E2C71669-9BB0-256D-3769-C58E712FD9AC}"/>
                  </a:ext>
                </a:extLst>
              </p:cNvPr>
              <p:cNvSpPr>
                <a:spLocks noGrp="1"/>
              </p:cNvSpPr>
              <p:nvPr>
                <p:ph sz="quarter" idx="13"/>
              </p:nvPr>
            </p:nvSpPr>
            <p:spPr/>
            <p:txBody>
              <a:bodyPr/>
              <a:lstStyle/>
              <a:p>
                <a:r>
                  <a:rPr lang="vi-VN" dirty="0"/>
                  <a:t>Bản rõ: hengapnhauvaochieuthubay</a:t>
                </a:r>
              </a:p>
              <a:p>
                <a:endParaRPr lang="vi-VN" dirty="0"/>
              </a:p>
              <a:p>
                <a:endParaRPr lang="vi-VN" dirty="0"/>
              </a:p>
              <a:p>
                <a:endParaRPr lang="vi-VN" dirty="0"/>
              </a:p>
              <a:p>
                <a:r>
                  <a:rPr lang="vi-VN" dirty="0"/>
                  <a:t>Tìm bản mã </a:t>
                </a:r>
                <a14:m>
                  <m:oMath xmlns:m="http://schemas.openxmlformats.org/officeDocument/2006/math">
                    <m:r>
                      <a:rPr lang="vi-VN" i="1" dirty="0" smtClean="0">
                        <a:latin typeface="Cambria Math" panose="02040503050406030204" pitchFamily="18" charset="0"/>
                      </a:rPr>
                      <m:t>𝐾</m:t>
                    </m:r>
                    <m:r>
                      <a:rPr lang="vi-VN" i="1" dirty="0" smtClean="0">
                        <a:latin typeface="Cambria Math" panose="02040503050406030204" pitchFamily="18" charset="0"/>
                      </a:rPr>
                      <m:t> = (5, 6) </m:t>
                    </m:r>
                  </m:oMath>
                </a14:m>
                <a:r>
                  <a:rPr lang="vi-VN" dirty="0"/>
                  <a:t>?</a:t>
                </a:r>
              </a:p>
              <a:p>
                <a:r>
                  <a:rPr lang="vi-VN" dirty="0"/>
                  <a:t>Số khoá </a:t>
                </a:r>
                <a14:m>
                  <m:oMath xmlns:m="http://schemas.openxmlformats.org/officeDocument/2006/math">
                    <m:r>
                      <a:rPr lang="vi-VN" b="0" i="0" dirty="0" smtClean="0">
                        <a:latin typeface="Cambria Math" panose="02040503050406030204" pitchFamily="18" charset="0"/>
                        <a:ea typeface="Cambria Math" panose="02040503050406030204" pitchFamily="18" charset="0"/>
                      </a:rPr>
                      <m:t>12</m:t>
                    </m:r>
                    <m:r>
                      <a:rPr lang="vi-VN" i="1" dirty="0" smtClean="0">
                        <a:latin typeface="Cambria Math" panose="02040503050406030204" pitchFamily="18" charset="0"/>
                        <a:ea typeface="Cambria Math" panose="02040503050406030204" pitchFamily="18" charset="0"/>
                      </a:rPr>
                      <m:t>×</m:t>
                    </m:r>
                    <m:r>
                      <a:rPr lang="vi-VN" b="0" i="1" dirty="0" smtClean="0">
                        <a:latin typeface="Cambria Math" panose="02040503050406030204" pitchFamily="18" charset="0"/>
                        <a:ea typeface="Cambria Math" panose="02040503050406030204" pitchFamily="18" charset="0"/>
                      </a:rPr>
                      <m:t>26=312 </m:t>
                    </m:r>
                    <m:r>
                      <a:rPr lang="vi-VN" b="0" i="0" dirty="0" smtClean="0">
                        <a:latin typeface="Cambria Math" panose="02040503050406030204" pitchFamily="18" charset="0"/>
                        <a:ea typeface="Cambria Math" panose="02040503050406030204" pitchFamily="18" charset="0"/>
                      </a:rPr>
                      <m:t>→ </m:t>
                    </m:r>
                  </m:oMath>
                </a14:m>
                <a:r>
                  <a:rPr lang="vi-VN" dirty="0"/>
                  <a:t>không gian khoá bé</a:t>
                </a:r>
              </a:p>
              <a:p>
                <a:endParaRPr lang="vi-VN" dirty="0"/>
              </a:p>
              <a:p>
                <a:r>
                  <a:rPr lang="vi-VN" dirty="0"/>
                  <a:t>Tìm bản rõ: </a:t>
                </a:r>
              </a:p>
              <a:p>
                <a:pPr marL="0" indent="0">
                  <a:buNone/>
                </a:pPr>
                <a:r>
                  <a:rPr lang="en-VN" sz="2800" i="1"/>
                  <a:t>fmxvedkaphferbnfkrxrsrefmorudsdkdvshvufedkaprkdlyevlrhhrh</a:t>
                </a:r>
              </a:p>
              <a:p>
                <a:r>
                  <a:rPr lang="vi-VN" dirty="0"/>
                  <a:t> </a:t>
                </a:r>
              </a:p>
              <a:p>
                <a:endParaRPr lang="vi-VN" dirty="0"/>
              </a:p>
            </p:txBody>
          </p:sp>
        </mc:Choice>
        <mc:Fallback xmlns="">
          <p:sp>
            <p:nvSpPr>
              <p:cNvPr id="4" name="Chỗ dành sẵn cho Nội dung 3">
                <a:extLst>
                  <a:ext uri="{FF2B5EF4-FFF2-40B4-BE49-F238E27FC236}">
                    <a16:creationId xmlns:a16="http://schemas.microsoft.com/office/drawing/2014/main" id="{E2C71669-9BB0-256D-3769-C58E712FD9AC}"/>
                  </a:ext>
                </a:extLst>
              </p:cNvPr>
              <p:cNvSpPr>
                <a:spLocks noGrp="1" noRot="1" noChangeAspect="1" noMove="1" noResize="1" noEditPoints="1" noAdjustHandles="1" noChangeArrowheads="1" noChangeShapeType="1" noTextEdit="1"/>
              </p:cNvSpPr>
              <p:nvPr>
                <p:ph sz="quarter" idx="13"/>
              </p:nvPr>
            </p:nvSpPr>
            <p:spPr>
              <a:blipFill>
                <a:blip r:embed="rId2"/>
                <a:stretch>
                  <a:fillRect l="-1462" t="-2153" r="-585" b="-5981"/>
                </a:stretch>
              </a:blipFill>
            </p:spPr>
            <p:txBody>
              <a:bodyPr/>
              <a:lstStyle/>
              <a:p>
                <a:r>
                  <a:rPr>
                    <a:noFill/>
                  </a:rPr>
                  <a:t> </a:t>
                </a:r>
              </a:p>
            </p:txBody>
          </p:sp>
        </mc:Fallback>
      </mc:AlternateContent>
      <p:graphicFrame>
        <p:nvGraphicFramePr>
          <p:cNvPr id="5" name="Table 5">
            <a:extLst>
              <a:ext uri="{FF2B5EF4-FFF2-40B4-BE49-F238E27FC236}">
                <a16:creationId xmlns:a16="http://schemas.microsoft.com/office/drawing/2014/main" id="{767CB788-7573-A452-FFE3-D5636F34EFA0}"/>
              </a:ext>
            </a:extLst>
          </p:cNvPr>
          <p:cNvGraphicFramePr>
            <a:graphicFrameLocks noGrp="1"/>
          </p:cNvGraphicFramePr>
          <p:nvPr/>
        </p:nvGraphicFramePr>
        <p:xfrm>
          <a:off x="147081" y="1410252"/>
          <a:ext cx="8896104" cy="1086168"/>
        </p:xfrm>
        <a:graphic>
          <a:graphicData uri="http://schemas.openxmlformats.org/drawingml/2006/table">
            <a:tbl>
              <a:tblPr firstRow="1" bandRow="1">
                <a:tableStyleId>{5C22544A-7EE6-4342-B048-85BDC9FD1C3A}</a:tableStyleId>
              </a:tblPr>
              <a:tblGrid>
                <a:gridCol w="362268">
                  <a:extLst>
                    <a:ext uri="{9D8B030D-6E8A-4147-A177-3AD203B41FA5}">
                      <a16:colId xmlns:a16="http://schemas.microsoft.com/office/drawing/2014/main" val="1052331412"/>
                    </a:ext>
                  </a:extLst>
                </a:gridCol>
                <a:gridCol w="316000">
                  <a:extLst>
                    <a:ext uri="{9D8B030D-6E8A-4147-A177-3AD203B41FA5}">
                      <a16:colId xmlns:a16="http://schemas.microsoft.com/office/drawing/2014/main" val="2102308439"/>
                    </a:ext>
                  </a:extLst>
                </a:gridCol>
                <a:gridCol w="511402">
                  <a:extLst>
                    <a:ext uri="{9D8B030D-6E8A-4147-A177-3AD203B41FA5}">
                      <a16:colId xmlns:a16="http://schemas.microsoft.com/office/drawing/2014/main" val="3456640300"/>
                    </a:ext>
                  </a:extLst>
                </a:gridCol>
                <a:gridCol w="353442">
                  <a:extLst>
                    <a:ext uri="{9D8B030D-6E8A-4147-A177-3AD203B41FA5}">
                      <a16:colId xmlns:a16="http://schemas.microsoft.com/office/drawing/2014/main" val="850315431"/>
                    </a:ext>
                  </a:extLst>
                </a:gridCol>
                <a:gridCol w="332633">
                  <a:extLst>
                    <a:ext uri="{9D8B030D-6E8A-4147-A177-3AD203B41FA5}">
                      <a16:colId xmlns:a16="http://schemas.microsoft.com/office/drawing/2014/main" val="1879970083"/>
                    </a:ext>
                  </a:extLst>
                </a:gridCol>
                <a:gridCol w="548844">
                  <a:extLst>
                    <a:ext uri="{9D8B030D-6E8A-4147-A177-3AD203B41FA5}">
                      <a16:colId xmlns:a16="http://schemas.microsoft.com/office/drawing/2014/main" val="1469653913"/>
                    </a:ext>
                  </a:extLst>
                </a:gridCol>
                <a:gridCol w="582106">
                  <a:extLst>
                    <a:ext uri="{9D8B030D-6E8A-4147-A177-3AD203B41FA5}">
                      <a16:colId xmlns:a16="http://schemas.microsoft.com/office/drawing/2014/main" val="3553963405"/>
                    </a:ext>
                  </a:extLst>
                </a:gridCol>
                <a:gridCol w="349265">
                  <a:extLst>
                    <a:ext uri="{9D8B030D-6E8A-4147-A177-3AD203B41FA5}">
                      <a16:colId xmlns:a16="http://schemas.microsoft.com/office/drawing/2014/main" val="1272056399"/>
                    </a:ext>
                  </a:extLst>
                </a:gridCol>
                <a:gridCol w="299369">
                  <a:extLst>
                    <a:ext uri="{9D8B030D-6E8A-4147-A177-3AD203B41FA5}">
                      <a16:colId xmlns:a16="http://schemas.microsoft.com/office/drawing/2014/main" val="1747039837"/>
                    </a:ext>
                  </a:extLst>
                </a:gridCol>
                <a:gridCol w="518474">
                  <a:extLst>
                    <a:ext uri="{9D8B030D-6E8A-4147-A177-3AD203B41FA5}">
                      <a16:colId xmlns:a16="http://schemas.microsoft.com/office/drawing/2014/main" val="1163610189"/>
                    </a:ext>
                  </a:extLst>
                </a:gridCol>
                <a:gridCol w="516159">
                  <a:extLst>
                    <a:ext uri="{9D8B030D-6E8A-4147-A177-3AD203B41FA5}">
                      <a16:colId xmlns:a16="http://schemas.microsoft.com/office/drawing/2014/main" val="2378205193"/>
                    </a:ext>
                  </a:extLst>
                </a:gridCol>
                <a:gridCol w="225287">
                  <a:extLst>
                    <a:ext uri="{9D8B030D-6E8A-4147-A177-3AD203B41FA5}">
                      <a16:colId xmlns:a16="http://schemas.microsoft.com/office/drawing/2014/main" val="2581084124"/>
                    </a:ext>
                  </a:extLst>
                </a:gridCol>
                <a:gridCol w="437322">
                  <a:extLst>
                    <a:ext uri="{9D8B030D-6E8A-4147-A177-3AD203B41FA5}">
                      <a16:colId xmlns:a16="http://schemas.microsoft.com/office/drawing/2014/main" val="4102691311"/>
                    </a:ext>
                  </a:extLst>
                </a:gridCol>
                <a:gridCol w="265044">
                  <a:extLst>
                    <a:ext uri="{9D8B030D-6E8A-4147-A177-3AD203B41FA5}">
                      <a16:colId xmlns:a16="http://schemas.microsoft.com/office/drawing/2014/main" val="1180772185"/>
                    </a:ext>
                  </a:extLst>
                </a:gridCol>
                <a:gridCol w="265043">
                  <a:extLst>
                    <a:ext uri="{9D8B030D-6E8A-4147-A177-3AD203B41FA5}">
                      <a16:colId xmlns:a16="http://schemas.microsoft.com/office/drawing/2014/main" val="624552232"/>
                    </a:ext>
                  </a:extLst>
                </a:gridCol>
                <a:gridCol w="265044">
                  <a:extLst>
                    <a:ext uri="{9D8B030D-6E8A-4147-A177-3AD203B41FA5}">
                      <a16:colId xmlns:a16="http://schemas.microsoft.com/office/drawing/2014/main" val="1754348889"/>
                    </a:ext>
                  </a:extLst>
                </a:gridCol>
                <a:gridCol w="238539">
                  <a:extLst>
                    <a:ext uri="{9D8B030D-6E8A-4147-A177-3AD203B41FA5}">
                      <a16:colId xmlns:a16="http://schemas.microsoft.com/office/drawing/2014/main" val="2366571573"/>
                    </a:ext>
                  </a:extLst>
                </a:gridCol>
                <a:gridCol w="490330">
                  <a:extLst>
                    <a:ext uri="{9D8B030D-6E8A-4147-A177-3AD203B41FA5}">
                      <a16:colId xmlns:a16="http://schemas.microsoft.com/office/drawing/2014/main" val="3363370360"/>
                    </a:ext>
                  </a:extLst>
                </a:gridCol>
                <a:gridCol w="365406">
                  <a:extLst>
                    <a:ext uri="{9D8B030D-6E8A-4147-A177-3AD203B41FA5}">
                      <a16:colId xmlns:a16="http://schemas.microsoft.com/office/drawing/2014/main" val="816987247"/>
                    </a:ext>
                  </a:extLst>
                </a:gridCol>
                <a:gridCol w="330825">
                  <a:extLst>
                    <a:ext uri="{9D8B030D-6E8A-4147-A177-3AD203B41FA5}">
                      <a16:colId xmlns:a16="http://schemas.microsoft.com/office/drawing/2014/main" val="1019743102"/>
                    </a:ext>
                  </a:extLst>
                </a:gridCol>
                <a:gridCol w="330826">
                  <a:extLst>
                    <a:ext uri="{9D8B030D-6E8A-4147-A177-3AD203B41FA5}">
                      <a16:colId xmlns:a16="http://schemas.microsoft.com/office/drawing/2014/main" val="113226801"/>
                    </a:ext>
                  </a:extLst>
                </a:gridCol>
                <a:gridCol w="330826">
                  <a:extLst>
                    <a:ext uri="{9D8B030D-6E8A-4147-A177-3AD203B41FA5}">
                      <a16:colId xmlns:a16="http://schemas.microsoft.com/office/drawing/2014/main" val="378223267"/>
                    </a:ext>
                  </a:extLst>
                </a:gridCol>
                <a:gridCol w="330825">
                  <a:extLst>
                    <a:ext uri="{9D8B030D-6E8A-4147-A177-3AD203B41FA5}">
                      <a16:colId xmlns:a16="http://schemas.microsoft.com/office/drawing/2014/main" val="1859408810"/>
                    </a:ext>
                  </a:extLst>
                </a:gridCol>
                <a:gridCol w="330825">
                  <a:extLst>
                    <a:ext uri="{9D8B030D-6E8A-4147-A177-3AD203B41FA5}">
                      <a16:colId xmlns:a16="http://schemas.microsoft.com/office/drawing/2014/main" val="754497988"/>
                    </a:ext>
                  </a:extLst>
                </a:gridCol>
              </a:tblGrid>
              <a:tr h="446088">
                <a:tc>
                  <a:txBody>
                    <a:bodyPr/>
                    <a:lstStyle/>
                    <a:p>
                      <a:r>
                        <a:rPr lang="vi-VN" b="0" dirty="0"/>
                        <a:t>h</a:t>
                      </a:r>
                      <a:endParaRPr b="0" dirty="0"/>
                    </a:p>
                  </a:txBody>
                  <a:tcPr/>
                </a:tc>
                <a:tc>
                  <a:txBody>
                    <a:bodyPr/>
                    <a:lstStyle/>
                    <a:p>
                      <a:r>
                        <a:rPr lang="vi-VN" b="0" dirty="0"/>
                        <a:t>e</a:t>
                      </a:r>
                      <a:endParaRPr b="0" dirty="0"/>
                    </a:p>
                  </a:txBody>
                  <a:tcPr/>
                </a:tc>
                <a:tc>
                  <a:txBody>
                    <a:bodyPr/>
                    <a:lstStyle/>
                    <a:p>
                      <a:r>
                        <a:rPr lang="vi-VN" b="0" dirty="0"/>
                        <a:t>n</a:t>
                      </a:r>
                      <a:endParaRPr b="0" dirty="0"/>
                    </a:p>
                  </a:txBody>
                  <a:tcPr/>
                </a:tc>
                <a:tc>
                  <a:txBody>
                    <a:bodyPr/>
                    <a:lstStyle/>
                    <a:p>
                      <a:r>
                        <a:rPr lang="vi-VN" b="0" dirty="0"/>
                        <a:t>g</a:t>
                      </a:r>
                      <a:endParaRPr b="0" dirty="0"/>
                    </a:p>
                  </a:txBody>
                  <a:tcPr/>
                </a:tc>
                <a:tc>
                  <a:txBody>
                    <a:bodyPr/>
                    <a:lstStyle/>
                    <a:p>
                      <a:r>
                        <a:rPr lang="vi-VN" b="0" dirty="0"/>
                        <a:t>a</a:t>
                      </a:r>
                      <a:endParaRPr b="0" dirty="0"/>
                    </a:p>
                  </a:txBody>
                  <a:tcPr/>
                </a:tc>
                <a:tc>
                  <a:txBody>
                    <a:bodyPr/>
                    <a:lstStyle/>
                    <a:p>
                      <a:r>
                        <a:rPr lang="vi-VN" b="0" dirty="0"/>
                        <a:t>p</a:t>
                      </a:r>
                      <a:endParaRPr b="0" dirty="0"/>
                    </a:p>
                  </a:txBody>
                  <a:tcPr/>
                </a:tc>
                <a:tc>
                  <a:txBody>
                    <a:bodyPr/>
                    <a:lstStyle/>
                    <a:p>
                      <a:r>
                        <a:rPr lang="vi-VN" b="0" dirty="0"/>
                        <a:t>n</a:t>
                      </a:r>
                      <a:endParaRPr b="0" dirty="0"/>
                    </a:p>
                  </a:txBody>
                  <a:tcPr/>
                </a:tc>
                <a:tc>
                  <a:txBody>
                    <a:bodyPr/>
                    <a:lstStyle/>
                    <a:p>
                      <a:r>
                        <a:rPr lang="vi-VN" b="0" dirty="0"/>
                        <a:t>h</a:t>
                      </a:r>
                      <a:endParaRPr b="0" dirty="0"/>
                    </a:p>
                  </a:txBody>
                  <a:tcPr/>
                </a:tc>
                <a:tc>
                  <a:txBody>
                    <a:bodyPr/>
                    <a:lstStyle/>
                    <a:p>
                      <a:r>
                        <a:rPr lang="vi-VN" b="0" dirty="0"/>
                        <a:t>a</a:t>
                      </a:r>
                      <a:endParaRPr b="0" dirty="0"/>
                    </a:p>
                  </a:txBody>
                  <a:tcPr/>
                </a:tc>
                <a:tc>
                  <a:txBody>
                    <a:bodyPr/>
                    <a:lstStyle/>
                    <a:p>
                      <a:r>
                        <a:rPr lang="vi-VN" b="0" dirty="0"/>
                        <a:t>u</a:t>
                      </a:r>
                      <a:endParaRPr b="0" dirty="0"/>
                    </a:p>
                  </a:txBody>
                  <a:tcPr/>
                </a:tc>
                <a:tc>
                  <a:txBody>
                    <a:bodyPr/>
                    <a:lstStyle/>
                    <a:p>
                      <a:r>
                        <a:rPr lang="vi-VN" b="0" dirty="0"/>
                        <a:t>v</a:t>
                      </a:r>
                      <a:endParaRPr b="0" dirty="0"/>
                    </a:p>
                  </a:txBody>
                  <a:tcPr/>
                </a:tc>
                <a:tc>
                  <a:txBody>
                    <a:bodyPr/>
                    <a:lstStyle/>
                    <a:p>
                      <a:r>
                        <a:rPr lang="vi-VN" b="0" dirty="0"/>
                        <a:t>a</a:t>
                      </a:r>
                      <a:endParaRPr b="0" dirty="0"/>
                    </a:p>
                  </a:txBody>
                  <a:tcPr/>
                </a:tc>
                <a:tc>
                  <a:txBody>
                    <a:bodyPr/>
                    <a:lstStyle/>
                    <a:p>
                      <a:r>
                        <a:rPr lang="vi-VN" b="0" dirty="0"/>
                        <a:t>o</a:t>
                      </a:r>
                      <a:endParaRPr b="0" dirty="0"/>
                    </a:p>
                  </a:txBody>
                  <a:tcPr/>
                </a:tc>
                <a:tc>
                  <a:txBody>
                    <a:bodyPr/>
                    <a:lstStyle/>
                    <a:p>
                      <a:r>
                        <a:rPr lang="vi-VN" b="0" dirty="0"/>
                        <a:t>c</a:t>
                      </a:r>
                      <a:endParaRPr b="0" dirty="0"/>
                    </a:p>
                  </a:txBody>
                  <a:tcPr/>
                </a:tc>
                <a:tc>
                  <a:txBody>
                    <a:bodyPr/>
                    <a:lstStyle/>
                    <a:p>
                      <a:r>
                        <a:rPr lang="vi-VN" b="0" dirty="0"/>
                        <a:t>h</a:t>
                      </a:r>
                      <a:endParaRPr b="0" dirty="0"/>
                    </a:p>
                  </a:txBody>
                  <a:tcPr/>
                </a:tc>
                <a:tc>
                  <a:txBody>
                    <a:bodyPr/>
                    <a:lstStyle/>
                    <a:p>
                      <a:r>
                        <a:rPr lang="vi-VN" b="0" dirty="0"/>
                        <a:t>i</a:t>
                      </a:r>
                      <a:endParaRPr b="0" dirty="0"/>
                    </a:p>
                  </a:txBody>
                  <a:tcPr/>
                </a:tc>
                <a:tc>
                  <a:txBody>
                    <a:bodyPr/>
                    <a:lstStyle/>
                    <a:p>
                      <a:r>
                        <a:rPr lang="vi-VN" b="0" dirty="0"/>
                        <a:t>e</a:t>
                      </a:r>
                      <a:endParaRPr b="0" dirty="0"/>
                    </a:p>
                  </a:txBody>
                  <a:tcPr/>
                </a:tc>
                <a:tc>
                  <a:txBody>
                    <a:bodyPr/>
                    <a:lstStyle/>
                    <a:p>
                      <a:r>
                        <a:rPr lang="vi-VN" b="0" dirty="0"/>
                        <a:t>u</a:t>
                      </a:r>
                      <a:endParaRPr b="0" dirty="0"/>
                    </a:p>
                  </a:txBody>
                  <a:tcPr/>
                </a:tc>
                <a:tc>
                  <a:txBody>
                    <a:bodyPr/>
                    <a:lstStyle/>
                    <a:p>
                      <a:r>
                        <a:rPr lang="vi-VN" b="0" dirty="0"/>
                        <a:t>t</a:t>
                      </a:r>
                      <a:endParaRPr b="0" dirty="0"/>
                    </a:p>
                  </a:txBody>
                  <a:tcPr/>
                </a:tc>
                <a:tc>
                  <a:txBody>
                    <a:bodyPr/>
                    <a:lstStyle/>
                    <a:p>
                      <a:r>
                        <a:rPr lang="vi-VN" b="0" dirty="0"/>
                        <a:t>h</a:t>
                      </a:r>
                      <a:endParaRPr b="0" dirty="0"/>
                    </a:p>
                  </a:txBody>
                  <a:tcPr/>
                </a:tc>
                <a:tc>
                  <a:txBody>
                    <a:bodyPr/>
                    <a:lstStyle/>
                    <a:p>
                      <a:r>
                        <a:rPr lang="vi-VN" b="0" dirty="0"/>
                        <a:t>u</a:t>
                      </a:r>
                      <a:endParaRPr b="0" dirty="0"/>
                    </a:p>
                  </a:txBody>
                  <a:tcPr/>
                </a:tc>
                <a:tc>
                  <a:txBody>
                    <a:bodyPr/>
                    <a:lstStyle/>
                    <a:p>
                      <a:r>
                        <a:rPr lang="vi-VN" b="0" dirty="0"/>
                        <a:t>b</a:t>
                      </a:r>
                      <a:endParaRPr b="0" dirty="0"/>
                    </a:p>
                  </a:txBody>
                  <a:tcPr/>
                </a:tc>
                <a:tc>
                  <a:txBody>
                    <a:bodyPr/>
                    <a:lstStyle/>
                    <a:p>
                      <a:r>
                        <a:rPr lang="vi-VN" b="0" dirty="0"/>
                        <a:t>a</a:t>
                      </a:r>
                      <a:endParaRPr b="0" dirty="0"/>
                    </a:p>
                  </a:txBody>
                  <a:tcPr/>
                </a:tc>
                <a:tc>
                  <a:txBody>
                    <a:bodyPr/>
                    <a:lstStyle/>
                    <a:p>
                      <a:r>
                        <a:rPr lang="vi-VN" b="0" dirty="0"/>
                        <a:t>y</a:t>
                      </a:r>
                      <a:endParaRPr b="0" dirty="0"/>
                    </a:p>
                  </a:txBody>
                  <a:tcPr/>
                </a:tc>
                <a:extLst>
                  <a:ext uri="{0D108BD9-81ED-4DB2-BD59-A6C34878D82A}">
                    <a16:rowId xmlns:a16="http://schemas.microsoft.com/office/drawing/2014/main" val="3386518507"/>
                  </a:ext>
                </a:extLst>
              </a:tr>
              <a:tr h="370840">
                <a:tc>
                  <a:txBody>
                    <a:bodyPr/>
                    <a:lstStyle/>
                    <a:p>
                      <a:r>
                        <a:rPr lang="vi-VN" b="0" dirty="0"/>
                        <a:t>7</a:t>
                      </a:r>
                      <a:endParaRPr b="0" dirty="0"/>
                    </a:p>
                  </a:txBody>
                  <a:tcPr/>
                </a:tc>
                <a:tc>
                  <a:txBody>
                    <a:bodyPr/>
                    <a:lstStyle/>
                    <a:p>
                      <a:r>
                        <a:rPr lang="vi-VN" b="0" dirty="0"/>
                        <a:t>4</a:t>
                      </a:r>
                      <a:endParaRPr b="0" dirty="0"/>
                    </a:p>
                  </a:txBody>
                  <a:tcPr/>
                </a:tc>
                <a:tc>
                  <a:txBody>
                    <a:bodyPr/>
                    <a:lstStyle/>
                    <a:p>
                      <a:r>
                        <a:rPr lang="vi-VN" b="0" dirty="0"/>
                        <a:t>13</a:t>
                      </a:r>
                      <a:endParaRPr b="0" dirty="0"/>
                    </a:p>
                  </a:txBody>
                  <a:tcPr/>
                </a:tc>
                <a:tc>
                  <a:txBody>
                    <a:bodyPr/>
                    <a:lstStyle/>
                    <a:p>
                      <a:r>
                        <a:rPr lang="vi-VN" b="0" dirty="0"/>
                        <a:t>6</a:t>
                      </a:r>
                      <a:endParaRPr b="0" dirty="0"/>
                    </a:p>
                  </a:txBody>
                  <a:tcPr/>
                </a:tc>
                <a:tc>
                  <a:txBody>
                    <a:bodyPr/>
                    <a:lstStyle/>
                    <a:p>
                      <a:r>
                        <a:rPr lang="vi-VN" b="0" dirty="0"/>
                        <a:t>0</a:t>
                      </a:r>
                      <a:endParaRPr b="0" dirty="0"/>
                    </a:p>
                  </a:txBody>
                  <a:tcPr/>
                </a:tc>
                <a:tc>
                  <a:txBody>
                    <a:bodyPr/>
                    <a:lstStyle/>
                    <a:p>
                      <a:r>
                        <a:rPr lang="vi-VN" b="0" dirty="0"/>
                        <a:t>15</a:t>
                      </a:r>
                      <a:endParaRPr b="0" dirty="0"/>
                    </a:p>
                  </a:txBody>
                  <a:tcPr/>
                </a:tc>
                <a:tc>
                  <a:txBody>
                    <a:bodyPr/>
                    <a:lstStyle/>
                    <a:p>
                      <a:r>
                        <a:rPr lang="vi-VN" b="0" dirty="0"/>
                        <a:t>13</a:t>
                      </a:r>
                      <a:endParaRPr b="0" dirty="0"/>
                    </a:p>
                  </a:txBody>
                  <a:tcPr/>
                </a:tc>
                <a:tc>
                  <a:txBody>
                    <a:bodyPr/>
                    <a:lstStyle/>
                    <a:p>
                      <a:r>
                        <a:rPr lang="vi-VN" b="0" dirty="0"/>
                        <a:t>7</a:t>
                      </a:r>
                      <a:endParaRPr b="0" dirty="0"/>
                    </a:p>
                  </a:txBody>
                  <a:tcPr/>
                </a:tc>
                <a:tc>
                  <a:txBody>
                    <a:bodyPr/>
                    <a:lstStyle/>
                    <a:p>
                      <a:r>
                        <a:rPr lang="vi-VN" b="0" dirty="0"/>
                        <a:t>0</a:t>
                      </a:r>
                      <a:endParaRPr b="0" dirty="0"/>
                    </a:p>
                  </a:txBody>
                  <a:tcPr/>
                </a:tc>
                <a:tc>
                  <a:txBody>
                    <a:bodyPr/>
                    <a:lstStyle/>
                    <a:p>
                      <a:r>
                        <a:rPr lang="vi-VN" b="0" dirty="0"/>
                        <a:t>20</a:t>
                      </a:r>
                      <a:endParaRPr b="0" dirty="0"/>
                    </a:p>
                  </a:txBody>
                  <a:tcPr/>
                </a:tc>
                <a:tc>
                  <a:txBody>
                    <a:bodyPr/>
                    <a:lstStyle/>
                    <a:p>
                      <a:r>
                        <a:rPr lang="vi-VN" b="0" dirty="0"/>
                        <a:t>21</a:t>
                      </a:r>
                      <a:endParaRPr b="0" dirty="0"/>
                    </a:p>
                  </a:txBody>
                  <a:tcPr/>
                </a:tc>
                <a:tc>
                  <a:txBody>
                    <a:bodyPr/>
                    <a:lstStyle/>
                    <a:p>
                      <a:r>
                        <a:rPr lang="vi-VN" b="0" dirty="0"/>
                        <a:t>0</a:t>
                      </a:r>
                      <a:endParaRPr b="0" dirty="0"/>
                    </a:p>
                  </a:txBody>
                  <a:tcPr/>
                </a:tc>
                <a:tc>
                  <a:txBody>
                    <a:bodyPr/>
                    <a:lstStyle/>
                    <a:p>
                      <a:r>
                        <a:rPr lang="vi-VN" b="0" dirty="0"/>
                        <a:t>14</a:t>
                      </a:r>
                      <a:endParaRPr b="0" dirty="0"/>
                    </a:p>
                  </a:txBody>
                  <a:tcPr/>
                </a:tc>
                <a:tc>
                  <a:txBody>
                    <a:bodyPr/>
                    <a:lstStyle/>
                    <a:p>
                      <a:r>
                        <a:rPr lang="vi-VN" b="0" dirty="0"/>
                        <a:t>2</a:t>
                      </a:r>
                      <a:endParaRPr b="0" dirty="0"/>
                    </a:p>
                  </a:txBody>
                  <a:tcPr/>
                </a:tc>
                <a:tc>
                  <a:txBody>
                    <a:bodyPr/>
                    <a:lstStyle/>
                    <a:p>
                      <a:r>
                        <a:rPr lang="vi-VN" b="0" dirty="0"/>
                        <a:t>7</a:t>
                      </a:r>
                      <a:endParaRPr b="0" dirty="0"/>
                    </a:p>
                  </a:txBody>
                  <a:tcPr/>
                </a:tc>
                <a:tc>
                  <a:txBody>
                    <a:bodyPr/>
                    <a:lstStyle/>
                    <a:p>
                      <a:r>
                        <a:rPr lang="vi-VN" b="0" dirty="0"/>
                        <a:t>8</a:t>
                      </a:r>
                      <a:endParaRPr b="0" dirty="0"/>
                    </a:p>
                  </a:txBody>
                  <a:tcPr/>
                </a:tc>
                <a:tc>
                  <a:txBody>
                    <a:bodyPr/>
                    <a:lstStyle/>
                    <a:p>
                      <a:r>
                        <a:rPr lang="vi-VN" b="0" dirty="0"/>
                        <a:t>4</a:t>
                      </a:r>
                      <a:endParaRPr b="0" dirty="0"/>
                    </a:p>
                  </a:txBody>
                  <a:tcPr/>
                </a:tc>
                <a:tc>
                  <a:txBody>
                    <a:bodyPr/>
                    <a:lstStyle/>
                    <a:p>
                      <a:r>
                        <a:rPr lang="vi-VN" b="0" dirty="0"/>
                        <a:t>20</a:t>
                      </a:r>
                      <a:endParaRPr b="0" dirty="0"/>
                    </a:p>
                  </a:txBody>
                  <a:tcPr/>
                </a:tc>
                <a:tc>
                  <a:txBody>
                    <a:bodyPr/>
                    <a:lstStyle/>
                    <a:p>
                      <a:r>
                        <a:rPr lang="vi-VN" b="0" dirty="0"/>
                        <a:t>19</a:t>
                      </a:r>
                      <a:endParaRPr b="0" dirty="0"/>
                    </a:p>
                  </a:txBody>
                  <a:tcPr/>
                </a:tc>
                <a:tc>
                  <a:txBody>
                    <a:bodyPr/>
                    <a:lstStyle/>
                    <a:p>
                      <a:r>
                        <a:rPr lang="vi-VN" b="0" dirty="0"/>
                        <a:t>7</a:t>
                      </a:r>
                      <a:endParaRPr b="0" dirty="0"/>
                    </a:p>
                  </a:txBody>
                  <a:tcPr/>
                </a:tc>
                <a:tc>
                  <a:txBody>
                    <a:bodyPr/>
                    <a:lstStyle/>
                    <a:p>
                      <a:r>
                        <a:rPr lang="vi-VN" b="0" dirty="0"/>
                        <a:t>20</a:t>
                      </a:r>
                      <a:endParaRPr b="0" dirty="0"/>
                    </a:p>
                  </a:txBody>
                  <a:tcPr/>
                </a:tc>
                <a:tc>
                  <a:txBody>
                    <a:bodyPr/>
                    <a:lstStyle/>
                    <a:p>
                      <a:r>
                        <a:rPr lang="vi-VN" b="0" dirty="0"/>
                        <a:t>1</a:t>
                      </a:r>
                      <a:endParaRPr b="0" dirty="0"/>
                    </a:p>
                  </a:txBody>
                  <a:tcPr/>
                </a:tc>
                <a:tc>
                  <a:txBody>
                    <a:bodyPr/>
                    <a:lstStyle/>
                    <a:p>
                      <a:r>
                        <a:rPr lang="vi-VN" b="0" dirty="0"/>
                        <a:t>0</a:t>
                      </a:r>
                      <a:endParaRPr b="0" dirty="0"/>
                    </a:p>
                  </a:txBody>
                  <a:tcPr/>
                </a:tc>
                <a:tc>
                  <a:txBody>
                    <a:bodyPr/>
                    <a:lstStyle/>
                    <a:p>
                      <a:r>
                        <a:rPr lang="vi-VN" b="0" dirty="0"/>
                        <a:t>24</a:t>
                      </a:r>
                      <a:endParaRPr b="0" dirty="0"/>
                    </a:p>
                  </a:txBody>
                  <a:tcPr/>
                </a:tc>
                <a:extLst>
                  <a:ext uri="{0D108BD9-81ED-4DB2-BD59-A6C34878D82A}">
                    <a16:rowId xmlns:a16="http://schemas.microsoft.com/office/drawing/2014/main" val="39974662"/>
                  </a:ext>
                </a:extLst>
              </a:tr>
            </a:tbl>
          </a:graphicData>
        </a:graphic>
      </p:graphicFrame>
    </p:spTree>
    <p:extLst>
      <p:ext uri="{BB962C8B-B14F-4D97-AF65-F5344CB8AC3E}">
        <p14:creationId xmlns:p14="http://schemas.microsoft.com/office/powerpoint/2010/main" val="3299739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Số hiệu Bản chiếu 1">
            <a:extLst>
              <a:ext uri="{FF2B5EF4-FFF2-40B4-BE49-F238E27FC236}">
                <a16:creationId xmlns:a16="http://schemas.microsoft.com/office/drawing/2014/main" id="{95968F2A-CA67-A3C1-A380-34B26F03748D}"/>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Tiêu đề 2">
            <a:extLst>
              <a:ext uri="{FF2B5EF4-FFF2-40B4-BE49-F238E27FC236}">
                <a16:creationId xmlns:a16="http://schemas.microsoft.com/office/drawing/2014/main" id="{B4282639-2337-F4CC-FD52-604F85D961E0}"/>
              </a:ext>
            </a:extLst>
          </p:cNvPr>
          <p:cNvSpPr>
            <a:spLocks noGrp="1"/>
          </p:cNvSpPr>
          <p:nvPr>
            <p:ph type="title"/>
          </p:nvPr>
        </p:nvSpPr>
        <p:spPr/>
        <p:txBody>
          <a:bodyPr/>
          <a:lstStyle/>
          <a:p>
            <a:r>
              <a:rPr lang="en-US"/>
              <a:t>Mã Vigenere </a:t>
            </a:r>
            <a:endParaRPr lang="vi-VN"/>
          </a:p>
        </p:txBody>
      </p:sp>
      <mc:AlternateContent xmlns:mc="http://schemas.openxmlformats.org/markup-compatibility/2006" xmlns:a14="http://schemas.microsoft.com/office/drawing/2010/main">
        <mc:Choice Requires="a14">
          <p:sp>
            <p:nvSpPr>
              <p:cNvPr id="4" name="Chỗ dành sẵn cho Nội dung 3">
                <a:extLst>
                  <a:ext uri="{FF2B5EF4-FFF2-40B4-BE49-F238E27FC236}">
                    <a16:creationId xmlns:a16="http://schemas.microsoft.com/office/drawing/2014/main" id="{BF77056E-A9F6-1CC7-E622-832562551D76}"/>
                  </a:ext>
                </a:extLst>
              </p:cNvPr>
              <p:cNvSpPr>
                <a:spLocks noGrp="1"/>
              </p:cNvSpPr>
              <p:nvPr>
                <p:ph sz="quarter" idx="13"/>
              </p:nvPr>
            </p:nvSpPr>
            <p:spPr/>
            <p:txBody>
              <a:bodyPr/>
              <a:lstStyle/>
              <a:p>
                <a:r>
                  <a:rPr lang="en-US" sz="2800" dirty="0"/>
                  <a:t>Sơ </a:t>
                </a:r>
                <a:r>
                  <a:rPr lang="en-US" sz="2800" dirty="0" err="1"/>
                  <a:t>đồ</a:t>
                </a:r>
                <a:r>
                  <a:rPr lang="en-US" sz="2800" dirty="0"/>
                  <a:t> </a:t>
                </a:r>
                <a:r>
                  <a:rPr lang="en-US" sz="2800" dirty="0" err="1"/>
                  <a:t>hệ</a:t>
                </a:r>
                <a:r>
                  <a:rPr lang="en-US" sz="2800" dirty="0"/>
                  <a:t> </a:t>
                </a:r>
                <a:r>
                  <a:rPr lang="en-US" sz="2800" dirty="0" err="1"/>
                  <a:t>mã</a:t>
                </a:r>
                <a:r>
                  <a:rPr lang="en-US" sz="2800" dirty="0"/>
                  <a:t> </a:t>
                </a:r>
                <a:r>
                  <a:rPr lang="en-US" sz="2800" dirty="0" err="1"/>
                  <a:t>Vigenere</a:t>
                </a:r>
                <a:r>
                  <a:rPr lang="en-US" sz="2800" dirty="0"/>
                  <a:t> </a:t>
                </a:r>
                <a:r>
                  <a:rPr lang="en-US" sz="2800" dirty="0" err="1"/>
                  <a:t>được</a:t>
                </a:r>
                <a:r>
                  <a:rPr lang="en-US" sz="2800" dirty="0"/>
                  <a:t> </a:t>
                </a:r>
                <a:r>
                  <a:rPr lang="en-US" sz="2800" dirty="0" err="1"/>
                  <a:t>định</a:t>
                </a:r>
                <a:r>
                  <a:rPr lang="en-US" sz="2800" dirty="0"/>
                  <a:t> </a:t>
                </a:r>
                <a:r>
                  <a:rPr lang="en-US" sz="2800" dirty="0" err="1"/>
                  <a:t>nghĩa</a:t>
                </a:r>
                <a:r>
                  <a:rPr lang="en-US" sz="2800" dirty="0"/>
                  <a:t> </a:t>
                </a:r>
                <a:r>
                  <a:rPr lang="en-US" sz="2800" dirty="0" err="1"/>
                  <a:t>như</a:t>
                </a:r>
                <a:r>
                  <a:rPr lang="en-US" sz="2800" dirty="0"/>
                  <a:t> </a:t>
                </a:r>
                <a:r>
                  <a:rPr lang="en-US" sz="2800" dirty="0" err="1"/>
                  <a:t>sau</a:t>
                </a:r>
                <a:r>
                  <a:rPr lang="en-US" sz="2800" dirty="0"/>
                  <a:t> </a:t>
                </a:r>
              </a:p>
              <a:p>
                <a:pPr marL="0" indent="0">
                  <a:buNone/>
                </a:pPr>
                <a14:m>
                  <m:oMathPara xmlns:m="http://schemas.openxmlformats.org/officeDocument/2006/math">
                    <m:oMathParaPr>
                      <m:jc m:val="centerGroup"/>
                    </m:oMathParaPr>
                    <m:oMath xmlns:m="http://schemas.openxmlformats.org/officeDocument/2006/math">
                      <m:r>
                        <a:rPr lang="vi-VN" sz="2800" i="1" smtClean="0">
                          <a:latin typeface="Cambria Math" panose="02040503050406030204" pitchFamily="18" charset="0"/>
                          <a:ea typeface="Cambria Math" panose="02040503050406030204" pitchFamily="18" charset="0"/>
                        </a:rPr>
                        <m:t>𝒮</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𝒫</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𝒞</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𝒦</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ℰ</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𝒟</m:t>
                      </m:r>
                      <m:r>
                        <a:rPr lang="en-US" sz="2800" b="0" i="1" smtClean="0">
                          <a:latin typeface="Cambria Math" panose="02040503050406030204" pitchFamily="18" charset="0"/>
                          <a:ea typeface="Cambria Math" panose="02040503050406030204" pitchFamily="18" charset="0"/>
                        </a:rPr>
                        <m:t>)</m:t>
                      </m:r>
                    </m:oMath>
                  </m:oMathPara>
                </a14:m>
                <a:endParaRPr lang="en-US" sz="2800" dirty="0"/>
              </a:p>
              <a:p>
                <a:r>
                  <a:rPr lang="en-US" sz="2800" dirty="0" err="1"/>
                  <a:t>Trong</a:t>
                </a:r>
                <a:r>
                  <a:rPr lang="en-US" sz="2800" dirty="0"/>
                  <a:t> </a:t>
                </a:r>
                <a:r>
                  <a:rPr lang="en-US" sz="2800" dirty="0" err="1"/>
                  <a:t>đó</a:t>
                </a:r>
                <a:r>
                  <a:rPr lang="en-US" sz="2800" dirty="0"/>
                  <a:t>: </a:t>
                </a:r>
                <a14:m>
                  <m:oMath xmlns:m="http://schemas.openxmlformats.org/officeDocument/2006/math">
                    <m:r>
                      <a:rPr lang="en-US" sz="2800" b="0" i="1" smtClean="0">
                        <a:latin typeface="Cambria Math" panose="02040503050406030204" pitchFamily="18" charset="0"/>
                        <a:ea typeface="Cambria Math" panose="02040503050406030204" pitchFamily="18" charset="0"/>
                      </a:rPr>
                      <m:t>𝒫</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𝒞</m:t>
                    </m:r>
                    <m:r>
                      <a:rPr lang="vi-VN" sz="2800"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𝒦</m:t>
                    </m:r>
                    <m:r>
                      <a:rPr lang="en-US" sz="2800" b="0" i="1" smtClean="0">
                        <a:latin typeface="Cambria Math" panose="02040503050406030204" pitchFamily="18" charset="0"/>
                        <a:ea typeface="Cambria Math" panose="02040503050406030204" pitchFamily="18" charset="0"/>
                      </a:rPr>
                      <m:t>∈</m:t>
                    </m:r>
                    <m:sSubSup>
                      <m:sSubSupPr>
                        <m:ctrlPr>
                          <a:rPr lang="en-US" sz="2800" b="0" i="1" smtClean="0">
                            <a:latin typeface="Cambria Math" panose="02040503050406030204" pitchFamily="18" charset="0"/>
                            <a:ea typeface="Cambria Math" panose="02040503050406030204" pitchFamily="18" charset="0"/>
                          </a:rPr>
                        </m:ctrlPr>
                      </m:sSubSupPr>
                      <m:e>
                        <m:r>
                          <a:rPr lang="en-US" i="1" dirty="0">
                            <a:latin typeface="Cambria Math" panose="02040503050406030204" pitchFamily="18" charset="0"/>
                            <a:ea typeface="Cambria Math" panose="02040503050406030204" pitchFamily="18" charset="0"/>
                          </a:rPr>
                          <m:t>𝑍</m:t>
                        </m:r>
                      </m:e>
                      <m:sub>
                        <m:r>
                          <a:rPr lang="vi-VN" sz="2800" b="0" i="1" smtClean="0">
                            <a:latin typeface="Cambria Math" panose="02040503050406030204" pitchFamily="18" charset="0"/>
                            <a:ea typeface="Cambria Math" panose="02040503050406030204" pitchFamily="18" charset="0"/>
                          </a:rPr>
                          <m:t>26</m:t>
                        </m:r>
                      </m:sub>
                      <m:sup>
                        <m:r>
                          <a:rPr lang="vi-VN" sz="2800" b="0" i="1" smtClean="0">
                            <a:latin typeface="Cambria Math" panose="02040503050406030204" pitchFamily="18" charset="0"/>
                            <a:ea typeface="Cambria Math" panose="02040503050406030204" pitchFamily="18" charset="0"/>
                          </a:rPr>
                          <m:t>𝑚</m:t>
                        </m:r>
                      </m:sup>
                    </m:sSubSup>
                  </m:oMath>
                </a14:m>
                <a:r>
                  <a:rPr lang="en-US" sz="2800" dirty="0"/>
                  <a:t>, trong đó </a:t>
                </a:r>
                <a14:m>
                  <m:oMath xmlns:m="http://schemas.openxmlformats.org/officeDocument/2006/math">
                    <m:r>
                      <a:rPr lang="en-US" i="1">
                        <a:latin typeface="Cambria Math" panose="02040503050406030204" pitchFamily="18" charset="0"/>
                        <a:ea typeface="Cambria Math" panose="02040503050406030204" pitchFamily="18" charset="0"/>
                      </a:rPr>
                      <m:t>ℰ</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𝒟</m:t>
                    </m:r>
                  </m:oMath>
                </a14:m>
                <a:r>
                  <a:rPr lang="vi-VN" dirty="0"/>
                  <a:t> được cho bởi </a:t>
                </a:r>
              </a:p>
              <a:p>
                <a:pPr marL="0" indent="0">
                  <a:buNone/>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a:rPr lang="vi-VN" i="1">
                              <a:latin typeface="Cambria Math" panose="02040503050406030204" pitchFamily="18" charset="0"/>
                            </a:rPr>
                            <m:t>𝑒</m:t>
                          </m:r>
                        </m:e>
                        <m:sub>
                          <m:r>
                            <a:rPr lang="vi-VN" i="1">
                              <a:latin typeface="Cambria Math" panose="02040503050406030204" pitchFamily="18" charset="0"/>
                            </a:rPr>
                            <m:t>𝑘</m:t>
                          </m:r>
                        </m:sub>
                      </m:sSub>
                      <m:d>
                        <m:dPr>
                          <m:ctrlPr>
                            <a:rPr lang="vi-VN" b="0" i="1" smtClean="0">
                              <a:latin typeface="Cambria Math" panose="02040503050406030204" pitchFamily="18" charset="0"/>
                            </a:rPr>
                          </m:ctrlPr>
                        </m:dPr>
                        <m:e>
                          <m:sSub>
                            <m:sSubPr>
                              <m:ctrlPr>
                                <a:rPr lang="vi-VN" i="1">
                                  <a:latin typeface="Cambria Math" panose="02040503050406030204" pitchFamily="18" charset="0"/>
                                </a:rPr>
                              </m:ctrlPr>
                            </m:sSubPr>
                            <m:e>
                              <m:r>
                                <a:rPr lang="vi-VN" i="1" smtClean="0">
                                  <a:latin typeface="Cambria Math" panose="02040503050406030204" pitchFamily="18" charset="0"/>
                                </a:rPr>
                                <m:t>𝑥</m:t>
                              </m:r>
                            </m:e>
                            <m:sub>
                              <m:r>
                                <a:rPr lang="vi-VN" b="0" i="1" smtClean="0">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smtClean="0">
                                  <a:latin typeface="Cambria Math" panose="02040503050406030204" pitchFamily="18" charset="0"/>
                                </a:rPr>
                                <m:t>𝑚</m:t>
                              </m:r>
                            </m:sub>
                          </m:sSub>
                        </m:e>
                      </m:d>
                      <m:r>
                        <a:rPr lang="vi-VN" b="0" i="1" smtClean="0">
                          <a:latin typeface="Cambria Math" panose="02040503050406030204" pitchFamily="18" charset="0"/>
                        </a:rPr>
                        <m:t>=</m:t>
                      </m:r>
                      <m:d>
                        <m:dPr>
                          <m:ctrlPr>
                            <a:rPr lang="vi-VN" b="0" i="1" smtClean="0">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i="1">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b="0" i="1" smtClean="0">
                                  <a:latin typeface="Cambria Math" panose="02040503050406030204" pitchFamily="18" charset="0"/>
                                </a:rPr>
                                <m:t>2</m:t>
                              </m:r>
                            </m:sub>
                          </m:sSub>
                          <m:r>
                            <a:rPr lang="vi-VN" b="0" i="1" smtClean="0">
                              <a:latin typeface="Cambria Math" panose="02040503050406030204" pitchFamily="18" charset="0"/>
                            </a:rPr>
                            <m:t>, …,</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smtClean="0">
                                  <a:latin typeface="Cambria Math" panose="02040503050406030204" pitchFamily="18" charset="0"/>
                                </a:rPr>
                                <m:t>𝑚</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i="1" smtClean="0">
                                  <a:latin typeface="Cambria Math" panose="02040503050406030204" pitchFamily="18" charset="0"/>
                                </a:rPr>
                                <m:t>𝑚</m:t>
                              </m:r>
                            </m:sub>
                          </m:sSub>
                        </m:e>
                      </m:d>
                      <m:r>
                        <a:rPr lang="vi-VN" b="0" i="1" smtClean="0">
                          <a:latin typeface="Cambria Math" panose="02040503050406030204" pitchFamily="18" charset="0"/>
                        </a:rPr>
                        <m:t> </m:t>
                      </m:r>
                      <m:r>
                        <a:rPr lang="vi-VN" i="1">
                          <a:latin typeface="Cambria Math" panose="02040503050406030204" pitchFamily="18" charset="0"/>
                        </a:rPr>
                        <m:t>𝑚𝑜𝑑</m:t>
                      </m:r>
                      <m:r>
                        <a:rPr lang="vi-VN" b="0" i="1" smtClean="0">
                          <a:latin typeface="Cambria Math" panose="02040503050406030204" pitchFamily="18" charset="0"/>
                        </a:rPr>
                        <m:t> 26 </m:t>
                      </m:r>
                    </m:oMath>
                  </m:oMathPara>
                </a14:m>
                <a:endParaRPr lang="vi-VN" i="1" dirty="0"/>
              </a:p>
              <a:p>
                <a:pPr marL="0" indent="0">
                  <a:buNone/>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d</m:t>
                          </m:r>
                        </m:e>
                        <m:sub>
                          <m:r>
                            <a:rPr lang="vi-VN" i="1">
                              <a:latin typeface="Cambria Math" panose="02040503050406030204" pitchFamily="18" charset="0"/>
                            </a:rPr>
                            <m:t>𝑘</m:t>
                          </m:r>
                        </m:sub>
                      </m:sSub>
                      <m:d>
                        <m:dPr>
                          <m:ctrlPr>
                            <a:rPr lang="vi-VN" b="0" i="1" smtClean="0">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b="0" i="1" smtClean="0">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smtClean="0">
                                  <a:latin typeface="Cambria Math" panose="02040503050406030204" pitchFamily="18" charset="0"/>
                                </a:rPr>
                                <m:t>𝑚</m:t>
                              </m:r>
                            </m:sub>
                          </m:sSub>
                        </m:e>
                      </m:d>
                      <m:r>
                        <a:rPr lang="vi-VN" b="0" i="1" smtClean="0">
                          <a:latin typeface="Cambria Math" panose="02040503050406030204" pitchFamily="18" charset="0"/>
                        </a:rPr>
                        <m:t>=</m:t>
                      </m:r>
                      <m:d>
                        <m:dPr>
                          <m:ctrlPr>
                            <a:rPr lang="vi-VN" b="0" i="1" smtClean="0">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i="1">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b="0" i="1" smtClean="0">
                                  <a:latin typeface="Cambria Math" panose="02040503050406030204" pitchFamily="18" charset="0"/>
                                </a:rPr>
                                <m:t>2</m:t>
                              </m:r>
                            </m:sub>
                          </m:sSub>
                          <m:r>
                            <a:rPr lang="vi-VN" b="0" i="1" smtClean="0">
                              <a:latin typeface="Cambria Math" panose="02040503050406030204" pitchFamily="18" charset="0"/>
                            </a:rPr>
                            <m:t>, …,</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smtClean="0">
                                  <a:latin typeface="Cambria Math" panose="02040503050406030204" pitchFamily="18" charset="0"/>
                                </a:rPr>
                                <m:t>𝑚</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smtClean="0">
                                  <a:latin typeface="Cambria Math" panose="02040503050406030204" pitchFamily="18" charset="0"/>
                                </a:rPr>
                                <m:t>𝑘</m:t>
                              </m:r>
                            </m:e>
                            <m:sub>
                              <m:r>
                                <a:rPr lang="vi-VN" i="1" smtClean="0">
                                  <a:latin typeface="Cambria Math" panose="02040503050406030204" pitchFamily="18" charset="0"/>
                                </a:rPr>
                                <m:t>𝑚</m:t>
                              </m:r>
                            </m:sub>
                          </m:sSub>
                        </m:e>
                      </m:d>
                      <m:r>
                        <a:rPr lang="vi-VN" b="0" i="1" smtClean="0">
                          <a:latin typeface="Cambria Math" panose="02040503050406030204" pitchFamily="18" charset="0"/>
                        </a:rPr>
                        <m:t> </m:t>
                      </m:r>
                      <m:r>
                        <a:rPr lang="vi-VN" i="1">
                          <a:latin typeface="Cambria Math" panose="02040503050406030204" pitchFamily="18" charset="0"/>
                        </a:rPr>
                        <m:t>𝑚𝑜𝑑</m:t>
                      </m:r>
                      <m:r>
                        <a:rPr lang="vi-VN" b="0" i="1" smtClean="0">
                          <a:latin typeface="Cambria Math" panose="02040503050406030204" pitchFamily="18" charset="0"/>
                        </a:rPr>
                        <m:t> 26 </m:t>
                      </m:r>
                    </m:oMath>
                  </m:oMathPara>
                </a14:m>
                <a:endParaRPr lang="vi-VN" i="1" dirty="0"/>
              </a:p>
              <a:p>
                <a:pPr marL="0" indent="0">
                  <a:buNone/>
                </a:pPr>
                <a14:m>
                  <m:oMath xmlns:m="http://schemas.openxmlformats.org/officeDocument/2006/math">
                    <m:r>
                      <a:rPr lang="vi-VN" i="1" dirty="0" smtClean="0">
                        <a:latin typeface="Cambria Math" panose="02040503050406030204" pitchFamily="18" charset="0"/>
                      </a:rPr>
                      <m:t>𝑥</m:t>
                    </m:r>
                    <m:r>
                      <a:rPr lang="vi-VN" b="0" i="1" dirty="0" smtClean="0">
                        <a:latin typeface="Cambria Math" panose="02040503050406030204" pitchFamily="18" charset="0"/>
                      </a:rPr>
                      <m:t>=</m:t>
                    </m:r>
                    <m:sSub>
                      <m:sSubPr>
                        <m:ctrlPr>
                          <a:rPr lang="vi-VN" i="1" smtClean="0">
                            <a:latin typeface="Cambria Math" panose="02040503050406030204" pitchFamily="18" charset="0"/>
                          </a:rPr>
                        </m:ctrlPr>
                      </m:sSubPr>
                      <m:e>
                        <m:r>
                          <a:rPr lang="vi-VN" b="0" i="1" smtClean="0">
                            <a:latin typeface="Cambria Math" panose="02040503050406030204" pitchFamily="18" charset="0"/>
                          </a:rPr>
                          <m:t>(</m:t>
                        </m:r>
                        <m:r>
                          <a:rPr lang="vi-VN" i="1" smtClean="0">
                            <a:latin typeface="Cambria Math" panose="02040503050406030204" pitchFamily="18" charset="0"/>
                          </a:rPr>
                          <m:t>𝑥</m:t>
                        </m:r>
                      </m:e>
                      <m:sub>
                        <m:r>
                          <a:rPr lang="vi-VN" b="0" i="1" smtClean="0">
                            <a:latin typeface="Cambria Math" panose="02040503050406030204" pitchFamily="18" charset="0"/>
                          </a:rPr>
                          <m:t>1</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b="0" i="1" smtClean="0">
                            <a:latin typeface="Cambria Math" panose="02040503050406030204" pitchFamily="18" charset="0"/>
                          </a:rPr>
                          <m:t>2</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smtClean="0">
                            <a:latin typeface="Cambria Math" panose="02040503050406030204" pitchFamily="18" charset="0"/>
                          </a:rPr>
                          <m:t>𝑚</m:t>
                        </m:r>
                      </m:sub>
                    </m:sSub>
                    <m:r>
                      <a:rPr lang="vi-VN"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𝒫</m:t>
                    </m:r>
                  </m:oMath>
                </a14:m>
                <a:r>
                  <a:rPr lang="vi-VN" i="1" dirty="0"/>
                  <a:t>,</a:t>
                </a:r>
                <a14:m>
                  <m:oMath xmlns:m="http://schemas.openxmlformats.org/officeDocument/2006/math">
                    <m:r>
                      <a:rPr lang="vi-VN" b="0" i="1" smtClean="0">
                        <a:latin typeface="Cambria Math" panose="02040503050406030204" pitchFamily="18" charset="0"/>
                      </a:rPr>
                      <m:t>   </m:t>
                    </m:r>
                    <m:r>
                      <a:rPr lang="vi-VN" i="1">
                        <a:latin typeface="Cambria Math" panose="02040503050406030204" pitchFamily="18" charset="0"/>
                      </a:rPr>
                      <m:t>𝑦</m:t>
                    </m:r>
                    <m:r>
                      <a:rPr lang="vi-VN" b="0" i="1" smtClean="0">
                        <a:latin typeface="Cambria Math" panose="02040503050406030204" pitchFamily="18" charset="0"/>
                      </a:rPr>
                      <m:t>=</m:t>
                    </m:r>
                    <m:d>
                      <m:dPr>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1</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2</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𝑚</m:t>
                            </m:r>
                          </m:sub>
                        </m:sSub>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𝒞</m:t>
                    </m:r>
                  </m:oMath>
                </a14:m>
                <a:r>
                  <a:rPr lang="vi-VN" i="1" dirty="0"/>
                  <a:t>, </a:t>
                </a:r>
                <a14:m>
                  <m:oMath xmlns:m="http://schemas.openxmlformats.org/officeDocument/2006/math">
                    <m:r>
                      <a:rPr lang="vi-VN" b="0" i="1" dirty="0">
                        <a:latin typeface="Cambria Math" panose="02040503050406030204" pitchFamily="18" charset="0"/>
                      </a:rPr>
                      <m:t>𝑘</m:t>
                    </m:r>
                    <m:r>
                      <a:rPr lang="vi-VN" b="0" i="1" smtClean="0">
                        <a:latin typeface="Cambria Math" panose="02040503050406030204" pitchFamily="18" charset="0"/>
                      </a:rPr>
                      <m:t>=</m:t>
                    </m:r>
                    <m:sSub>
                      <m:sSubPr>
                        <m:ctrlPr>
                          <a:rPr lang="vi-VN" i="1">
                            <a:latin typeface="Cambria Math" panose="02040503050406030204" pitchFamily="18" charset="0"/>
                          </a:rPr>
                        </m:ctrlPr>
                      </m:sSubPr>
                      <m:e>
                        <m:r>
                          <a:rPr lang="vi-VN" b="0" i="1" smtClean="0">
                            <a:latin typeface="Cambria Math" panose="02040503050406030204" pitchFamily="18" charset="0"/>
                          </a:rPr>
                          <m:t>(</m:t>
                        </m:r>
                        <m:r>
                          <a:rPr lang="vi-VN" i="1" dirty="0">
                            <a:latin typeface="Cambria Math" panose="02040503050406030204" pitchFamily="18" charset="0"/>
                          </a:rPr>
                          <m:t>𝑘</m:t>
                        </m:r>
                      </m:e>
                      <m:sub>
                        <m:r>
                          <a:rPr lang="vi-VN" i="1">
                            <a:latin typeface="Cambria Math" panose="02040503050406030204" pitchFamily="18" charset="0"/>
                          </a:rPr>
                          <m:t>1</m:t>
                        </m:r>
                      </m:sub>
                    </m:sSub>
                    <m:r>
                      <a:rPr lang="vi-VN" i="1">
                        <a:latin typeface="Cambria Math" panose="02040503050406030204" pitchFamily="18" charset="0"/>
                      </a:rPr>
                      <m:t>,</m:t>
                    </m:r>
                    <m:sSub>
                      <m:sSubPr>
                        <m:ctrlPr>
                          <a:rPr lang="vi-VN" i="1" smtClean="0">
                            <a:latin typeface="Cambria Math" panose="02040503050406030204" pitchFamily="18" charset="0"/>
                          </a:rPr>
                        </m:ctrlPr>
                      </m:sSubPr>
                      <m:e>
                        <m:r>
                          <a:rPr lang="vi-VN" i="1" dirty="0">
                            <a:latin typeface="Cambria Math" panose="02040503050406030204" pitchFamily="18" charset="0"/>
                          </a:rPr>
                          <m:t>𝑘</m:t>
                        </m:r>
                      </m:e>
                      <m:sub>
                        <m:r>
                          <a:rPr lang="vi-VN" i="1">
                            <a:latin typeface="Cambria Math" panose="02040503050406030204" pitchFamily="18" charset="0"/>
                          </a:rPr>
                          <m:t>2</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dirty="0">
                            <a:latin typeface="Cambria Math" panose="02040503050406030204" pitchFamily="18" charset="0"/>
                          </a:rPr>
                          <m:t>𝑘</m:t>
                        </m:r>
                      </m:e>
                      <m:sub>
                        <m:r>
                          <a:rPr lang="vi-VN" i="1">
                            <a:latin typeface="Cambria Math" panose="02040503050406030204" pitchFamily="18" charset="0"/>
                          </a:rPr>
                          <m:t>𝑚</m:t>
                        </m:r>
                      </m:sub>
                    </m:sSub>
                    <m:r>
                      <a:rPr lang="vi-VN"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𝒦</m:t>
                    </m:r>
                  </m:oMath>
                </a14:m>
                <a:endParaRPr lang="vi-VN" i="1" dirty="0"/>
              </a:p>
              <a:p>
                <a:pPr marL="0" indent="0">
                  <a:buNone/>
                </a:pPr>
                <a:r>
                  <a:rPr lang="en-US" dirty="0" err="1"/>
                  <a:t>Hệ</a:t>
                </a:r>
                <a:r>
                  <a:rPr lang="en-US" dirty="0"/>
                  <a:t> </a:t>
                </a:r>
                <a:r>
                  <a:rPr lang="en-US" dirty="0" err="1"/>
                  <a:t>mã</a:t>
                </a:r>
                <a:r>
                  <a:rPr lang="en-US" dirty="0"/>
                  <a:t> </a:t>
                </a:r>
                <a:r>
                  <a:rPr lang="en-US" dirty="0" err="1"/>
                  <a:t>Vigenere</a:t>
                </a:r>
                <a:r>
                  <a:rPr lang="en-US" dirty="0"/>
                  <a:t> </a:t>
                </a:r>
                <a:r>
                  <a:rPr lang="en-US" dirty="0" err="1"/>
                  <a:t>dịch</a:t>
                </a:r>
                <a:r>
                  <a:rPr lang="en-US" dirty="0"/>
                  <a:t> </a:t>
                </a:r>
                <a:r>
                  <a:rPr lang="en-US" dirty="0" err="1"/>
                  <a:t>chuyển</a:t>
                </a:r>
                <a:r>
                  <a:rPr lang="en-US" dirty="0"/>
                  <a:t> </a:t>
                </a:r>
                <a14:m>
                  <m:oMath xmlns:m="http://schemas.openxmlformats.org/officeDocument/2006/math">
                    <m:r>
                      <a:rPr lang="en-US" i="1" dirty="0" smtClean="0">
                        <a:latin typeface="Cambria Math" panose="02040503050406030204" pitchFamily="18" charset="0"/>
                      </a:rPr>
                      <m:t>𝑚</m:t>
                    </m:r>
                  </m:oMath>
                </a14:m>
                <a:r>
                  <a:rPr lang="en-US" dirty="0"/>
                  <a:t> </a:t>
                </a:r>
                <a:r>
                  <a:rPr lang="en-US" dirty="0" err="1"/>
                  <a:t>ký</a:t>
                </a:r>
                <a:r>
                  <a:rPr lang="en-US" dirty="0"/>
                  <a:t> </a:t>
                </a:r>
                <a:r>
                  <a:rPr lang="en-US" dirty="0" err="1"/>
                  <a:t>tự</a:t>
                </a:r>
                <a:r>
                  <a:rPr lang="en-US" dirty="0"/>
                  <a:t> </a:t>
                </a:r>
                <a:r>
                  <a:rPr lang="en-US" dirty="0" err="1"/>
                  <a:t>liên</a:t>
                </a:r>
                <a:r>
                  <a:rPr lang="en-US" dirty="0"/>
                  <a:t> </a:t>
                </a:r>
                <a:r>
                  <a:rPr lang="en-US" dirty="0" err="1"/>
                  <a:t>tiếp</a:t>
                </a:r>
                <a:r>
                  <a:rPr lang="en-US" dirty="0"/>
                  <a:t>. </a:t>
                </a:r>
                <a:r>
                  <a:rPr lang="en-US" dirty="0" err="1"/>
                  <a:t>Tập</a:t>
                </a:r>
                <a:r>
                  <a:rPr lang="en-US" dirty="0"/>
                  <a:t> </a:t>
                </a:r>
                <a14:m>
                  <m:oMath xmlns:m="http://schemas.openxmlformats.org/officeDocument/2006/math">
                    <m:r>
                      <a:rPr lang="en-US" i="1">
                        <a:latin typeface="Cambria Math" panose="02040503050406030204" pitchFamily="18" charset="0"/>
                        <a:ea typeface="Cambria Math" panose="02040503050406030204" pitchFamily="18" charset="0"/>
                      </a:rPr>
                      <m:t>𝒦</m:t>
                    </m:r>
                  </m:oMath>
                </a14:m>
                <a:r>
                  <a:rPr lang="vi-VN" i="1" dirty="0"/>
                  <a:t> có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vi-VN" b="0" i="1" smtClean="0">
                            <a:latin typeface="Cambria Math" panose="02040503050406030204" pitchFamily="18" charset="0"/>
                            <a:ea typeface="Cambria Math" panose="02040503050406030204" pitchFamily="18" charset="0"/>
                          </a:rPr>
                          <m:t>26</m:t>
                        </m:r>
                      </m:e>
                      <m:sub/>
                      <m:sup>
                        <m:r>
                          <a:rPr lang="vi-VN" i="1">
                            <a:latin typeface="Cambria Math" panose="02040503050406030204" pitchFamily="18" charset="0"/>
                            <a:ea typeface="Cambria Math" panose="02040503050406030204" pitchFamily="18" charset="0"/>
                          </a:rPr>
                          <m:t>𝑚</m:t>
                        </m:r>
                      </m:sup>
                    </m:sSubSup>
                    <m:r>
                      <a:rPr lang="vi-VN" b="0" i="1" smtClean="0">
                        <a:latin typeface="Cambria Math" panose="02040503050406030204" pitchFamily="18" charset="0"/>
                        <a:ea typeface="Cambria Math" panose="02040503050406030204" pitchFamily="18" charset="0"/>
                      </a:rPr>
                      <m:t> </m:t>
                    </m:r>
                  </m:oMath>
                </a14:m>
                <a:r>
                  <a:rPr lang="vi-VN" i="1" dirty="0"/>
                  <a:t> ,</a:t>
                </a:r>
                <a:r>
                  <a:rPr lang="vi-VN" dirty="0"/>
                  <a:t> không gian khoá vẫn có thể bị phá vỡ </a:t>
                </a:r>
                <a:endParaRPr lang="vi-VN" i="1" dirty="0"/>
              </a:p>
            </p:txBody>
          </p:sp>
        </mc:Choice>
        <mc:Fallback xmlns="">
          <p:sp>
            <p:nvSpPr>
              <p:cNvPr id="4" name="Chỗ dành sẵn cho Nội dung 3">
                <a:extLst>
                  <a:ext uri="{FF2B5EF4-FFF2-40B4-BE49-F238E27FC236}">
                    <a16:creationId xmlns:a16="http://schemas.microsoft.com/office/drawing/2014/main" id="{BF77056E-A9F6-1CC7-E622-832562551D76}"/>
                  </a:ext>
                </a:extLst>
              </p:cNvPr>
              <p:cNvSpPr>
                <a:spLocks noGrp="1" noRot="1" noChangeAspect="1" noMove="1" noResize="1" noEditPoints="1" noAdjustHandles="1" noChangeArrowheads="1" noChangeShapeType="1" noTextEdit="1"/>
              </p:cNvSpPr>
              <p:nvPr>
                <p:ph sz="quarter" idx="13"/>
              </p:nvPr>
            </p:nvSpPr>
            <p:spPr>
              <a:blipFill>
                <a:blip r:embed="rId2"/>
                <a:stretch>
                  <a:fillRect l="-1462" t="-2153"/>
                </a:stretch>
              </a:blipFill>
            </p:spPr>
            <p:txBody>
              <a:bodyPr/>
              <a:lstStyle/>
              <a:p>
                <a:r>
                  <a:rPr>
                    <a:noFill/>
                  </a:rPr>
                  <a:t> </a:t>
                </a:r>
              </a:p>
            </p:txBody>
          </p:sp>
        </mc:Fallback>
      </mc:AlternateContent>
    </p:spTree>
    <p:extLst>
      <p:ext uri="{BB962C8B-B14F-4D97-AF65-F5344CB8AC3E}">
        <p14:creationId xmlns:p14="http://schemas.microsoft.com/office/powerpoint/2010/main" val="2655223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488278-83ED-118F-3F5C-43F3503199B9}"/>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2">
            <a:extLst>
              <a:ext uri="{FF2B5EF4-FFF2-40B4-BE49-F238E27FC236}">
                <a16:creationId xmlns:a16="http://schemas.microsoft.com/office/drawing/2014/main" id="{D29F2BF5-697A-90CB-3694-08EBC111F286}"/>
              </a:ext>
            </a:extLst>
          </p:cNvPr>
          <p:cNvSpPr>
            <a:spLocks noGrp="1"/>
          </p:cNvSpPr>
          <p:nvPr>
            <p:ph type="title"/>
          </p:nvPr>
        </p:nvSpPr>
        <p:spPr/>
        <p:txBody>
          <a:bodyPr/>
          <a:lstStyle/>
          <a:p>
            <a:r>
              <a:rPr lang="en-US" dirty="0" err="1"/>
              <a:t>Ví</a:t>
            </a:r>
            <a:r>
              <a:rPr lang="en-US" dirty="0"/>
              <a:t> </a:t>
            </a:r>
            <a:r>
              <a:rPr lang="en-US" dirty="0" err="1"/>
              <a:t>dụ</a:t>
            </a:r>
            <a:r>
              <a:rPr lang="en-US" dirty="0"/>
              <a:t> 2</a:t>
            </a:r>
            <a:endParaRPr dirty="0"/>
          </a:p>
        </p:txBody>
      </p:sp>
      <p:sp>
        <p:nvSpPr>
          <p:cNvPr id="4" name="Content Placeholder 3">
            <a:extLst>
              <a:ext uri="{FF2B5EF4-FFF2-40B4-BE49-F238E27FC236}">
                <a16:creationId xmlns:a16="http://schemas.microsoft.com/office/drawing/2014/main" id="{82B6127C-3A3B-2682-FD79-B8F3E8E2F2C3}"/>
              </a:ext>
            </a:extLst>
          </p:cNvPr>
          <p:cNvSpPr>
            <a:spLocks noGrp="1"/>
          </p:cNvSpPr>
          <p:nvPr>
            <p:ph sz="quarter" idx="13"/>
          </p:nvPr>
        </p:nvSpPr>
        <p:spPr/>
        <p:txBody>
          <a:bodyPr/>
          <a:lstStyle/>
          <a:p>
            <a:r>
              <a:rPr lang="en-VN" dirty="0"/>
              <a:t>Cho m = 6, K = (2,8,15,7,4,17)</a:t>
            </a:r>
          </a:p>
          <a:p>
            <a:r>
              <a:rPr lang="en-US" dirty="0"/>
              <a:t>Cho </a:t>
            </a:r>
            <a:r>
              <a:rPr lang="en-US" dirty="0" err="1"/>
              <a:t>bản</a:t>
            </a:r>
            <a:r>
              <a:rPr lang="en-US" dirty="0"/>
              <a:t> </a:t>
            </a:r>
            <a:r>
              <a:rPr lang="en-US" dirty="0" err="1"/>
              <a:t>rõ</a:t>
            </a:r>
            <a:r>
              <a:rPr lang="en-US" dirty="0"/>
              <a:t>: </a:t>
            </a:r>
            <a:r>
              <a:rPr lang="en-US" dirty="0" err="1"/>
              <a:t>Hengapnhauvaochieuthubay</a:t>
            </a:r>
            <a:endParaRPr lang="en-US" dirty="0"/>
          </a:p>
          <a:p>
            <a:r>
              <a:rPr lang="en-US" dirty="0" err="1"/>
              <a:t>Tìm</a:t>
            </a:r>
            <a:r>
              <a:rPr lang="en-US" dirty="0"/>
              <a:t> </a:t>
            </a:r>
            <a:r>
              <a:rPr lang="en-US" dirty="0" err="1"/>
              <a:t>bản</a:t>
            </a:r>
            <a:r>
              <a:rPr lang="en-US" dirty="0"/>
              <a:t> </a:t>
            </a:r>
            <a:r>
              <a:rPr lang="en-US" dirty="0" err="1"/>
              <a:t>mã</a:t>
            </a:r>
            <a:r>
              <a:rPr lang="en-US" dirty="0"/>
              <a:t> </a:t>
            </a:r>
          </a:p>
          <a:p>
            <a:endParaRPr lang="en-VN" dirty="0"/>
          </a:p>
          <a:p>
            <a:endParaRPr lang="en-VN" dirty="0"/>
          </a:p>
          <a:p>
            <a:pPr marL="0" indent="0">
              <a:buNone/>
            </a:pPr>
            <a:endParaRPr dirty="0"/>
          </a:p>
        </p:txBody>
      </p:sp>
    </p:spTree>
    <p:extLst>
      <p:ext uri="{BB962C8B-B14F-4D97-AF65-F5344CB8AC3E}">
        <p14:creationId xmlns:p14="http://schemas.microsoft.com/office/powerpoint/2010/main" val="1181565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C088C6-563F-21CA-C0D3-330CEFBDCF4D}"/>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2">
            <a:extLst>
              <a:ext uri="{FF2B5EF4-FFF2-40B4-BE49-F238E27FC236}">
                <a16:creationId xmlns:a16="http://schemas.microsoft.com/office/drawing/2014/main" id="{71C00312-A042-8CE4-2C53-49C42CE4CC65}"/>
              </a:ext>
            </a:extLst>
          </p:cNvPr>
          <p:cNvSpPr>
            <a:spLocks noGrp="1"/>
          </p:cNvSpPr>
          <p:nvPr>
            <p:ph type="title"/>
          </p:nvPr>
        </p:nvSpPr>
        <p:spPr/>
        <p:txBody>
          <a:bodyPr/>
          <a:lstStyle/>
          <a:p>
            <a:r>
              <a:rPr lang="en-VN" dirty="0"/>
              <a:t>Thám mã đối với mật mã Affine</a:t>
            </a:r>
            <a:endParaRPr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77BF90D-5BB3-616F-9874-1D2E4CC60106}"/>
                  </a:ext>
                </a:extLst>
              </p:cNvPr>
              <p:cNvSpPr>
                <a:spLocks noGrp="1"/>
              </p:cNvSpPr>
              <p:nvPr>
                <p:ph sz="quarter" idx="13"/>
              </p:nvPr>
            </p:nvSpPr>
            <p:spPr/>
            <p:txBody>
              <a:bodyPr/>
              <a:lstStyle/>
              <a:p>
                <a:r>
                  <a:rPr lang="en-VN" dirty="0"/>
                  <a:t>Khoá mã affine có dạng </a:t>
                </a:r>
                <a14:m>
                  <m:oMath xmlns:m="http://schemas.openxmlformats.org/officeDocument/2006/math">
                    <m:r>
                      <a:rPr lang="en-US" sz="2800" i="1" smtClean="0">
                        <a:latin typeface="Cambria Math" panose="02040503050406030204" pitchFamily="18" charset="0"/>
                        <a:ea typeface="Cambria Math" panose="02040503050406030204" pitchFamily="18" charset="0"/>
                      </a:rPr>
                      <m:t>𝒦</m:t>
                    </m:r>
                    <m:r>
                      <a:rPr lang="en-US" sz="2800" b="0" i="0" smtClean="0">
                        <a:latin typeface="Cambria Math" panose="02040503050406030204" pitchFamily="18" charset="0"/>
                        <a:ea typeface="Cambria Math" panose="02040503050406030204" pitchFamily="18" charset="0"/>
                      </a:rPr>
                      <m:t>=</m:t>
                    </m:r>
                    <m:d>
                      <m:dPr>
                        <m:begChr m:val="{"/>
                        <m:endChr m:val="|"/>
                        <m:ctrlPr>
                          <a:rPr lang="en-US" sz="2800" b="0" i="1" smtClean="0">
                            <a:latin typeface="Cambria Math" panose="02040503050406030204" pitchFamily="18" charset="0"/>
                            <a:ea typeface="Cambria Math" panose="02040503050406030204" pitchFamily="18" charset="0"/>
                          </a:rPr>
                        </m:ctrlPr>
                      </m:dPr>
                      <m:e>
                        <m:d>
                          <m:dPr>
                            <m:ctrlPr>
                              <a:rPr lang="en-US" sz="2800" b="0" i="1" smtClean="0">
                                <a:latin typeface="Cambria Math" panose="02040503050406030204" pitchFamily="18" charset="0"/>
                                <a:ea typeface="Cambria Math" panose="02040503050406030204" pitchFamily="18" charset="0"/>
                              </a:rPr>
                            </m:ctrlPr>
                          </m:dPr>
                          <m:e>
                            <m:r>
                              <m:rPr>
                                <m:sty m:val="p"/>
                              </m:rPr>
                              <a:rPr lang="en-US" sz="2800" b="0" i="0" smtClean="0">
                                <a:latin typeface="Cambria Math" panose="02040503050406030204" pitchFamily="18" charset="0"/>
                                <a:ea typeface="Cambria Math" panose="02040503050406030204" pitchFamily="18" charset="0"/>
                              </a:rPr>
                              <m:t>a</m:t>
                            </m:r>
                            <m:r>
                              <a:rPr lang="en-US" sz="2800" b="0" i="0" smtClean="0">
                                <a:latin typeface="Cambria Math" panose="02040503050406030204" pitchFamily="18" charset="0"/>
                                <a:ea typeface="Cambria Math" panose="02040503050406030204" pitchFamily="18" charset="0"/>
                              </a:rPr>
                              <m:t>,</m:t>
                            </m:r>
                            <m:r>
                              <m:rPr>
                                <m:sty m:val="p"/>
                              </m:rPr>
                              <a:rPr lang="en-US" sz="2800" b="0" i="0" smtClean="0">
                                <a:latin typeface="Cambria Math" panose="02040503050406030204" pitchFamily="18" charset="0"/>
                                <a:ea typeface="Cambria Math" panose="02040503050406030204" pitchFamily="18" charset="0"/>
                              </a:rPr>
                              <m:t>b</m:t>
                            </m:r>
                          </m:e>
                        </m:d>
                        <m:r>
                          <a:rPr lang="en-US" sz="2800" i="1" smtClean="0">
                            <a:latin typeface="Cambria Math" panose="02040503050406030204" pitchFamily="18" charset="0"/>
                            <a:ea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𝑍</m:t>
                            </m:r>
                          </m:e>
                          <m:sub>
                            <m:r>
                              <a:rPr lang="en-US" sz="2800" i="1">
                                <a:latin typeface="Cambria Math" panose="02040503050406030204" pitchFamily="18" charset="0"/>
                                <a:ea typeface="Cambria Math" panose="02040503050406030204" pitchFamily="18" charset="0"/>
                              </a:rPr>
                              <m:t>26</m:t>
                            </m:r>
                          </m:sub>
                        </m:sSub>
                        <m:sSub>
                          <m:sSubPr>
                            <m:ctrlPr>
                              <a:rPr lang="en-US" sz="2800" i="1" smtClean="0">
                                <a:latin typeface="Cambria Math" panose="02040503050406030204" pitchFamily="18" charset="0"/>
                                <a:ea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𝑍</m:t>
                            </m:r>
                          </m:e>
                          <m:sub>
                            <m:r>
                              <a:rPr lang="en-US" sz="2800" i="1">
                                <a:latin typeface="Cambria Math" panose="02040503050406030204" pitchFamily="18" charset="0"/>
                                <a:ea typeface="Cambria Math" panose="02040503050406030204" pitchFamily="18" charset="0"/>
                              </a:rPr>
                              <m:t>26</m:t>
                            </m:r>
                          </m:sub>
                        </m:sSub>
                        <m:r>
                          <a:rPr lang="en-US" sz="2800" b="0" i="0" smtClean="0">
                            <a:latin typeface="Cambria Math" panose="02040503050406030204" pitchFamily="18" charset="0"/>
                            <a:ea typeface="Cambria Math" panose="02040503050406030204" pitchFamily="18" charset="0"/>
                          </a:rPr>
                          <m:t> </m:t>
                        </m:r>
                      </m:e>
                    </m:d>
                    <m:r>
                      <m:rPr>
                        <m:sty m:val="p"/>
                      </m:rPr>
                      <a:rPr lang="en-US" sz="2800" b="0" i="0" smtClean="0">
                        <a:latin typeface="Cambria Math" panose="02040503050406030204" pitchFamily="18" charset="0"/>
                        <a:ea typeface="Cambria Math" panose="02040503050406030204" pitchFamily="18" charset="0"/>
                      </a:rPr>
                      <m:t>gcd</m:t>
                    </m:r>
                    <m:r>
                      <a:rPr lang="en-US" sz="2800" b="0" i="0" smtClean="0">
                        <a:latin typeface="Cambria Math" panose="02040503050406030204" pitchFamily="18" charset="0"/>
                        <a:ea typeface="Cambria Math" panose="02040503050406030204" pitchFamily="18" charset="0"/>
                      </a:rPr>
                      <m:t> </m:t>
                    </m:r>
                    <m:d>
                      <m:dPr>
                        <m:ctrlPr>
                          <a:rPr lang="en-US" sz="2800" b="0" i="1" smtClean="0">
                            <a:latin typeface="Cambria Math" panose="02040503050406030204" pitchFamily="18" charset="0"/>
                            <a:ea typeface="Cambria Math" panose="02040503050406030204" pitchFamily="18" charset="0"/>
                          </a:rPr>
                        </m:ctrlPr>
                      </m:dPr>
                      <m:e>
                        <m:r>
                          <m:rPr>
                            <m:sty m:val="p"/>
                          </m:rPr>
                          <a:rPr lang="en-US" sz="2800" b="0" i="0" smtClean="0">
                            <a:latin typeface="Cambria Math" panose="02040503050406030204" pitchFamily="18" charset="0"/>
                            <a:ea typeface="Cambria Math" panose="02040503050406030204" pitchFamily="18" charset="0"/>
                          </a:rPr>
                          <m:t>a</m:t>
                        </m:r>
                        <m:r>
                          <a:rPr lang="en-US" sz="2800" b="0" i="0" smtClean="0">
                            <a:latin typeface="Cambria Math" panose="02040503050406030204" pitchFamily="18" charset="0"/>
                            <a:ea typeface="Cambria Math" panose="02040503050406030204" pitchFamily="18" charset="0"/>
                          </a:rPr>
                          <m:t>,26</m:t>
                        </m:r>
                      </m:e>
                    </m:d>
                    <m:r>
                      <a:rPr lang="en-US" sz="2800" b="0" i="0" smtClean="0">
                        <a:latin typeface="Cambria Math" panose="02040503050406030204" pitchFamily="18" charset="0"/>
                        <a:ea typeface="Cambria Math" panose="02040503050406030204" pitchFamily="18" charset="0"/>
                      </a:rPr>
                      <m:t>=1}</m:t>
                    </m:r>
                  </m:oMath>
                </a14:m>
                <a:endParaRPr lang="en-VN" dirty="0"/>
              </a:p>
              <a:p>
                <a:r>
                  <a:rPr lang="en-US" dirty="0"/>
                  <a:t>B</a:t>
                </a:r>
                <a:r>
                  <a:rPr lang="en-VN" dirty="0"/>
                  <a:t>ản rõ và bản mã có quan hệ toán học </a:t>
                </a:r>
              </a:p>
              <a:p>
                <a14:m>
                  <m:oMath xmlns:m="http://schemas.openxmlformats.org/officeDocument/2006/math">
                    <m:r>
                      <a:rPr lang="en-US" sz="2800" b="0" i="1" dirty="0">
                        <a:latin typeface="Cambria Math" panose="02040503050406030204" pitchFamily="18" charset="0"/>
                        <a:ea typeface="Cambria Math" panose="02040503050406030204" pitchFamily="18" charset="0"/>
                      </a:rPr>
                      <m:t>𝑦</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𝑎𝑥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𝑏</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𝑚𝑜𝑑</m:t>
                    </m:r>
                    <m:r>
                      <a:rPr lang="en-US" sz="2800" b="0" i="1" smtClean="0">
                        <a:latin typeface="Cambria Math" panose="02040503050406030204" pitchFamily="18" charset="0"/>
                        <a:ea typeface="Cambria Math" panose="02040503050406030204" pitchFamily="18" charset="0"/>
                      </a:rPr>
                      <m:t> 26</m:t>
                    </m:r>
                  </m:oMath>
                </a14:m>
                <a:endParaRPr lang="en-US" sz="2800" b="0" dirty="0">
                  <a:ea typeface="Cambria Math" panose="02040503050406030204" pitchFamily="18" charset="0"/>
                </a:endParaRPr>
              </a:p>
              <a:p>
                <a:r>
                  <a:rPr lang="en-VN" dirty="0"/>
                  <a:t>Nếu biết 2 cặp </a:t>
                </a:r>
                <a14:m>
                  <m:oMath xmlns:m="http://schemas.openxmlformats.org/officeDocument/2006/math">
                    <m:r>
                      <a:rPr lang="en-VN" i="1" dirty="0" smtClean="0">
                        <a:latin typeface="Cambria Math" panose="02040503050406030204" pitchFamily="18" charset="0"/>
                      </a:rPr>
                      <m:t>(</m:t>
                    </m:r>
                    <m:r>
                      <a:rPr lang="en-VN" i="1" dirty="0" smtClean="0">
                        <a:latin typeface="Cambria Math" panose="02040503050406030204" pitchFamily="18" charset="0"/>
                      </a:rPr>
                      <m:t>𝑥</m:t>
                    </m:r>
                    <m:r>
                      <a:rPr lang="en-VN" i="1" dirty="0" smtClean="0">
                        <a:latin typeface="Cambria Math" panose="02040503050406030204" pitchFamily="18" charset="0"/>
                      </a:rPr>
                      <m:t>, </m:t>
                    </m:r>
                    <m:r>
                      <a:rPr lang="en-VN" i="1" dirty="0" smtClean="0">
                        <a:latin typeface="Cambria Math" panose="02040503050406030204" pitchFamily="18" charset="0"/>
                      </a:rPr>
                      <m:t>𝑦</m:t>
                    </m:r>
                    <m:r>
                      <a:rPr lang="en-VN" i="1" dirty="0" smtClean="0">
                        <a:latin typeface="Cambria Math" panose="02040503050406030204" pitchFamily="18" charset="0"/>
                      </a:rPr>
                      <m:t>) </m:t>
                    </m:r>
                  </m:oMath>
                </a14:m>
                <a:r>
                  <a:rPr lang="en-VN" dirty="0"/>
                  <a:t>có thể giải phương trình tuyến tính để tìm </a:t>
                </a:r>
                <a14:m>
                  <m:oMath xmlns:m="http://schemas.openxmlformats.org/officeDocument/2006/math">
                    <m:r>
                      <a:rPr lang="en-VN" i="1" dirty="0" smtClean="0">
                        <a:latin typeface="Cambria Math" panose="02040503050406030204" pitchFamily="18" charset="0"/>
                      </a:rPr>
                      <m:t>(</m:t>
                    </m:r>
                    <m:r>
                      <a:rPr lang="en-VN" i="1" dirty="0" smtClean="0">
                        <a:latin typeface="Cambria Math" panose="02040503050406030204" pitchFamily="18" charset="0"/>
                      </a:rPr>
                      <m:t>𝑎</m:t>
                    </m:r>
                    <m:r>
                      <a:rPr lang="en-VN" i="1" dirty="0" smtClean="0">
                        <a:latin typeface="Cambria Math" panose="02040503050406030204" pitchFamily="18" charset="0"/>
                      </a:rPr>
                      <m:t>, </m:t>
                    </m:r>
                    <m:r>
                      <a:rPr lang="en-VN" i="1" dirty="0" smtClean="0">
                        <a:latin typeface="Cambria Math" panose="02040503050406030204" pitchFamily="18" charset="0"/>
                      </a:rPr>
                      <m:t>𝑏</m:t>
                    </m:r>
                    <m:r>
                      <a:rPr lang="en-VN" i="1" dirty="0" smtClean="0">
                        <a:latin typeface="Cambria Math" panose="02040503050406030204" pitchFamily="18" charset="0"/>
                      </a:rPr>
                      <m:t>)</m:t>
                    </m:r>
                  </m:oMath>
                </a14:m>
                <a:endParaRPr dirty="0"/>
              </a:p>
            </p:txBody>
          </p:sp>
        </mc:Choice>
        <mc:Fallback xmlns="">
          <p:sp>
            <p:nvSpPr>
              <p:cNvPr id="4" name="Content Placeholder 3">
                <a:extLst>
                  <a:ext uri="{FF2B5EF4-FFF2-40B4-BE49-F238E27FC236}">
                    <a16:creationId xmlns:a16="http://schemas.microsoft.com/office/drawing/2014/main" id="{D77BF90D-5BB3-616F-9874-1D2E4CC60106}"/>
                  </a:ext>
                </a:extLst>
              </p:cNvPr>
              <p:cNvSpPr>
                <a:spLocks noGrp="1" noRot="1" noChangeAspect="1" noMove="1" noResize="1" noEditPoints="1" noAdjustHandles="1" noChangeArrowheads="1" noChangeShapeType="1" noTextEdit="1"/>
              </p:cNvSpPr>
              <p:nvPr>
                <p:ph sz="quarter" idx="13"/>
              </p:nvPr>
            </p:nvSpPr>
            <p:spPr>
              <a:blipFill>
                <a:blip r:embed="rId3"/>
                <a:stretch>
                  <a:fillRect l="-1170" t="-14115"/>
                </a:stretch>
              </a:blipFill>
            </p:spPr>
            <p:txBody>
              <a:bodyPr/>
              <a:lstStyle/>
              <a:p>
                <a:r>
                  <a:rPr>
                    <a:noFill/>
                  </a:rPr>
                  <a:t> </a:t>
                </a:r>
              </a:p>
            </p:txBody>
          </p:sp>
        </mc:Fallback>
      </mc:AlternateContent>
    </p:spTree>
    <p:extLst>
      <p:ext uri="{BB962C8B-B14F-4D97-AF65-F5344CB8AC3E}">
        <p14:creationId xmlns:p14="http://schemas.microsoft.com/office/powerpoint/2010/main" val="6453786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1C1447-7AF3-4673-CEC4-D766FF3029A7}"/>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itle 2">
            <a:extLst>
              <a:ext uri="{FF2B5EF4-FFF2-40B4-BE49-F238E27FC236}">
                <a16:creationId xmlns:a16="http://schemas.microsoft.com/office/drawing/2014/main" id="{D1594385-EF47-2521-D533-529DC44DEE3B}"/>
              </a:ext>
            </a:extLst>
          </p:cNvPr>
          <p:cNvSpPr>
            <a:spLocks noGrp="1"/>
          </p:cNvSpPr>
          <p:nvPr>
            <p:ph type="title"/>
          </p:nvPr>
        </p:nvSpPr>
        <p:spPr/>
        <p:txBody>
          <a:bodyPr/>
          <a:lstStyle/>
          <a:p>
            <a:r>
              <a:rPr lang="en-VN" dirty="0"/>
              <a:t>Ví dụ thám mã Affine </a:t>
            </a:r>
            <a:endParaRPr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1F96F30-9C04-3D7D-DA87-538515146229}"/>
                  </a:ext>
                </a:extLst>
              </p:cNvPr>
              <p:cNvSpPr>
                <a:spLocks noGrp="1"/>
              </p:cNvSpPr>
              <p:nvPr>
                <p:ph sz="quarter" idx="13"/>
              </p:nvPr>
            </p:nvSpPr>
            <p:spPr>
              <a:xfrm>
                <a:off x="219217" y="761734"/>
                <a:ext cx="8674100" cy="5625814"/>
              </a:xfrm>
            </p:spPr>
            <p:txBody>
              <a:bodyPr/>
              <a:lstStyle/>
              <a:p>
                <a:r>
                  <a:rPr lang="en-US" sz="2600" dirty="0"/>
                  <a:t>C</a:t>
                </a:r>
                <a:r>
                  <a:rPr lang="en-VN" sz="2600" dirty="0"/>
                  <a:t>ho bản mật mã </a:t>
                </a:r>
                <a:r>
                  <a:rPr lang="en-VN" sz="2600" i="1" dirty="0"/>
                  <a:t>fmxvedkaphferbnfkrxrsrefmorudsdkdvshvufedkaprkdlyevlrhhrh</a:t>
                </a:r>
              </a:p>
              <a:p>
                <a:r>
                  <a:rPr lang="en-VN" sz="2600" dirty="0"/>
                  <a:t>Tính tần xuất hiện các ký tự: r – 8, d – 7, e, k, h – 5, f,s,v – 4 , …</a:t>
                </a:r>
              </a:p>
              <a:p>
                <a:r>
                  <a:rPr lang="en-VN" sz="2600" dirty="0"/>
                  <a:t>Giả thiết 1:  r là mã của e, d là mã của t </a:t>
                </a:r>
              </a:p>
              <a:p>
                <a:pPr marL="0" indent="0">
                  <a:buNone/>
                </a:pPr>
                <a14:m>
                  <m:oMathPara xmlns:m="http://schemas.openxmlformats.org/officeDocument/2006/math">
                    <m:oMathParaPr>
                      <m:jc m:val="centerGroup"/>
                    </m:oMathParaPr>
                    <m:oMath xmlns:m="http://schemas.openxmlformats.org/officeDocument/2006/math">
                      <m:r>
                        <a:rPr lang="en-VN" sz="2600" i="1" dirty="0" smtClean="0">
                          <a:latin typeface="Cambria Math" panose="02040503050406030204" pitchFamily="18" charset="0"/>
                        </a:rPr>
                        <m:t>4</m:t>
                      </m:r>
                      <m:r>
                        <a:rPr lang="en-VN" sz="2600" i="1" dirty="0" smtClean="0">
                          <a:latin typeface="Cambria Math" panose="02040503050406030204" pitchFamily="18" charset="0"/>
                        </a:rPr>
                        <m:t>𝑎</m:t>
                      </m:r>
                      <m:r>
                        <a:rPr lang="en-VN" sz="2600" i="1" dirty="0" smtClean="0">
                          <a:latin typeface="Cambria Math" panose="02040503050406030204" pitchFamily="18" charset="0"/>
                        </a:rPr>
                        <m:t> + </m:t>
                      </m:r>
                      <m:r>
                        <a:rPr lang="en-VN" sz="2600" i="1" dirty="0" smtClean="0">
                          <a:latin typeface="Cambria Math" panose="02040503050406030204" pitchFamily="18" charset="0"/>
                        </a:rPr>
                        <m:t>𝑏</m:t>
                      </m:r>
                      <m:r>
                        <a:rPr lang="en-VN" sz="2600" i="1" dirty="0" smtClean="0">
                          <a:latin typeface="Cambria Math" panose="02040503050406030204" pitchFamily="18" charset="0"/>
                        </a:rPr>
                        <m:t> = 17 </m:t>
                      </m:r>
                      <m:r>
                        <a:rPr lang="en-VN" sz="2600" i="1" dirty="0" smtClean="0">
                          <a:latin typeface="Cambria Math" panose="02040503050406030204" pitchFamily="18" charset="0"/>
                        </a:rPr>
                        <m:t>𝑚𝑜𝑑</m:t>
                      </m:r>
                      <m:r>
                        <a:rPr lang="en-VN" sz="2600" i="1" dirty="0" smtClean="0">
                          <a:latin typeface="Cambria Math" panose="02040503050406030204" pitchFamily="18" charset="0"/>
                        </a:rPr>
                        <m:t> 26 </m:t>
                      </m:r>
                    </m:oMath>
                  </m:oMathPara>
                </a14:m>
                <a:endParaRPr lang="en-VN" sz="2600" dirty="0"/>
              </a:p>
              <a:p>
                <a:pPr marL="0" indent="0">
                  <a:buNone/>
                </a:pPr>
                <a14:m>
                  <m:oMathPara xmlns:m="http://schemas.openxmlformats.org/officeDocument/2006/math">
                    <m:oMathParaPr>
                      <m:jc m:val="centerGroup"/>
                    </m:oMathParaPr>
                    <m:oMath xmlns:m="http://schemas.openxmlformats.org/officeDocument/2006/math">
                      <m:r>
                        <a:rPr lang="en-VN" sz="2600" i="1" dirty="0" smtClean="0">
                          <a:latin typeface="Cambria Math" panose="02040503050406030204" pitchFamily="18" charset="0"/>
                        </a:rPr>
                        <m:t>19</m:t>
                      </m:r>
                      <m:r>
                        <a:rPr lang="en-VN" sz="2600" i="1" dirty="0" smtClean="0">
                          <a:latin typeface="Cambria Math" panose="02040503050406030204" pitchFamily="18" charset="0"/>
                        </a:rPr>
                        <m:t>𝑎</m:t>
                      </m:r>
                      <m:r>
                        <a:rPr lang="en-VN" sz="2600" i="1" dirty="0" smtClean="0">
                          <a:latin typeface="Cambria Math" panose="02040503050406030204" pitchFamily="18" charset="0"/>
                        </a:rPr>
                        <m:t> + </m:t>
                      </m:r>
                      <m:r>
                        <a:rPr lang="en-VN" sz="2600" i="1" dirty="0" smtClean="0">
                          <a:latin typeface="Cambria Math" panose="02040503050406030204" pitchFamily="18" charset="0"/>
                        </a:rPr>
                        <m:t>𝑏</m:t>
                      </m:r>
                      <m:r>
                        <a:rPr lang="en-VN" sz="2600" i="1" dirty="0" smtClean="0">
                          <a:latin typeface="Cambria Math" panose="02040503050406030204" pitchFamily="18" charset="0"/>
                        </a:rPr>
                        <m:t> = 3 </m:t>
                      </m:r>
                      <m:r>
                        <a:rPr lang="en-VN" sz="2600" i="1" dirty="0" smtClean="0">
                          <a:latin typeface="Cambria Math" panose="02040503050406030204" pitchFamily="18" charset="0"/>
                        </a:rPr>
                        <m:t>𝑚𝑜𝑑</m:t>
                      </m:r>
                      <m:r>
                        <a:rPr lang="en-VN" sz="2600" i="1" dirty="0" smtClean="0">
                          <a:latin typeface="Cambria Math" panose="02040503050406030204" pitchFamily="18" charset="0"/>
                        </a:rPr>
                        <m:t> 26 </m:t>
                      </m:r>
                    </m:oMath>
                  </m:oMathPara>
                </a14:m>
                <a:endParaRPr lang="en-VN" sz="2600" dirty="0"/>
              </a:p>
              <a:p>
                <a:r>
                  <a:rPr lang="en-VN" sz="2600" dirty="0"/>
                  <a:t>Ta có: a = 6, b = 19, gcd(a, 26) = 2 -&gt; không thoả </a:t>
                </a:r>
              </a:p>
              <a:p>
                <a:r>
                  <a:rPr lang="en-VN" sz="2600" dirty="0"/>
                  <a:t>Giả thiết 2:  r là mã của e, h là mã của t </a:t>
                </a:r>
              </a:p>
              <a:p>
                <a:pPr marL="0" indent="0">
                  <a:buNone/>
                </a:pPr>
                <a14:m>
                  <m:oMathPara xmlns:m="http://schemas.openxmlformats.org/officeDocument/2006/math">
                    <m:oMathParaPr>
                      <m:jc m:val="centerGroup"/>
                    </m:oMathParaPr>
                    <m:oMath xmlns:m="http://schemas.openxmlformats.org/officeDocument/2006/math">
                      <m:r>
                        <a:rPr lang="en-VN" sz="2600" i="1" dirty="0" smtClean="0">
                          <a:latin typeface="Cambria Math" panose="02040503050406030204" pitchFamily="18" charset="0"/>
                        </a:rPr>
                        <m:t>4</m:t>
                      </m:r>
                      <m:r>
                        <a:rPr lang="en-VN" sz="2600" i="1" dirty="0" smtClean="0">
                          <a:latin typeface="Cambria Math" panose="02040503050406030204" pitchFamily="18" charset="0"/>
                        </a:rPr>
                        <m:t>𝑎</m:t>
                      </m:r>
                      <m:r>
                        <a:rPr lang="en-VN" sz="2600" i="1" dirty="0" smtClean="0">
                          <a:latin typeface="Cambria Math" panose="02040503050406030204" pitchFamily="18" charset="0"/>
                        </a:rPr>
                        <m:t> + </m:t>
                      </m:r>
                      <m:r>
                        <a:rPr lang="en-VN" sz="2600" i="1" dirty="0" smtClean="0">
                          <a:latin typeface="Cambria Math" panose="02040503050406030204" pitchFamily="18" charset="0"/>
                        </a:rPr>
                        <m:t>𝑏</m:t>
                      </m:r>
                      <m:r>
                        <a:rPr lang="en-VN" sz="2600" i="1" dirty="0" smtClean="0">
                          <a:latin typeface="Cambria Math" panose="02040503050406030204" pitchFamily="18" charset="0"/>
                        </a:rPr>
                        <m:t> = 17 </m:t>
                      </m:r>
                      <m:r>
                        <a:rPr lang="en-VN" sz="2600" i="1" dirty="0" smtClean="0">
                          <a:latin typeface="Cambria Math" panose="02040503050406030204" pitchFamily="18" charset="0"/>
                        </a:rPr>
                        <m:t>𝑚𝑜𝑑</m:t>
                      </m:r>
                      <m:r>
                        <a:rPr lang="en-VN" sz="2600" i="1" dirty="0" smtClean="0">
                          <a:latin typeface="Cambria Math" panose="02040503050406030204" pitchFamily="18" charset="0"/>
                        </a:rPr>
                        <m:t> 26 </m:t>
                      </m:r>
                    </m:oMath>
                  </m:oMathPara>
                </a14:m>
                <a:endParaRPr lang="en-VN" sz="2600" dirty="0"/>
              </a:p>
              <a:p>
                <a:pPr marL="0" indent="0">
                  <a:buNone/>
                </a:pPr>
                <a14:m>
                  <m:oMathPara xmlns:m="http://schemas.openxmlformats.org/officeDocument/2006/math">
                    <m:oMathParaPr>
                      <m:jc m:val="centerGroup"/>
                    </m:oMathParaPr>
                    <m:oMath xmlns:m="http://schemas.openxmlformats.org/officeDocument/2006/math">
                      <m:r>
                        <a:rPr lang="en-VN" sz="2600" i="1" dirty="0" smtClean="0">
                          <a:latin typeface="Cambria Math" panose="02040503050406030204" pitchFamily="18" charset="0"/>
                        </a:rPr>
                        <m:t>19</m:t>
                      </m:r>
                      <m:r>
                        <a:rPr lang="en-VN" sz="2600" i="1" dirty="0" smtClean="0">
                          <a:latin typeface="Cambria Math" panose="02040503050406030204" pitchFamily="18" charset="0"/>
                        </a:rPr>
                        <m:t>𝑎</m:t>
                      </m:r>
                      <m:r>
                        <a:rPr lang="en-VN" sz="2600" i="1" dirty="0" smtClean="0">
                          <a:latin typeface="Cambria Math" panose="02040503050406030204" pitchFamily="18" charset="0"/>
                        </a:rPr>
                        <m:t> + </m:t>
                      </m:r>
                      <m:r>
                        <a:rPr lang="en-VN" sz="2600" i="1" dirty="0" smtClean="0">
                          <a:latin typeface="Cambria Math" panose="02040503050406030204" pitchFamily="18" charset="0"/>
                        </a:rPr>
                        <m:t>𝑏</m:t>
                      </m:r>
                      <m:r>
                        <a:rPr lang="en-VN" sz="2600" i="1" dirty="0" smtClean="0">
                          <a:latin typeface="Cambria Math" panose="02040503050406030204" pitchFamily="18" charset="0"/>
                        </a:rPr>
                        <m:t> =7 </m:t>
                      </m:r>
                      <m:r>
                        <a:rPr lang="en-VN" sz="2600" i="1" dirty="0" smtClean="0">
                          <a:latin typeface="Cambria Math" panose="02040503050406030204" pitchFamily="18" charset="0"/>
                        </a:rPr>
                        <m:t>𝑚𝑜𝑑</m:t>
                      </m:r>
                      <m:r>
                        <a:rPr lang="en-VN" sz="2600" i="1" dirty="0" smtClean="0">
                          <a:latin typeface="Cambria Math" panose="02040503050406030204" pitchFamily="18" charset="0"/>
                        </a:rPr>
                        <m:t> 26 </m:t>
                      </m:r>
                    </m:oMath>
                  </m:oMathPara>
                </a14:m>
                <a:endParaRPr lang="en-VN" sz="2600" dirty="0"/>
              </a:p>
              <a:p>
                <a:r>
                  <a:rPr lang="en-VN" sz="2600" dirty="0"/>
                  <a:t>Ta có: a = 3, b = 5, gcd(a, 26) = 1 -&gt; thoả </a:t>
                </a:r>
              </a:p>
              <a:p>
                <a:pPr marL="0" indent="0">
                  <a:buNone/>
                </a:pPr>
                <a:endParaRPr sz="2600" dirty="0"/>
              </a:p>
            </p:txBody>
          </p:sp>
        </mc:Choice>
        <mc:Fallback xmlns="">
          <p:sp>
            <p:nvSpPr>
              <p:cNvPr id="4" name="Content Placeholder 3">
                <a:extLst>
                  <a:ext uri="{FF2B5EF4-FFF2-40B4-BE49-F238E27FC236}">
                    <a16:creationId xmlns:a16="http://schemas.microsoft.com/office/drawing/2014/main" id="{81F96F30-9C04-3D7D-DA87-538515146229}"/>
                  </a:ext>
                </a:extLst>
              </p:cNvPr>
              <p:cNvSpPr>
                <a:spLocks noGrp="1" noRot="1" noChangeAspect="1" noMove="1" noResize="1" noEditPoints="1" noAdjustHandles="1" noChangeArrowheads="1" noChangeShapeType="1" noTextEdit="1"/>
              </p:cNvSpPr>
              <p:nvPr>
                <p:ph sz="quarter" idx="13"/>
              </p:nvPr>
            </p:nvSpPr>
            <p:spPr>
              <a:xfrm>
                <a:off x="219217" y="761734"/>
                <a:ext cx="8674100" cy="5625814"/>
              </a:xfrm>
              <a:blipFill>
                <a:blip r:embed="rId2"/>
                <a:stretch>
                  <a:fillRect l="-1170" t="-1802" r="-439"/>
                </a:stretch>
              </a:blipFill>
            </p:spPr>
            <p:txBody>
              <a:bodyPr/>
              <a:lstStyle/>
              <a:p>
                <a:r>
                  <a:rPr>
                    <a:noFill/>
                  </a:rPr>
                  <a:t> </a:t>
                </a:r>
              </a:p>
            </p:txBody>
          </p:sp>
        </mc:Fallback>
      </mc:AlternateContent>
    </p:spTree>
    <p:extLst>
      <p:ext uri="{BB962C8B-B14F-4D97-AF65-F5344CB8AC3E}">
        <p14:creationId xmlns:p14="http://schemas.microsoft.com/office/powerpoint/2010/main" val="2930609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CEF6C8-ACA4-A386-487B-0727B8912656}"/>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3" name="Title 2">
            <a:extLst>
              <a:ext uri="{FF2B5EF4-FFF2-40B4-BE49-F238E27FC236}">
                <a16:creationId xmlns:a16="http://schemas.microsoft.com/office/drawing/2014/main" id="{2B5DFD02-2F93-1930-EF9A-A8C49FD9C8DE}"/>
              </a:ext>
            </a:extLst>
          </p:cNvPr>
          <p:cNvSpPr>
            <a:spLocks noGrp="1"/>
          </p:cNvSpPr>
          <p:nvPr>
            <p:ph type="title"/>
          </p:nvPr>
        </p:nvSpPr>
        <p:spPr/>
        <p:txBody>
          <a:bodyPr/>
          <a:lstStyle/>
          <a:p>
            <a:r>
              <a:rPr lang="vi-VN" dirty="0"/>
              <a:t>Mã Polyalphabetic</a:t>
            </a:r>
            <a:br>
              <a:rPr lang="en-US" dirty="0"/>
            </a:br>
            <a:endParaRPr dirty="0"/>
          </a:p>
        </p:txBody>
      </p:sp>
      <p:sp>
        <p:nvSpPr>
          <p:cNvPr id="4" name="Content Placeholder 3">
            <a:extLst>
              <a:ext uri="{FF2B5EF4-FFF2-40B4-BE49-F238E27FC236}">
                <a16:creationId xmlns:a16="http://schemas.microsoft.com/office/drawing/2014/main" id="{66112ADE-F530-2B0E-5FA4-D0AD2FAC18E7}"/>
              </a:ext>
            </a:extLst>
          </p:cNvPr>
          <p:cNvSpPr>
            <a:spLocks noGrp="1"/>
          </p:cNvSpPr>
          <p:nvPr>
            <p:ph sz="quarter" idx="13"/>
          </p:nvPr>
        </p:nvSpPr>
        <p:spPr/>
        <p:txBody>
          <a:bodyPr/>
          <a:lstStyle/>
          <a:p>
            <a:r>
              <a:rPr lang="en-US" sz="3600" i="1" dirty="0">
                <a:effectLst/>
                <a:latin typeface="+mn-lt"/>
              </a:rPr>
              <a:t>VIGENE`RE CIPHER </a:t>
            </a:r>
            <a:endParaRPr lang="en-US" sz="3600" dirty="0">
              <a:latin typeface="+mn-lt"/>
            </a:endParaRPr>
          </a:p>
          <a:p>
            <a:r>
              <a:rPr lang="en-US" sz="3600" dirty="0">
                <a:effectLst/>
                <a:latin typeface="+mn-lt"/>
              </a:rPr>
              <a:t>One-Time Pad </a:t>
            </a:r>
            <a:endParaRPr lang="en-US" sz="3600" dirty="0">
              <a:latin typeface="+mn-lt"/>
            </a:endParaRPr>
          </a:p>
          <a:p>
            <a:r>
              <a:rPr lang="en-US" sz="3600" dirty="0">
                <a:effectLst/>
                <a:latin typeface="+mn-lt"/>
              </a:rPr>
              <a:t>TRANSPOSITION TECHNIQUES </a:t>
            </a:r>
            <a:endParaRPr lang="en-US" sz="3600" dirty="0">
              <a:latin typeface="+mn-lt"/>
            </a:endParaRPr>
          </a:p>
          <a:p>
            <a:r>
              <a:rPr lang="vi-VN" sz="3600" dirty="0">
                <a:latin typeface="+mn-lt"/>
              </a:rPr>
              <a:t>Roto Machines </a:t>
            </a:r>
            <a:endParaRPr sz="3600" dirty="0">
              <a:latin typeface="+mn-lt"/>
            </a:endParaRPr>
          </a:p>
        </p:txBody>
      </p:sp>
    </p:spTree>
    <p:extLst>
      <p:ext uri="{BB962C8B-B14F-4D97-AF65-F5344CB8AC3E}">
        <p14:creationId xmlns:p14="http://schemas.microsoft.com/office/powerpoint/2010/main" val="3179391801"/>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6E0A591440FD4BB24A6FC7027A4F9B" ma:contentTypeVersion="0" ma:contentTypeDescription="Create a new document." ma:contentTypeScope="" ma:versionID="0cdb238342832eee5c5d1cab49339010">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56F20B-DB43-4BC8-854D-1934B95C1D61}"/>
</file>

<file path=customXml/itemProps2.xml><?xml version="1.0" encoding="utf-8"?>
<ds:datastoreItem xmlns:ds="http://schemas.openxmlformats.org/officeDocument/2006/customXml" ds:itemID="{335A230B-2EAF-4BFF-90F2-54534BE4B56E}">
  <ds:schemaRefs>
    <ds:schemaRef ds:uri="http://schemas.microsoft.com/sharepoint/v3/contenttype/forms"/>
  </ds:schemaRefs>
</ds:datastoreItem>
</file>

<file path=customXml/itemProps3.xml><?xml version="1.0" encoding="utf-8"?>
<ds:datastoreItem xmlns:ds="http://schemas.openxmlformats.org/officeDocument/2006/customXml" ds:itemID="{549CBAC0-B4DF-4D02-9E69-AB76F9D07A22}"/>
</file>

<file path=docProps/app.xml><?xml version="1.0" encoding="utf-8"?>
<Properties xmlns="http://schemas.openxmlformats.org/officeDocument/2006/extended-properties" xmlns:vt="http://schemas.openxmlformats.org/officeDocument/2006/docPropsVTypes">
  <Template/>
  <TotalTime>3631</TotalTime>
  <Words>2125</Words>
  <Application>Microsoft Macintosh PowerPoint</Application>
  <PresentationFormat>On-screen Show (4:3)</PresentationFormat>
  <Paragraphs>299</Paragraphs>
  <Slides>26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Cambria Math</vt:lpstr>
      <vt:lpstr>Courier</vt:lpstr>
      <vt:lpstr>Lato</vt:lpstr>
      <vt:lpstr>Roboto</vt:lpstr>
      <vt:lpstr>TimesTen</vt:lpstr>
      <vt:lpstr>Office Theme</vt:lpstr>
      <vt:lpstr>PowerPoint Presentation</vt:lpstr>
      <vt:lpstr>PowerPoint Presentation</vt:lpstr>
      <vt:lpstr>CHƯƠNG 1: GIỚI THIỆU </vt:lpstr>
      <vt:lpstr>Lịch sử </vt:lpstr>
      <vt:lpstr>Mật mã nguyên thuỷ </vt:lpstr>
      <vt:lpstr>Monoalphabetic Ciphers: Mã đơn ký tự</vt:lpstr>
      <vt:lpstr>Monoalphabetic Ciphers: Mã đơn ký tự</vt:lpstr>
      <vt:lpstr>Monoalphabetic Ciphers: Mã đơn ký tự</vt:lpstr>
      <vt:lpstr>Monoalphabetic Ciphers</vt:lpstr>
      <vt:lpstr>Bài tập </vt:lpstr>
      <vt:lpstr>Bài tập </vt:lpstr>
      <vt:lpstr>Ví dụ phân tích mã Monoalphabetic Ciphers</vt:lpstr>
      <vt:lpstr>Ví dụ phân tích mã Monoalphabetic Ciphers</vt:lpstr>
      <vt:lpstr>Bài tập phân tích mã Monoalphabetic Ciphers</vt:lpstr>
      <vt:lpstr>Mã Playfair </vt:lpstr>
      <vt:lpstr>Mã Playfair </vt:lpstr>
      <vt:lpstr>Mã Playfair </vt:lpstr>
      <vt:lpstr>Mã Playfair </vt:lpstr>
      <vt:lpstr>Mã Playfair </vt:lpstr>
      <vt:lpstr>Mã Affine </vt:lpstr>
      <vt:lpstr>Ví dụ 1 </vt:lpstr>
      <vt:lpstr>Mã Vigenere </vt:lpstr>
      <vt:lpstr>Ví dụ 2</vt:lpstr>
      <vt:lpstr>Thám mã đối với mật mã Affine</vt:lpstr>
      <vt:lpstr>Ví dụ thám mã Affine </vt:lpstr>
      <vt:lpstr>Mã Polyalphabetic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Ta Thi Kim Hue</cp:lastModifiedBy>
  <cp:revision>30</cp:revision>
  <dcterms:created xsi:type="dcterms:W3CDTF">2021-05-28T04:32:29Z</dcterms:created>
  <dcterms:modified xsi:type="dcterms:W3CDTF">2025-09-22T07:35:20Z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0x010100796E0A591440FD4BB24A6FC7027A4F9B</vt:lpwstr>
  </property>
</Properties>
</file>